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54a8b980bf4d20" /><Relationship Type="http://schemas.openxmlformats.org/officeDocument/2006/relationships/extended-properties" Target="/docProps/app.xml" Id="R4f6b15ee7d044d08" /><Relationship Type="http://schemas.openxmlformats.org/officeDocument/2006/relationships/officeDocument" Target="/ppt/presentation.xml" Id="R0f0e6addf5b1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44055d3346492b"/>
  </p:sldMasterIdLst>
  <p:notesMasterIdLst>
    <p:notesMasterId xmlns:r="http://schemas.openxmlformats.org/officeDocument/2006/relationships" r:id="Ra5075e79335042ad"/>
  </p:notesMasterIdLst>
  <p:sldIdLst>
    <p:sldId xmlns:r="http://schemas.openxmlformats.org/officeDocument/2006/relationships" id="256" r:id="R24e390fe43bf459f"/>
    <p:sldId xmlns:r="http://schemas.openxmlformats.org/officeDocument/2006/relationships" id="257" r:id="R04d488e0309f411b"/>
    <p:sldId xmlns:r="http://schemas.openxmlformats.org/officeDocument/2006/relationships" id="258" r:id="R9ff88631dc89491b"/>
    <p:sldId xmlns:r="http://schemas.openxmlformats.org/officeDocument/2006/relationships" id="259" r:id="R914f7193b9334619"/>
    <p:sldId xmlns:r="http://schemas.openxmlformats.org/officeDocument/2006/relationships" id="260" r:id="R2450bf2986d84ca7"/>
    <p:sldId xmlns:r="http://schemas.openxmlformats.org/officeDocument/2006/relationships" id="261" r:id="R9f601701630449eb"/>
    <p:sldId xmlns:r="http://schemas.openxmlformats.org/officeDocument/2006/relationships" id="262" r:id="Raf1477741da9465c"/>
    <p:sldId xmlns:r="http://schemas.openxmlformats.org/officeDocument/2006/relationships" id="263" r:id="R0dc7ef30e0ea422a"/>
    <p:sldId xmlns:r="http://schemas.openxmlformats.org/officeDocument/2006/relationships" id="264" r:id="R77bce99861b64506"/>
    <p:sldId xmlns:r="http://schemas.openxmlformats.org/officeDocument/2006/relationships" id="265" r:id="R1ef53168881d44f7"/>
    <p:sldId xmlns:r="http://schemas.openxmlformats.org/officeDocument/2006/relationships" id="266" r:id="R0a6a871210894365"/>
    <p:sldId xmlns:r="http://schemas.openxmlformats.org/officeDocument/2006/relationships" id="267" r:id="R10b2085de51c482e"/>
    <p:sldId xmlns:r="http://schemas.openxmlformats.org/officeDocument/2006/relationships" id="268" r:id="R9db18ac3a21b43e2"/>
    <p:sldId xmlns:r="http://schemas.openxmlformats.org/officeDocument/2006/relationships" id="269" r:id="R62e301507ed44ad9"/>
    <p:sldId xmlns:r="http://schemas.openxmlformats.org/officeDocument/2006/relationships" id="270" r:id="R00279da4794044a5"/>
    <p:sldId xmlns:r="http://schemas.openxmlformats.org/officeDocument/2006/relationships" id="271" r:id="R66d236c5ca9d426d"/>
    <p:sldId xmlns:r="http://schemas.openxmlformats.org/officeDocument/2006/relationships" id="272" r:id="R672bd4baf7f349f9"/>
    <p:sldId xmlns:r="http://schemas.openxmlformats.org/officeDocument/2006/relationships" id="273" r:id="R6657877601584886"/>
    <p:sldId xmlns:r="http://schemas.openxmlformats.org/officeDocument/2006/relationships" id="274" r:id="Rc8eec8d27a354d71"/>
    <p:sldId xmlns:r="http://schemas.openxmlformats.org/officeDocument/2006/relationships" id="275" r:id="R6b070e92cebb4cf0"/>
    <p:sldId xmlns:r="http://schemas.openxmlformats.org/officeDocument/2006/relationships" id="276" r:id="R233557eb0ddd48a0"/>
    <p:sldId xmlns:r="http://schemas.openxmlformats.org/officeDocument/2006/relationships" id="277" r:id="Ra15c32ff725b4dd3"/>
    <p:sldId xmlns:r="http://schemas.openxmlformats.org/officeDocument/2006/relationships" id="278" r:id="R0fdbc9ec37874934"/>
    <p:sldId xmlns:r="http://schemas.openxmlformats.org/officeDocument/2006/relationships" id="279" r:id="R10bcad9fdccb4723"/>
    <p:sldId xmlns:r="http://schemas.openxmlformats.org/officeDocument/2006/relationships" id="280" r:id="Rc19738e2ff334a7f"/>
    <p:sldId xmlns:r="http://schemas.openxmlformats.org/officeDocument/2006/relationships" id="281" r:id="R2ed10fa889554730"/>
    <p:sldId xmlns:r="http://schemas.openxmlformats.org/officeDocument/2006/relationships" id="282" r:id="R179da8b566214458"/>
    <p:sldId xmlns:r="http://schemas.openxmlformats.org/officeDocument/2006/relationships" id="283" r:id="R7a7dd29546604cb5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bafd8cdcf2491a" /><Relationship Type="http://schemas.openxmlformats.org/officeDocument/2006/relationships/slideMaster" Target="/ppt/slideMasters/slideMaster1.xml" Id="R8844055d3346492b" /><Relationship Type="http://schemas.openxmlformats.org/officeDocument/2006/relationships/notesMaster" Target="/ppt/notesMasters/notesMaster1.xml" Id="Ra5075e79335042ad" /><Relationship Type="http://schemas.openxmlformats.org/officeDocument/2006/relationships/presProps" Target="/ppt/presProps.xml" Id="R18a0a1e790324864" /><Relationship Type="http://schemas.openxmlformats.org/officeDocument/2006/relationships/viewProps" Target="/ppt/viewProps.xml" Id="Re59cdede543d4dbd" /><Relationship Type="http://schemas.openxmlformats.org/officeDocument/2006/relationships/tableStyles" Target="/ppt/tableStyles.xml" Id="Rc92e2d004a8f4315" /><Relationship Type="http://schemas.openxmlformats.org/officeDocument/2006/relationships/slide" Target="/ppt/slides/slide1.xml" Id="R24e390fe43bf459f" /><Relationship Type="http://schemas.openxmlformats.org/officeDocument/2006/relationships/slide" Target="/ppt/slides/slide2.xml" Id="R04d488e0309f411b" /><Relationship Type="http://schemas.openxmlformats.org/officeDocument/2006/relationships/slide" Target="/ppt/slides/slide3.xml" Id="R9ff88631dc89491b" /><Relationship Type="http://schemas.openxmlformats.org/officeDocument/2006/relationships/slide" Target="/ppt/slides/slide4.xml" Id="R914f7193b9334619" /><Relationship Type="http://schemas.openxmlformats.org/officeDocument/2006/relationships/slide" Target="/ppt/slides/slide5.xml" Id="R2450bf2986d84ca7" /><Relationship Type="http://schemas.openxmlformats.org/officeDocument/2006/relationships/slide" Target="/ppt/slides/slide6.xml" Id="R9f601701630449eb" /><Relationship Type="http://schemas.openxmlformats.org/officeDocument/2006/relationships/slide" Target="/ppt/slides/slide7.xml" Id="Raf1477741da9465c" /><Relationship Type="http://schemas.openxmlformats.org/officeDocument/2006/relationships/slide" Target="/ppt/slides/slide8.xml" Id="R0dc7ef30e0ea422a" /><Relationship Type="http://schemas.openxmlformats.org/officeDocument/2006/relationships/slide" Target="/ppt/slides/slide9.xml" Id="R77bce99861b64506" /><Relationship Type="http://schemas.openxmlformats.org/officeDocument/2006/relationships/slide" Target="/ppt/slides/slide10.xml" Id="R1ef53168881d44f7" /><Relationship Type="http://schemas.openxmlformats.org/officeDocument/2006/relationships/slide" Target="/ppt/slides/slide11.xml" Id="R0a6a871210894365" /><Relationship Type="http://schemas.openxmlformats.org/officeDocument/2006/relationships/slide" Target="/ppt/slides/slide12.xml" Id="R10b2085de51c482e" /><Relationship Type="http://schemas.openxmlformats.org/officeDocument/2006/relationships/slide" Target="/ppt/slides/slide13.xml" Id="R9db18ac3a21b43e2" /><Relationship Type="http://schemas.openxmlformats.org/officeDocument/2006/relationships/slide" Target="/ppt/slides/slide14.xml" Id="R62e301507ed44ad9" /><Relationship Type="http://schemas.openxmlformats.org/officeDocument/2006/relationships/slide" Target="/ppt/slides/slide15.xml" Id="R00279da4794044a5" /><Relationship Type="http://schemas.openxmlformats.org/officeDocument/2006/relationships/slide" Target="/ppt/slides/slide16.xml" Id="R66d236c5ca9d426d" /><Relationship Type="http://schemas.openxmlformats.org/officeDocument/2006/relationships/slide" Target="/ppt/slides/slide17.xml" Id="R672bd4baf7f349f9" /><Relationship Type="http://schemas.openxmlformats.org/officeDocument/2006/relationships/slide" Target="/ppt/slides/slide18.xml" Id="R6657877601584886" /><Relationship Type="http://schemas.openxmlformats.org/officeDocument/2006/relationships/slide" Target="/ppt/slides/slide19.xml" Id="Rc8eec8d27a354d71" /><Relationship Type="http://schemas.openxmlformats.org/officeDocument/2006/relationships/slide" Target="/ppt/slides/slide20.xml" Id="R6b070e92cebb4cf0" /><Relationship Type="http://schemas.openxmlformats.org/officeDocument/2006/relationships/slide" Target="/ppt/slides/slide21.xml" Id="R233557eb0ddd48a0" /><Relationship Type="http://schemas.openxmlformats.org/officeDocument/2006/relationships/slide" Target="/ppt/slides/slide22.xml" Id="Ra15c32ff725b4dd3" /><Relationship Type="http://schemas.openxmlformats.org/officeDocument/2006/relationships/slide" Target="/ppt/slides/slide23.xml" Id="R0fdbc9ec37874934" /><Relationship Type="http://schemas.openxmlformats.org/officeDocument/2006/relationships/slide" Target="/ppt/slides/slide24.xml" Id="R10bcad9fdccb4723" /><Relationship Type="http://schemas.openxmlformats.org/officeDocument/2006/relationships/slide" Target="/ppt/slides/slide25.xml" Id="Rc19738e2ff334a7f" /><Relationship Type="http://schemas.openxmlformats.org/officeDocument/2006/relationships/slide" Target="/ppt/slides/slide26.xml" Id="R2ed10fa889554730" /><Relationship Type="http://schemas.openxmlformats.org/officeDocument/2006/relationships/slide" Target="/ppt/slides/slide27.xml" Id="R179da8b566214458" /><Relationship Type="http://schemas.openxmlformats.org/officeDocument/2006/relationships/slide" Target="/ppt/slides/slide28.xml" Id="R7a7dd2954660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dd3fae13a43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45d6d70d94f52" /><Relationship Type="http://schemas.openxmlformats.org/officeDocument/2006/relationships/notesMaster" Target="/ppt/notesMasters/notesMaster1.xml" Id="R3e0df6009a8644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7c846060e645d8" /><Relationship Type="http://schemas.openxmlformats.org/officeDocument/2006/relationships/notesMaster" Target="/ppt/notesMasters/notesMaster1.xml" Id="R033ca3fd91054d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8c41783708493f" /><Relationship Type="http://schemas.openxmlformats.org/officeDocument/2006/relationships/notesMaster" Target="/ppt/notesMasters/notesMaster1.xml" Id="Rbf820484ab404a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403bcf2acc441a" /><Relationship Type="http://schemas.openxmlformats.org/officeDocument/2006/relationships/notesMaster" Target="/ppt/notesMasters/notesMaster1.xml" Id="R59132ff77b174f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962f0bb0a545d4" /><Relationship Type="http://schemas.openxmlformats.org/officeDocument/2006/relationships/notesMaster" Target="/ppt/notesMasters/notesMaster1.xml" Id="Re66ccb4d79b648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8cd7efc46e468d" /><Relationship Type="http://schemas.openxmlformats.org/officeDocument/2006/relationships/notesMaster" Target="/ppt/notesMasters/notesMaster1.xml" Id="Rbcb2353bab2c46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31e2cf02d34e5e" /><Relationship Type="http://schemas.openxmlformats.org/officeDocument/2006/relationships/notesMaster" Target="/ppt/notesMasters/notesMaster1.xml" Id="R040d1691d78f44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97133cd9a24f20" /><Relationship Type="http://schemas.openxmlformats.org/officeDocument/2006/relationships/notesMaster" Target="/ppt/notesMasters/notesMaster1.xml" Id="Ra6c0204fc5b94f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3cbf54000a4e05" /><Relationship Type="http://schemas.openxmlformats.org/officeDocument/2006/relationships/notesMaster" Target="/ppt/notesMasters/notesMaster1.xml" Id="R389ece3410f543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f7e2fd2ec04247" /><Relationship Type="http://schemas.openxmlformats.org/officeDocument/2006/relationships/notesMaster" Target="/ppt/notesMasters/notesMaster1.xml" Id="R1ff46490e31b4c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0b222c450146e3" /><Relationship Type="http://schemas.openxmlformats.org/officeDocument/2006/relationships/notesMaster" Target="/ppt/notesMasters/notesMaster1.xml" Id="Racf4a93a10b848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123c7eb9544762" /><Relationship Type="http://schemas.openxmlformats.org/officeDocument/2006/relationships/notesMaster" Target="/ppt/notesMasters/notesMaster1.xml" Id="Rd764d8934a1d46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b7ec979b2a4b89" /><Relationship Type="http://schemas.openxmlformats.org/officeDocument/2006/relationships/notesMaster" Target="/ppt/notesMasters/notesMaster1.xml" Id="R9faee6fbd3f74c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69af7628024c35" /><Relationship Type="http://schemas.openxmlformats.org/officeDocument/2006/relationships/notesMaster" Target="/ppt/notesMasters/notesMaster1.xml" Id="R02df2d5231e249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c95f00a3ec4db4" /><Relationship Type="http://schemas.openxmlformats.org/officeDocument/2006/relationships/notesMaster" Target="/ppt/notesMasters/notesMaster1.xml" Id="R07c40175a75d4f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af62f9c4b94ca8" /><Relationship Type="http://schemas.openxmlformats.org/officeDocument/2006/relationships/notesMaster" Target="/ppt/notesMasters/notesMaster1.xml" Id="R163ed43723dd4e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2209f88828498b" /><Relationship Type="http://schemas.openxmlformats.org/officeDocument/2006/relationships/notesMaster" Target="/ppt/notesMasters/notesMaster1.xml" Id="Rfc612be6939a42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e168087ae84f35" /><Relationship Type="http://schemas.openxmlformats.org/officeDocument/2006/relationships/notesMaster" Target="/ppt/notesMasters/notesMaster1.xml" Id="R11460a9b416143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41e7c8cf5d4e19" /><Relationship Type="http://schemas.openxmlformats.org/officeDocument/2006/relationships/notesMaster" Target="/ppt/notesMasters/notesMaster1.xml" Id="R92e1527a28844a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ae936e09e14e3e" /><Relationship Type="http://schemas.openxmlformats.org/officeDocument/2006/relationships/notesMaster" Target="/ppt/notesMasters/notesMaster1.xml" Id="R0631f5a85b034d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6cf063e0af47ae" /><Relationship Type="http://schemas.openxmlformats.org/officeDocument/2006/relationships/notesMaster" Target="/ppt/notesMasters/notesMaster1.xml" Id="R1e3bc5418b8348a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2af7a1027a4bda" /><Relationship Type="http://schemas.openxmlformats.org/officeDocument/2006/relationships/notesMaster" Target="/ppt/notesMasters/notesMaster1.xml" Id="R1f845754c19c41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474546abe34cc9" /><Relationship Type="http://schemas.openxmlformats.org/officeDocument/2006/relationships/notesMaster" Target="/ppt/notesMasters/notesMaster1.xml" Id="R97c37243c9bc47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b62804e8ec845bd" /><Relationship Type="http://schemas.openxmlformats.org/officeDocument/2006/relationships/notesMaster" Target="/ppt/notesMasters/notesMaster1.xml" Id="R36331ab044b642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c6e8124c6640eb" /><Relationship Type="http://schemas.openxmlformats.org/officeDocument/2006/relationships/notesMaster" Target="/ppt/notesMasters/notesMaster1.xml" Id="Rbfe21f1eddd74a2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d3681715b04f63" /><Relationship Type="http://schemas.openxmlformats.org/officeDocument/2006/relationships/notesMaster" Target="/ppt/notesMasters/notesMaster1.xml" Id="R06e581838a4c41f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57c046b94c46ea" /><Relationship Type="http://schemas.openxmlformats.org/officeDocument/2006/relationships/notesMaster" Target="/ppt/notesMasters/notesMaster1.xml" Id="R62ce2ec305cf48a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9f1b8567abe43ff" /><Relationship Type="http://schemas.openxmlformats.org/officeDocument/2006/relationships/notesMaster" Target="/ppt/notesMasters/notesMaster1.xml" Id="R1b3042fc768f42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79cd0a4e84a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2c11b350444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11ee4c3e84f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b167a07b543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fe5cc9fb741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24901f1ff40e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fcf97ddcc4fb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b7669e87347f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2bd511bcb45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08d0c1e8244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74bc278894bc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175DCA-2291-4786-AD22-47A63CE59E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43F5A42-8CD9-413B-B697-815BBB9508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5542F1-6B66-4E4A-8500-793AEC7A53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58D0EB-2611-4DB9-B449-9F32920C1A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394517-C559-426F-A8EF-8D33895C32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4ECDE5-E38F-428F-A657-863E9ABAA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8E5BCC-F541-4829-A8C4-A83102EA76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A06511-3ED9-4CA6-98C9-3D72A19182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C3DAE5-7844-4D8E-9E39-58B949FDF1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1D17A2-37D6-42E1-AAE3-8DD2CE7D0A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2CB87E-54D9-4C84-8B07-1A1821E2B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BAF98B-9F37-4BC2-8052-97C677C826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F35AA2-A297-404A-9925-342DD973C9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7594E2-EA0A-4E5D-9A9A-C128B2CAB8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0FF2E5-2FD2-4712-9296-50A7E5274E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37D960-02CB-4FDC-A08F-AD281F5DB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DFDF14-2D92-477D-BC69-0222EAF7B6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C810F-F8E5-45F3-A1B2-6E11E14B16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03F85AD-2E26-41E1-8EB7-8E354579E6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4DCB6A-398E-45A4-8A06-149C8F0BBA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2AB9D5E-1476-4DFF-A285-B745BE20C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F91B8C-DB68-4026-958E-5B6A6951B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D013C5-B477-4EBD-9394-613785F82D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8D37872-0D3E-4EAF-A6F3-07F7F1CCD8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8DCDB21-37CA-466E-8D21-FF5417C69DB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8459B8D-0792-43F0-83E3-901A9CB866A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147C37A-067B-486F-A98F-8943CE823F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A930DD4-88C5-466F-B2A1-6169A81C05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4934C53-0C5F-4DC6-8171-C01BF603D9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677CB8-E3C8-4D34-8A96-DB577F360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0DA9F8A-39AB-4CDE-8E7B-61125EB678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5EF03D8-82BE-498D-9D03-0EAD3EE9ED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592C08-B147-47D3-87A4-1E6FA03684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8F636A3-6337-400A-8232-8462DF6D06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3AE59E7-707A-4177-89D2-41005C0B9A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F1C7AFE-2BC9-4DE7-9BD3-A6011AEDF1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890C86-8336-4FC9-B4B6-4A8F26CEC2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234ED8-0475-4376-8423-AA53B02285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1399F2-2BF8-4B28-90E8-2A8683FF59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45FDA48-1E8E-4927-8F16-992A6F5CD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7D459F-EE75-4D1A-81C5-AA8F505201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CE30833-DA5E-460A-A2A9-C9CCDBCCAB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81F116-EF04-4D3E-89AF-7C0B6A4AF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7EE87E8-6C7F-440B-9788-C02705A950E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A510CA6-21E8-48B4-9C0F-5CA9B937A2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629CF8-536B-48D4-AF9B-AA1239574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697B16-0318-424E-A732-52A7B7EED1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2B064D-412F-47FC-8B16-E2B8475FB1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4299FA-D440-4F68-A7A1-EA4B60B2F7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E0B53B-C66C-45A7-9F68-838CBB9B4E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EBBCF5-337E-4A24-974B-1DF595230B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B67074-3CA9-495C-A47E-BBFB243571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806801-ABC0-495F-A754-EB3FDAFB8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C8D61EE-E5DD-4E14-B5AC-6FBD34467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C38504-24D8-4701-9A27-72F5C6E32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30236B-20DC-46E8-B49D-94F79040CA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003737-0454-424C-9CED-BEA46F163B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4885AF-E08D-422A-ACB4-4EFF15FBF2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decee3f8904406" /><Relationship Type="http://schemas.openxmlformats.org/officeDocument/2006/relationships/slideLayout" Target="/ppt/slideLayouts/slideLayout1.xml" Id="R7bd9978bca5a43a9" /><Relationship Type="http://schemas.openxmlformats.org/officeDocument/2006/relationships/slideLayout" Target="/ppt/slideLayouts/slideLayout2.xml" Id="R032e582b69d646a1" /><Relationship Type="http://schemas.openxmlformats.org/officeDocument/2006/relationships/slideLayout" Target="/ppt/slideLayouts/slideLayout3.xml" Id="Rcc82bcb860cc4b4b" /><Relationship Type="http://schemas.openxmlformats.org/officeDocument/2006/relationships/slideLayout" Target="/ppt/slideLayouts/slideLayout4.xml" Id="R18fa2d835680492d" /><Relationship Type="http://schemas.openxmlformats.org/officeDocument/2006/relationships/slideLayout" Target="/ppt/slideLayouts/slideLayout5.xml" Id="Rc414299358834833" /><Relationship Type="http://schemas.openxmlformats.org/officeDocument/2006/relationships/slideLayout" Target="/ppt/slideLayouts/slideLayout6.xml" Id="R7c499617459e4034" /><Relationship Type="http://schemas.openxmlformats.org/officeDocument/2006/relationships/slideLayout" Target="/ppt/slideLayouts/slideLayout7.xml" Id="Rde14089067864193" /><Relationship Type="http://schemas.openxmlformats.org/officeDocument/2006/relationships/slideLayout" Target="/ppt/slideLayouts/slideLayout8.xml" Id="R310abf73ba83403d" /><Relationship Type="http://schemas.openxmlformats.org/officeDocument/2006/relationships/slideLayout" Target="/ppt/slideLayouts/slideLayout9.xml" Id="Ra9334e436daf4a46" /><Relationship Type="http://schemas.openxmlformats.org/officeDocument/2006/relationships/slideLayout" Target="/ppt/slideLayouts/slideLayout10.xml" Id="Rb7e42851c66e4fd0" /><Relationship Type="http://schemas.openxmlformats.org/officeDocument/2006/relationships/slideLayout" Target="/ppt/slideLayouts/slideLayout11.xml" Id="R5cd8b98b64e745a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7F151A2-BAF6-46F4-A7FB-8857B0245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B422C4-708F-440A-96CA-FC0BFF871B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66BEE2-E4E1-4E0D-9E94-A87C8C6E2C4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5E9CFE-78EB-40FD-917E-A8EEF19A1F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1B14B2-B377-4013-B7EA-940CAFCC8F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d9978bca5a43a9"/>
    <p:sldLayoutId xmlns:r="http://schemas.openxmlformats.org/officeDocument/2006/relationships" id="2147483650" r:id="R032e582b69d646a1"/>
    <p:sldLayoutId xmlns:r="http://schemas.openxmlformats.org/officeDocument/2006/relationships" id="2147483651" r:id="Rcc82bcb860cc4b4b"/>
    <p:sldLayoutId xmlns:r="http://schemas.openxmlformats.org/officeDocument/2006/relationships" id="2147483652" r:id="R18fa2d835680492d"/>
    <p:sldLayoutId xmlns:r="http://schemas.openxmlformats.org/officeDocument/2006/relationships" id="2147483653" r:id="Rc414299358834833"/>
    <p:sldLayoutId xmlns:r="http://schemas.openxmlformats.org/officeDocument/2006/relationships" id="2147483654" r:id="R7c499617459e4034"/>
    <p:sldLayoutId xmlns:r="http://schemas.openxmlformats.org/officeDocument/2006/relationships" id="2147483655" r:id="Rde14089067864193"/>
    <p:sldLayoutId xmlns:r="http://schemas.openxmlformats.org/officeDocument/2006/relationships" id="2147483656" r:id="R310abf73ba83403d"/>
    <p:sldLayoutId xmlns:r="http://schemas.openxmlformats.org/officeDocument/2006/relationships" id="2147483657" r:id="Ra9334e436daf4a46"/>
    <p:sldLayoutId xmlns:r="http://schemas.openxmlformats.org/officeDocument/2006/relationships" id="2147483658" r:id="Rb7e42851c66e4fd0"/>
    <p:sldLayoutId xmlns:r="http://schemas.openxmlformats.org/officeDocument/2006/relationships" id="2147483659" r:id="R5cd8b98b64e745a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8ee5433c3c4161" /><Relationship Type="http://schemas.openxmlformats.org/officeDocument/2006/relationships/notesSlide" Target="/ppt/notesSlides/notesSlide1.xml" Id="R3c67ef6ed4f448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8f8f1bd7804da8" /><Relationship Type="http://schemas.openxmlformats.org/officeDocument/2006/relationships/notesSlide" Target="/ppt/notesSlides/notesSlide2.xml" Id="R31313291ca6546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b9a855618f4efe" /><Relationship Type="http://schemas.openxmlformats.org/officeDocument/2006/relationships/notesSlide" Target="/ppt/notesSlides/notesSlide3.xml" Id="R20066b245b604e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e14627f56349bc" /><Relationship Type="http://schemas.openxmlformats.org/officeDocument/2006/relationships/notesSlide" Target="/ppt/notesSlides/notesSlide4.xml" Id="R7e8e03d008c942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f3f4839bdc42a6" /><Relationship Type="http://schemas.openxmlformats.org/officeDocument/2006/relationships/notesSlide" Target="/ppt/notesSlides/notesSlide5.xml" Id="Rd0af43b65fbe47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ef141b9fd8428e" /><Relationship Type="http://schemas.openxmlformats.org/officeDocument/2006/relationships/notesSlide" Target="/ppt/notesSlides/notesSlide6.xml" Id="Rabcd37f8c35043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fb71ed80d14d6e" /><Relationship Type="http://schemas.openxmlformats.org/officeDocument/2006/relationships/notesSlide" Target="/ppt/notesSlides/notesSlide7.xml" Id="Rf9386bed650448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c4dfe818744589" /><Relationship Type="http://schemas.openxmlformats.org/officeDocument/2006/relationships/notesSlide" Target="/ppt/notesSlides/notesSlide8.xml" Id="R89e59a0e633e48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7dae21e00849b8" /><Relationship Type="http://schemas.openxmlformats.org/officeDocument/2006/relationships/notesSlide" Target="/ppt/notesSlides/notesSlide9.xml" Id="R397a674a3c1045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79bec589cc41c9" /><Relationship Type="http://schemas.openxmlformats.org/officeDocument/2006/relationships/notesSlide" Target="/ppt/notesSlides/notesSlide10.xml" Id="Rcec86185f32e45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1e1e59fb9a4fba" /><Relationship Type="http://schemas.openxmlformats.org/officeDocument/2006/relationships/notesSlide" Target="/ppt/notesSlides/notesSlide11.xml" Id="R4ff20b2e63894e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14060d8f9a4d4b" /><Relationship Type="http://schemas.openxmlformats.org/officeDocument/2006/relationships/notesSlide" Target="/ppt/notesSlides/notesSlide12.xml" Id="R735456588041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fc04ddae8e4bec" /><Relationship Type="http://schemas.openxmlformats.org/officeDocument/2006/relationships/notesSlide" Target="/ppt/notesSlides/notesSlide13.xml" Id="Rcedc5069737541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e4642920cf444b" /><Relationship Type="http://schemas.openxmlformats.org/officeDocument/2006/relationships/notesSlide" Target="/ppt/notesSlides/notesSlide14.xml" Id="R69c49425838b40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5b3cc37a584a58" /><Relationship Type="http://schemas.openxmlformats.org/officeDocument/2006/relationships/notesSlide" Target="/ppt/notesSlides/notesSlide15.xml" Id="Rb268dc57fed246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647ccd6f8b407e" /><Relationship Type="http://schemas.openxmlformats.org/officeDocument/2006/relationships/notesSlide" Target="/ppt/notesSlides/notesSlide16.xml" Id="R31bbff4e338144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0e07277d3d472e" /><Relationship Type="http://schemas.openxmlformats.org/officeDocument/2006/relationships/notesSlide" Target="/ppt/notesSlides/notesSlide17.xml" Id="R7c74ce7ea0d14f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d91814486f4356" /><Relationship Type="http://schemas.openxmlformats.org/officeDocument/2006/relationships/notesSlide" Target="/ppt/notesSlides/notesSlide18.xml" Id="R24ec8d51085049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7481c373f741f3" /><Relationship Type="http://schemas.openxmlformats.org/officeDocument/2006/relationships/chart" Target="/ppt/slides/charts/chart1.xml" Id="Rdf73c10528ca4c28" /><Relationship Type="http://schemas.openxmlformats.org/officeDocument/2006/relationships/notesSlide" Target="/ppt/notesSlides/notesSlide19.xml" Id="R412071c554d847e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9d217432db4f85" /><Relationship Type="http://schemas.openxmlformats.org/officeDocument/2006/relationships/notesSlide" Target="/ppt/notesSlides/notesSlide20.xml" Id="Rb6472810746345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b0d33d732c4c82" /><Relationship Type="http://schemas.openxmlformats.org/officeDocument/2006/relationships/notesSlide" Target="/ppt/notesSlides/notesSlide21.xml" Id="R297075013f424c1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fc57094a67484c" /><Relationship Type="http://schemas.openxmlformats.org/officeDocument/2006/relationships/notesSlide" Target="/ppt/notesSlides/notesSlide22.xml" Id="Ref2e5237620545e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8b31405e1b48dd" /><Relationship Type="http://schemas.openxmlformats.org/officeDocument/2006/relationships/notesSlide" Target="/ppt/notesSlides/notesSlide23.xml" Id="R5b46057277754c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d556dc428c4aa7" /><Relationship Type="http://schemas.openxmlformats.org/officeDocument/2006/relationships/notesSlide" Target="/ppt/notesSlides/notesSlide24.xml" Id="Rc979f0b94f4141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2cb66f97944863" /><Relationship Type="http://schemas.openxmlformats.org/officeDocument/2006/relationships/notesSlide" Target="/ppt/notesSlides/notesSlide25.xml" Id="R8c0c6c2716594ee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cbf16ebfee4400" /><Relationship Type="http://schemas.openxmlformats.org/officeDocument/2006/relationships/notesSlide" Target="/ppt/notesSlides/notesSlide26.xml" Id="R9f7a9b9039c448c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eda32bafc142f5" /><Relationship Type="http://schemas.openxmlformats.org/officeDocument/2006/relationships/notesSlide" Target="/ppt/notesSlides/notesSlide27.xml" Id="R5ed36ecd81844b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d8db54bee24a64" /><Relationship Type="http://schemas.openxmlformats.org/officeDocument/2006/relationships/notesSlide" Target="/ppt/notesSlides/notesSlide28.xml" Id="R2193dd4f33d0486f" /></Relationships>
</file>

<file path=ppt/slides/charts/chart1.xml><?xml version="1.0" encoding="utf-8"?>
<c:chartSpace xmlns:c="http://schemas.openxmlformats.org/drawingml/2006/chart">
  <c:lang val="en-US"/>
  <c:style val="1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流程采用率</c:v>
                </c:pt>
              </c:strCache>
            </c:strRef>
          </c:tx>
          <c:spPr>
            <a:solidFill xmlns:a="http://schemas.openxmlformats.org/drawingml/2006/main">
              <a:srgbClr val="EF5B3C"/>
            </a:solidFill>
          </c:spPr>
          <c:cat>
            <c:strRef>
              <c:f>Sheet1!$A$2:$A$5</c:f>
              <c:strCache>
                <c:ptCount val="4"/>
                <c:pt idx="0">
                  <c:v>上线前</c:v>
                </c:pt>
                <c:pt idx="1">
                  <c:v>上线 3 月</c:v>
                </c:pt>
                <c:pt idx="2">
                  <c:v>上线 6 月</c:v>
                </c:pt>
                <c:pt idx="3">
                  <c:v>上线 12 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48</c:v>
                </c:pt>
                <c:pt idx="2">
                  <c:v>72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价值实现率</c:v>
                </c:pt>
              </c:strCache>
            </c:strRef>
          </c:tx>
          <c:spPr>
            <a:solidFill xmlns:a="http://schemas.openxmlformats.org/drawingml/2006/main">
              <a:srgbClr val="6C5CE7"/>
            </a:solidFill>
          </c:spPr>
          <c:cat>
            <c:strRef>
              <c:f>Sheet1!$A$2:$A$5</c:f>
              <c:strCache>
                <c:ptCount val="4"/>
                <c:pt idx="0">
                  <c:v>上线前</c:v>
                </c:pt>
                <c:pt idx="1">
                  <c:v>上线 3 月</c:v>
                </c:pt>
                <c:pt idx="2">
                  <c:v>上线 6 月</c:v>
                </c:pt>
                <c:pt idx="3">
                  <c:v>上线 12 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24</c:v>
                </c:pt>
                <c:pt idx="2">
                  <c:v>51</c:v>
                </c:pt>
                <c:pt idx="3">
                  <c:v>76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numFmt formatCode="General"/>
        <c:majorTickMark val="out"/>
        <c:minorTickMark val="none"/>
        <c:tickLblPos val="nextTo"/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/>
            </a:pPr>
          </a:p>
        </c:txPr>
        <c:crossAx val="2180972856"/>
        <c:crosses val="autoZero"/>
        <c:lblOffset val="100"/>
      </c:catAx>
      <c:valAx>
        <c:axId val="2180972856"/>
        <c:scaling>
          <c:orientation val="minMax"/>
        </c:scaling>
        <c:delete val="0"/>
        <c:axPos val="l"/>
        <c:majorGridlines>
          <c:spPr>
            <a:ln xmlns:a="http://schemas.openxmlformats.org/drawingml/2006/main">
              <a:solidFill>
                <a:srgbClr val="17202B"/>
              </a:solidFill>
            </a:ln>
          </c:spPr>
        </c:majorGridlines>
        <c:numFmt formatCode="General"/>
        <c:majorTickMark val="out"/>
        <c:minorTickMark val="none"/>
        <c:tickLblPos val="nextTo"/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/>
            </a:pPr>
          </a:p>
        </c:txPr>
        <c:crossAx val="2226939960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/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F0D4335D-6F10-4888-8C77-EAA456B1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A31631-4638-4BF5-8B26-AE46C590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DB0C8C20-33DE-4468-B231-1152287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FEA35D58-B2F0-442A-8F94-DE933128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1475001-D102-4E8A-BBD7-E2AA9B0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530352"/>
            <a:ext cx="868679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7DFB3BA-DB8D-48ED-A69B-33540091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">
            <a:off x="9601199" y="749808"/>
            <a:ext cx="1142999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D0C9CC91-40A1-4D09-A8F6-BC09829C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9" y="2971800"/>
            <a:ext cx="2468879" cy="2468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9855598-4F2D-4000-9B6B-A17B9726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1874519"/>
            <a:ext cx="6492239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9960939-5298-42B8-B018-5AE57C96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1" y="1417320"/>
            <a:ext cx="4754879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140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ENTERPRISE RESOURCE PLANNING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B78AC1-1E6E-49BB-90D3-08155015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1" y="2139696"/>
            <a:ext cx="5714999" cy="1874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系统全面介绍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9F6A24-63AD-4693-84C0-8044B368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7" y="3657600"/>
            <a:ext cx="562355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从资源整合、流程协同到数据驱动经营的企业管理底座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BF319F5-F2F8-404C-A7D4-ECACAB04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7" y="6144768"/>
            <a:ext cx="502919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企业 AI 工作平台</a:t>
            </a:r>
          </a:p>
        </p:txBody>
      </p:sp>
    </p:spTree>
    <p:extLst>
      <p:ext uri="{BB962C8B-B14F-4D97-AF65-F5344CB8AC3E}">
        <p14:creationId xmlns:p14="http://schemas.microsoft.com/office/powerpoint/2010/main" val="765175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9C65EE86-CD10-48B7-B7E9-263C812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8C0C69-4521-48E0-A5A1-F9FAED41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ED3A9237-F45F-4064-9D71-08B988B4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5D53AD28-6733-465F-A250-A32B12A3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16915129-AE57-4A37-A456-93C3D520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E06053D-A058-428F-80C5-C9E0CF9A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AF79BD-4D95-4195-A90B-FC6601A7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导航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614C757-0FD4-454D-A09F-B134A7D1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这份介绍回答六个管理问题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7A54A435-9E2C-4136-88CD-5737BF8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9AC796-D785-4394-88F2-5EC22C4A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23E557F-048B-41EB-B660-66371DA4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40EB588-DCF9-4C83-BEAC-DA0A2E7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1463040"/>
            <a:ext cx="6217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EF5B3C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92F5E22E-DC0D-4F91-885D-8F3046B3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1865376"/>
            <a:ext cx="432511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E1DCE8A-633F-4FD5-A837-6DB6B9AB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1444752"/>
            <a:ext cx="429767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ERP 是什么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15C80B2-1070-4CC1-A07A-F4D9B92F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1901952"/>
            <a:ext cx="4160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定义、边界与发展演进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43518F6-CABD-4BA8-A85C-B83428ED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2587752"/>
            <a:ext cx="6217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EF5B3C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0DEE3419-AC66-44A3-9E6F-FDB1E97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2990088"/>
            <a:ext cx="432511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059BA45-C7CA-4EEB-88FB-3232FE79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2569464"/>
            <a:ext cx="429767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为什么需要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7B6B114-4BB0-41AD-8CC1-B9137CEF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3026664"/>
            <a:ext cx="4160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传统管理模式的典型瓶颈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A6EF055-71C5-4CE5-94B3-2E0B30EE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3712464"/>
            <a:ext cx="6217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EF5B3C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E2719CCD-9A7D-47F8-B5A6-7E7803C0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4114800"/>
            <a:ext cx="432511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8568341-3AAA-44A9-9738-A96C3CB6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3694176"/>
            <a:ext cx="429767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系统包含什么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19B4DC5-BCA1-4C13-B535-CBB847FA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5" y="4151376"/>
            <a:ext cx="4160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架构、模块和关键数据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5409C46-808C-4348-A324-E5D2CB85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7" y="1463040"/>
            <a:ext cx="6217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EF5B3C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82502E86-313D-4621-97A6-5CBC1A0E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1865376"/>
            <a:ext cx="432511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105ADA6-8EAA-4CE4-9D27-650E763D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1444752"/>
            <a:ext cx="429767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如何创造价值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8ED7A50-F94E-48F0-BF39-4154CD7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1901952"/>
            <a:ext cx="4160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流程、效率、成本与决策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5CF8589-B380-4031-B8D6-E892982F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7" y="2587752"/>
            <a:ext cx="6217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EF5B3C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88F62A55-9BB0-4934-9C2B-A5FC98F0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2990088"/>
            <a:ext cx="432511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9C1B709-4006-45E1-A0CB-F5974D09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2569464"/>
            <a:ext cx="429767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怎样成功实施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82F5D7F-02A3-4A62-9889-DBA425B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3026664"/>
            <a:ext cx="4160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方法、选型、风险与治理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92A9788-E676-40FD-8723-F9B2E30A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7" y="3712464"/>
            <a:ext cx="6217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EF5B3C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825497A0-8747-4A26-8A4B-449F0B3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4114800"/>
            <a:ext cx="432511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FB90669-C717-4746-A27D-34FE2014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3694176"/>
            <a:ext cx="429767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未来如何发展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CFA16D1-1908-4166-BC40-9BADDCAB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5" y="4151376"/>
            <a:ext cx="4160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云化、智能化和生态连接</a:t>
            </a:r>
          </a:p>
        </p:txBody>
      </p:sp>
    </p:spTree>
    <p:extLst>
      <p:ext uri="{BB962C8B-B14F-4D97-AF65-F5344CB8AC3E}">
        <p14:creationId xmlns:p14="http://schemas.microsoft.com/office/powerpoint/2010/main" val="486372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DB3F242D-4D90-47A6-9B3F-0C086DFD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16CBE0-4515-47EE-9F4C-BD3C51E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36F3769-676B-4FA9-BF4C-D8508E9B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1016F520-ACDF-49BD-9860-2AEBCD8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D1FCF0DB-F2CE-4CD8-99BC-B407D223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55DCBD-13B6-4FF7-A090-547744CB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3E861BB-233C-48A3-8002-56570A50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基本概念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558A7C6-CB2F-4118-BC2D-9D676B6B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把企业资源、业务流程和经营数据放进同一套系统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E8697C-6B6E-417D-A8AC-8BFEA84F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216152"/>
            <a:ext cx="104698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ERP 不是单一财务软件，而是连接计划、执行、核算与分析的企业级管理平台。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970B333-6DC6-4B7E-B185-8689825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683C8A5-F6B8-4108-A41D-1D247F84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2EDA22C-B81A-4C82-8A43-73818D9D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F9ECDB57-C013-4947-B3E7-0EFDC026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" y="2423160"/>
            <a:ext cx="1828799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E8FE70-9DBD-47ED-A363-5A3284BB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59" y="2862072"/>
            <a:ext cx="155447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5E8"/>
                </a:solidFill>
                <a:latin typeface="Microsoft YaHei UI"/>
                <a:ea typeface="Microsoft YaHei UI"/>
                <a:cs typeface="Microsoft YaHei UI"/>
              </a:rPr>
              <a:t>1套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DAEF38-A549-4B3D-B109-573BCDF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4398264"/>
            <a:ext cx="21031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统一平台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2AE8AA4-D672-4A14-831E-F5E3A6A2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4818888"/>
            <a:ext cx="2340863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承接跨部门业务与共享主数据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7B6F640-FC72-4ED9-98B1-D4FC4E1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39" y="1943100"/>
            <a:ext cx="1600199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6B02EF8-77F5-45F7-9C81-48D7C68D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499" y="2382012"/>
            <a:ext cx="132587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5E8"/>
                </a:solidFill>
                <a:latin typeface="Microsoft YaHei UI"/>
                <a:ea typeface="Microsoft YaHei UI"/>
                <a:cs typeface="Microsoft YaHei UI"/>
              </a:rPr>
              <a:t>全链条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CF2B0BC-7F93-4074-AF11-6CDC2B5B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79" y="3689604"/>
            <a:ext cx="1874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流程覆盖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C8D83A9-10FC-4853-BEC1-5EC582AB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307" y="4110228"/>
            <a:ext cx="2112263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从需求、计划到交付与核算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C2B3806F-979A-4F4F-9F4E-F862F7FF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39" y="2606040"/>
            <a:ext cx="1828799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8698303-1442-44E4-B4B3-EDA192B7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9" y="3044952"/>
            <a:ext cx="155447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5E8"/>
                </a:solidFill>
                <a:latin typeface="Microsoft YaHei UI"/>
                <a:ea typeface="Microsoft YaHei UI"/>
                <a:cs typeface="Microsoft YaHei UI"/>
              </a:rPr>
              <a:t>实时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093CBF2-30C8-4BC2-8ACB-5DB6E5A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4581144"/>
            <a:ext cx="21031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数据口径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EA8A13C-98AE-48C8-8ACC-E8D3BE2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5001768"/>
            <a:ext cx="2340863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经营事实按统一规则持续更新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00AC83BF-9BC1-4348-853B-849059ED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79" y="1988819"/>
            <a:ext cx="1600199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798E401-6DFC-48EB-8FEB-BDC28C23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39" y="2427732"/>
            <a:ext cx="132587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5E8"/>
                </a:solidFill>
                <a:latin typeface="Microsoft YaHei UI"/>
                <a:ea typeface="Microsoft YaHei UI"/>
                <a:cs typeface="Microsoft YaHei UI"/>
              </a:rPr>
              <a:t>可扩展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C12AB559-4C67-4616-823B-EA17FB31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19" y="3735324"/>
            <a:ext cx="1874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部署模式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FC3514E-D349-4F58-B8D0-5323AFFF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47" y="4155948"/>
            <a:ext cx="2112263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支持云端、私有化与混合部署</a:t>
            </a:r>
          </a:p>
        </p:txBody>
      </p:sp>
    </p:spTree>
    <p:extLst>
      <p:ext uri="{BB962C8B-B14F-4D97-AF65-F5344CB8AC3E}">
        <p14:creationId xmlns:p14="http://schemas.microsoft.com/office/powerpoint/2010/main" val="92522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FF70E1B-E2EF-4153-9A28-70D59B24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A5684C-F991-48BC-A38B-C61E87AB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E4B72BC1-F9A4-4994-A053-53B963C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F0A26714-EE85-4306-AF02-276A5D95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F8C8E53-046B-44F7-A754-0AE0FABC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F91776-7584-46FC-B8F0-94BD80CF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F7BD00F-4689-460E-AF85-72BEBBD3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发展演进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3EFFFEF-2D95-411B-98BB-09AA3562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从物料计划工具演进为数字化经营平台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C7EE0C55-B578-4888-8562-38D19CBA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FF818FB-6BA1-4FF2-9F4A-C26DF83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23D591B-FE72-4D3B-9476-56F5482C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Chevron 12">
            <a:extLst xmlns:a="http://schemas.openxmlformats.org/drawingml/2006/main">
              <a:ext uri="{FF2B5EF4-FFF2-40B4-BE49-F238E27FC236}">
                <a16:creationId xmlns:a16="http://schemas.microsoft.com/office/drawing/2014/main" id="{8820764E-F573-40C9-98F8-BDD4C433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2F48F1E-B9F6-464F-BB56-BCFA5EB4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DCD635-C718-405D-AE3B-ADF7C96B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MRP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B7389CF-D135-479D-8C08-0AF1CF3F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围绕物料需求和库存平衡进行计划</a:t>
            </a:r>
          </a:p>
        </p:txBody>
      </p:sp>
      <p:sp>
        <p:nvSpPr>
          <p:cNvPr id="17" name="Chevron 16">
            <a:extLst xmlns:a="http://schemas.openxmlformats.org/drawingml/2006/main">
              <a:ext uri="{FF2B5EF4-FFF2-40B4-BE49-F238E27FC236}">
                <a16:creationId xmlns:a16="http://schemas.microsoft.com/office/drawing/2014/main" id="{40C90FFF-3C40-4C49-963F-FFE1E7D6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270" y="2596896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90BE62E-5FFE-4C27-88A4-3423A3AF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2798064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E04FA3-12ED-4DF9-87CA-D85C4E83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3401568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MRP II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4B3EE76-AFBF-417C-9667-723D932F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4114800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把产能、成本和制造资源纳入闭环</a:t>
            </a:r>
          </a:p>
        </p:txBody>
      </p:sp>
      <p:sp>
        <p:nvSpPr>
          <p:cNvPr id="21" name="Chevron 20">
            <a:extLst xmlns:a="http://schemas.openxmlformats.org/drawingml/2006/main">
              <a:ext uri="{FF2B5EF4-FFF2-40B4-BE49-F238E27FC236}">
                <a16:creationId xmlns:a16="http://schemas.microsoft.com/office/drawing/2014/main" id="{9858E974-64EF-4C1C-904D-3ADF4B94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460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2D693F2-15B5-4E11-9CCE-C7C5FEA6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07F9158-8EFC-49B3-B81D-C38AECA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ERP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BF9FC3F-2645-497F-8778-83B61E44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连接财务、供应链、生产和人力资源</a:t>
            </a:r>
          </a:p>
        </p:txBody>
      </p:sp>
      <p:sp>
        <p:nvSpPr>
          <p:cNvPr id="25" name="Chevron 24">
            <a:extLst xmlns:a="http://schemas.openxmlformats.org/drawingml/2006/main">
              <a:ext uri="{FF2B5EF4-FFF2-40B4-BE49-F238E27FC236}">
                <a16:creationId xmlns:a16="http://schemas.microsoft.com/office/drawing/2014/main" id="{9A71F773-7D5F-4D7C-A46E-DA91ADD7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651" y="2596896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6EBCDF2-CF4E-440E-A357-5AEFB3A3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2798064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9082915-466C-4784-B129-C449DC65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3401568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云 ERP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982CC52-1189-4B3C-A0E3-3F52B960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4114800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订阅化服务、快速更新和弹性扩展</a:t>
            </a:r>
          </a:p>
        </p:txBody>
      </p:sp>
      <p:sp>
        <p:nvSpPr>
          <p:cNvPr id="29" name="Chevron 28">
            <a:extLst xmlns:a="http://schemas.openxmlformats.org/drawingml/2006/main">
              <a:ext uri="{FF2B5EF4-FFF2-40B4-BE49-F238E27FC236}">
                <a16:creationId xmlns:a16="http://schemas.microsoft.com/office/drawing/2014/main" id="{CDB058F7-9BC3-46FC-9648-FF1AF8EA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841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EC166F4-AF8D-4DAC-98A4-897DFFE5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53F7616-B9A3-461A-B600-61555467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智能 ERP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4C0B734-3B37-4015-BB2D-2604461A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嵌入预测、自动化和辅助决策能力</a:t>
            </a:r>
          </a:p>
        </p:txBody>
      </p:sp>
    </p:spTree>
    <p:extLst>
      <p:ext uri="{BB962C8B-B14F-4D97-AF65-F5344CB8AC3E}">
        <p14:creationId xmlns:p14="http://schemas.microsoft.com/office/powerpoint/2010/main" val="1997433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E836654-D78C-4369-B7DC-B3A6D252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E5363D-AA0B-4C05-8B91-ECD03371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FAA97B9C-EC21-4936-8F1B-E1339B12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53E8F0F1-EB07-4E79-A3E1-33D70998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D597B91-8A55-45D0-B88C-145F79D6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2DF03D-402A-4683-93E8-EC31FDC8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FABC5BF-6300-4B0A-B395-44CF35CE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管理痛点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C6D04B3-5147-4236-B270-4835B2F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企业引入 ERP，通常不是因为缺软件，而是因为管理链条已经断裂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0A7335D-B4C8-411D-9C0C-392858C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BB14A6-7118-4DAA-9618-32FEA95A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9C06E56-7DC7-49E9-8063-EE6EEB6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466984-9FA2-4021-8D8A-1AF56B7C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463040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7CD5808-444C-49A5-98E0-A31385AC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463040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4045CF-46AB-4CBC-84D1-69EC8860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1737360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信息孤岛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90ECB5-A108-4117-BCB3-E1367E67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2331720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部门使用不同表格和系统；同一客户、物料和金额多套口径，重复录入且难以追责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D8076EF-944B-4C1F-93D7-BE9FB9F5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1463040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83C6178-5235-4A34-8216-0F490C4D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1463040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DE56D1-DC9C-48BF-A3A4-1CBBBCC9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1737360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流程失控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56D74C4-65C5-483E-9BF3-1D6CFECB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2331720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审批、交接和异常依赖个人经验；订单状态不可见，问题常在客户催促后才暴露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16C4C38-C8AD-47A6-9A73-D16E4A2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3840479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D091DCE-80E9-443E-A215-A1652274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3840479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60F4C59-5A8D-454E-A367-216FA1CA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4114799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库存与资金占用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F3084AE-DE26-4CCC-B485-C00EFFE8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4709159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需求、采购、生产和库存缺少联动；既有缺料停产，也有冗余和呆滞积压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68595E7-078E-4AD1-88EC-DF14B577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3840479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7BE44EF-1FFE-47AF-96EA-A52A0332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3840479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348390F-6779-4071-8963-175167A4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4114799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决策滞后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9A7E1F-994A-48F3-90FA-73682E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4709159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经营报表依赖月末人工汇总；管理层看到结果时，价格、交付和成本问题已发生</a:t>
            </a:r>
          </a:p>
        </p:txBody>
      </p:sp>
    </p:spTree>
    <p:extLst>
      <p:ext uri="{BB962C8B-B14F-4D97-AF65-F5344CB8AC3E}">
        <p14:creationId xmlns:p14="http://schemas.microsoft.com/office/powerpoint/2010/main" val="1513135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93B2B22F-74F9-453A-A4DA-00E0D8F3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596D8C-8EBA-44BC-B3C9-B2C859A1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5EA36C7-A7DC-4AC3-AED1-552CD9B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F976DA74-FC25-40B0-B68A-7D457A3F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DFE94C3C-3A4B-4D59-BB21-E20B4F66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1CF8DF-8A6B-4904-8277-4042F2B0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0E58CD0-9042-44D6-9988-8E98E1C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AF9393-64DB-4AF7-A62D-F928900E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成熟 ERP 由业务应用与共享平台两层共同构成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25F4A707-68C6-48AC-BD56-982F622D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8C5C4FD-03A5-42B9-85EC-F61C107C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00CA007-752F-4E07-B7BE-939EB8D2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DC5188-4EC5-488B-95B9-AD2A9BE4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572768"/>
            <a:ext cx="5230367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AF8F807-FC58-44A5-B3EB-1E6AED84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792224"/>
            <a:ext cx="5047487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业务应用层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19EF7A8-69DF-4183-A21A-C9E62865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2505456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049EEC8-840E-4147-93E9-4ED9450C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2414016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财务与管理会计：核算、预算、成本和资金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DF2565E-83CA-4715-B506-F716BEBD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3255264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3086C46-5D63-446A-BC03-42BBCC14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163824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供应链：采购、库存、销售和物流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CCAA8AD-0AFD-4481-894C-E30E704B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005072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910C80E-0127-4F29-B4ED-9DE2389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913632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生产制造：计划、排程、质量和设备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54630E1-8AAC-43CC-8508-FB377DC0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754880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72116BA-D971-4C09-A68C-0F17A42A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4663440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人力与项目：组织、人才、工时和项目资源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6A0C670-9B47-4C5F-9774-A5792F31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572768"/>
            <a:ext cx="5303519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7A88551-8FF8-4F1D-8067-0EDDC72E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792224"/>
            <a:ext cx="51206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平台与治理层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261E473-6537-4698-8E37-34063014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2505456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64BC86C-BDB3-42AB-8FE2-0981A9FC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2414016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统一主数据：客户、供应商、物料、组织和科目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41CB974-BEA4-4C4B-B603-32949C7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3255264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D3A9380-CBE5-4D07-B00A-4A63EE7D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163824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流程与权限：审批、职责分离和操作审计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A106E15-59D2-4FF3-B804-56C5F3D7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4005072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31FADA0-1CBD-48BD-A1DC-B520098B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913632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集成平台：连接 CRM、MES、WMS、OA 与外部伙伴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633E008-578E-4A4D-9019-70DA1C62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4754880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D77663A-B83F-4682-B3E5-74BC2478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4663440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数据分析：指标、报表、预测和经营驾驶舱</a:t>
            </a:r>
          </a:p>
        </p:txBody>
      </p:sp>
    </p:spTree>
    <p:extLst>
      <p:ext uri="{BB962C8B-B14F-4D97-AF65-F5344CB8AC3E}">
        <p14:creationId xmlns:p14="http://schemas.microsoft.com/office/powerpoint/2010/main" val="1264094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95AB830A-F2B3-42AF-AF80-443CD30D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06D4C1-DF0B-4E2B-8C66-451F243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B35BA5D3-4122-4147-BE02-24BA7195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28770E57-22AE-4CC0-AF9E-8A80B1B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B885F8B1-A70B-4727-8CDA-395E14E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66ECD50-7D1F-404B-8860-5EA4D7EA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DB3FB43-3CD1-4860-B5B2-8FD8A148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2FB38B-1F7E-4D69-AB03-F29422D4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主数据决定 ERP 能否形成一致、可追溯的经营事实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EC5CC232-EA2F-472A-9A01-ABF17432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5C7CFE-3CF8-4DFD-A421-0FC8809F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1F72CF-527D-4FC9-8370-72F95E9C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FC1BAF-1631-4561-A184-E0164D0A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463040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5C55772-F75B-4BCA-84CA-D409204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463040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94DB687-7CF9-41B0-8A74-0DBDEBDD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1737360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组织与财务主数据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579EAAE-340E-425C-8B19-8E76500A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2331720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公司、工厂、部门、利润中心、成本中心和会计科目共同定义核算边界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AA9EB1D-A509-4388-AD06-4575D741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1463040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7F37949-4FAF-4372-9D29-F85C9DB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1463040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2967597-F8E5-4AF6-909E-2CF3DD15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1737360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物料与产品主数据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F67F77A-95A9-46C2-BDD2-28B757C7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2331720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编码、单位、分类、BOM、工艺路线和批次规则决定计划与成本准确性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40FE83A-E13D-4C71-84F2-A6939457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3840479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5D4613E-CB43-4551-ADCF-6B3F1195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3840479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C871E47-3BAA-4D16-8EC3-0CBC3B7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4114799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客户与供应商主数据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CD5CDF5-0E26-4394-810C-8FA9D81D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4709159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统一交易主体、信用、税务、付款条件、交货地址与风险状态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1B1F00C-2133-48C6-9F7C-F01FFD36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3840479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4BAF71E-824C-4FAA-A63B-02FE5308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3840479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F9CC3DD-A8B7-406E-AFB2-4B0753CB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4114799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治理机制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E3C676B-517D-43EC-BAEC-0C5AFDD8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4709159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设置数据负责人、申请审批、质量规则、变更记录和定期清理，避免一物多码</a:t>
            </a:r>
          </a:p>
        </p:txBody>
      </p:sp>
    </p:spTree>
    <p:extLst>
      <p:ext uri="{BB962C8B-B14F-4D97-AF65-F5344CB8AC3E}">
        <p14:creationId xmlns:p14="http://schemas.microsoft.com/office/powerpoint/2010/main" val="912503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AB8B62BA-17C7-4119-A781-824F8A84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1C0E01-3C4F-4DC2-9CFF-54E647F4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0C514DD9-CCA5-4990-ABA7-D45997B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FA3C0B70-D62F-4549-9E7F-E573FF5E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BD0EFE7-D425-456A-805D-89F70E9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070F4DF-6FEF-490C-AB28-722E9E4A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07AA90-AB95-4F70-B861-4DC89C47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系统集成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ABD2313-8857-4083-A91E-2A48C7D0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通过集成平台连接专业系统，并保持业务与财务一致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418E2E8B-D64F-46ED-8112-51D5C810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D2344C6-7955-4CE4-8F2F-40F5B00D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986FACA-72FB-4B2A-A55E-FEF4B016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6419443-5224-45A2-8807-6E003531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572768"/>
            <a:ext cx="5230367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5B768E8-AA62-4A8F-942D-4E771D6C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792224"/>
            <a:ext cx="5047487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典型连接对象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0529055-A2F9-499B-9C2B-9FAD1A75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2505456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025CF54-928C-43C6-93C3-1F0FAA15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2414016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CRM 与电商：客户、报价、订单、促销和渠道数据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6560E70-F3EA-403C-A8AB-13B4C0B3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3255264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C48FE8-2421-4282-8D91-397C2F40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163824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MES 与设备：生产任务、报工、质量、停机和工艺参数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454F035-CC9A-4CC0-A67B-42EC803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005072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2EA1EA5-94DD-4B6C-8E02-8385CB22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913632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WMS 与 TMS：库内作业、批次、装运、运费和签收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AC71ED3-142E-41FC-BA72-63340B9A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754880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DF78547-EB88-408A-99D0-F32A267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4663440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OA、银行与税务：审批、资金、发票、报税和电子档案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FAD3476-AE12-47BB-98AA-8B1DD3E6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572768"/>
            <a:ext cx="5303519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5A1A551-741F-4887-BFB3-E7945CD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792224"/>
            <a:ext cx="51206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集成控制要求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94934E4-973E-460B-A6D0-EC2E41DF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2505456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49FC0E0-59AE-480D-B7E2-0712E2E5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2414016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定义系统职责边界，明确哪个系统是每类数据的唯一来源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F08CC2-64C6-40C4-A80F-DEBC8AB9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3255264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D2B6EA2-27D8-4A25-B7D3-5C9A936A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163824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使用 API、消息或批处理，并设置幂等、重试和异常队列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98B2D8A-2735-460B-859D-7D70224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4005072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C297CD6-4BA3-4937-BC19-E618BCAC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913632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对数量、金额、状态和时间戳执行自动勾稽与完整性检查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81AD087-5623-4CBF-B3AA-B159664F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4754880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7902FAF-07ED-4BD6-995B-BB428F1F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4663440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监控接口时效和失败率，保留可追溯日志与人工补偿流程</a:t>
            </a:r>
          </a:p>
        </p:txBody>
      </p:sp>
    </p:spTree>
    <p:extLst>
      <p:ext uri="{BB962C8B-B14F-4D97-AF65-F5344CB8AC3E}">
        <p14:creationId xmlns:p14="http://schemas.microsoft.com/office/powerpoint/2010/main" val="1689826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BFA18B56-F26B-4DD7-A2E7-AC259487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BA28C0-257B-4F0F-828B-37555321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567E55F9-CC55-4C98-8D47-21ED76EC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561E7A2E-D6FD-4EAE-ADE1-EBB7F319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9316A73A-9CBF-4EC4-9DE4-0EA624E5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419669-18CD-46DD-8CA5-1EE9D419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E59CC24-8092-45AB-914D-D19A83A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功能全景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AE00853-9223-490D-9C18-99449A0E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六大核心模块通过共享数据形成完整经营闭环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18A26740-DC85-4AAD-AA4D-1E791C29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C55AF8-A5EC-46B9-B0CA-B9215800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327B09-171D-4EDA-8887-62FC9F33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3C1A9C9-2249-443C-96A4-2C17E364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148132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ECA493-AE88-44DA-AF7C-0519FB62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146304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财务管理 — 总账、应收应付、固定资产、预算、成本与资金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8286529C-B007-4412-83D3-EC119BB2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02996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07564C5-6594-41A9-B3B7-23B396C7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194560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42E97EE-817F-4A51-A0D8-942BD757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176272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采购与供应商 — 寻源、合同、采购订单、收货、对账和绩效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F0B8A063-29F6-4526-BBA3-65AAC307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743200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D600612-2146-42F1-B0E4-F3088A8B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907792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1E7F59F-1FC1-4B91-8DA7-02A8651F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889504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库存与物流 — 库存状态、批次、库位、调拨、盘点和配送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43D227C6-18B8-4A15-A3EE-FE04E7F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3456432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2023FFF-DC8F-44E6-AE86-A26CB0B6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3621024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F15A5C8-D847-4DE4-9D28-3CFB6E7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3602736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生产制造 — BOM、需求计划、产能、排程、报工和质量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41345364-A32A-49E2-9D97-C06F1964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4169663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401AE3B-3552-4494-A12D-1D067599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4334256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35BE235-C678-4D45-A0A3-F15B18C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4315968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销售与客户 — 报价、订单、信用、发货、开票和售后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1948A249-07EA-4479-904B-58E17A47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4882896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FA9FBAD-E6D5-4748-BF13-383A1B71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504748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9CC604E-B19D-4B17-BAA6-EA87B02F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502920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人力与经营分析 — 组织人才、薪酬绩效以及跨模块指标分析</a:t>
            </a:r>
          </a:p>
        </p:txBody>
      </p:sp>
    </p:spTree>
    <p:extLst>
      <p:ext uri="{BB962C8B-B14F-4D97-AF65-F5344CB8AC3E}">
        <p14:creationId xmlns:p14="http://schemas.microsoft.com/office/powerpoint/2010/main" val="416605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6C795CE0-4B83-400C-8566-32A68722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78DA886-CECB-4D8D-97AD-A3B6722E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587139DD-2D62-47BA-A8DC-1C71399C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C1E71EFC-D028-4776-9D6B-42E2E5AF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C9BE055-1688-4F3E-A2CA-37044DFC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2BFF71-1ACA-4D63-B5B1-5813E821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71E4D09-0DD0-4B29-9533-84DB985A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财务与供应链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05BB3D-D9E6-4D8B-A18B-3A209FBF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财务模块负责把业务动作翻译成可核算、可控制的经营结果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43DED30E-38F6-4B48-AB67-734D93EC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124351-3974-4ABF-8273-753531BB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AB26D5-5CEB-4816-9D99-4259F532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0F1902C-C3C7-4E2F-A046-0F0D432F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572768"/>
            <a:ext cx="5230367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795AB1-6886-476F-9DE7-88CC5297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792224"/>
            <a:ext cx="5047487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财务与管理会计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F6D668-7303-43D6-9EC9-C62EEAFD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2505456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935BC6E-9107-4B3B-AFF2-56A6CFE4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2414016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业务单据自动生成会计凭证，减少重复录入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9FCD12-CC8B-4EDD-9F25-05A97162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3255264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E6579C-B624-409B-97FE-F3F308DF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163824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按产品、订单、项目或责任中心归集成本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552C98B-35AB-4066-82B5-434C06CD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005072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B27F808-5801-4C93-A449-F92042DE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913632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预算控制嵌入采购、费用和投资审批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CBF432F-5F1D-4153-89D7-FA4DFC2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754880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A33A66B-A527-4BF4-A35F-AA146D5D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4663440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资金计划连接应收、应付和现金预测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D958EF5-95C5-4914-A8B4-7301A4E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572768"/>
            <a:ext cx="5303519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EF6964-938D-412A-8748-EDCC67BE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792224"/>
            <a:ext cx="51206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采购与库存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7BE4FAE-B1E0-4300-B29A-B14BC99C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2505456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08C0FDE-E80C-4C3D-9281-C62A864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2414016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采购需求与库存、订单和生产计划自动联动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F1A0E7D-6490-4C80-B6E3-EF469F3C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3255264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BC2A8B9-7AE0-422C-9D2F-C31390B2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163824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供应商价格、质量、交期和风险统一评价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6C3415C-0535-414A-BEC3-FC5D853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4005072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6B3137E-D9FB-480B-940B-6E69916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913632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库存按批次、效期和可用状态实时管理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460D2F7-8E0D-4506-A90A-C0585208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4754880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B5B1662-ED6E-41C8-B19A-B6A4E888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4663440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收货、对账、发票和付款形成完整三单匹配</a:t>
            </a:r>
          </a:p>
        </p:txBody>
      </p:sp>
    </p:spTree>
    <p:extLst>
      <p:ext uri="{BB962C8B-B14F-4D97-AF65-F5344CB8AC3E}">
        <p14:creationId xmlns:p14="http://schemas.microsoft.com/office/powerpoint/2010/main" val="1674078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D9745310-5BAB-4335-A975-C3729E09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F04D9F8-FA9B-44D8-B31C-8844A550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50E24848-94AB-49BB-A15B-2C4C9079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5BCDE475-B126-4FEB-A4E8-4AD1CC8C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24CEFC6-3DD1-4A29-BD76-F36FAB89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C3816EC-E3D3-47BA-8135-F94D6A0F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395D6C-84DA-40D6-9AD6-AA98E595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财务闭环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3DF6DD-DE88-4D10-9CBD-3408D96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月结不是财务部门的孤立动作，而是跨业务的五步闭环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33F2FBAA-0ADD-4462-AB00-E1AB1AF0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C465F1-D031-499B-98B9-E687A42C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B87529-B9EE-45C5-865F-225EFCF0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D5FC45A-5747-4CFF-995C-92305433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148132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C518946-8A5D-4248-AD27-C2EE9346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146304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业务截止 — 确认收发货、报工、费用和资产变动已经完整入账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B6B44509-7625-4100-994A-CB135C0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02996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90E2E44-7F10-42B0-86D4-6A12CF2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194560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4188755-3E8C-44F9-AEA2-D5278C5B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176272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自动计提 — 按规则处理折旧、摊销、工资、存货跌价和未票暂估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A63355A3-28BC-44A2-80CD-33A79C4B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743200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115CB84-340D-4E3B-AE67-BF58791D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907792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5022B1B-C550-4304-9EAE-6591909B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889504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成本结算 — 归集材料、人工和制造费用，计算产品与订单成本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87828363-9D4D-44B1-8D18-3AB2B7C9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3456432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FF1313D-E584-40F4-AF2B-FDE8C50A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3621024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F44C5CF-7B7C-4D87-A2A5-B8812132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3602736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勾稽对账 — 核对应收应付、库存、银行、税务以及内部往来差异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D95125B0-B3DC-48C7-BCF3-1BDC600F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4169663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6AD19E9-DDFB-4FA5-AE72-494BE445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4334256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482E64A-1EEF-4CDD-8C78-0638AB7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4315968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合并与分析 — 完成主体合并、管理报表和差异原因下钻</a:t>
            </a:r>
          </a:p>
        </p:txBody>
      </p:sp>
    </p:spTree>
    <p:extLst>
      <p:ext uri="{BB962C8B-B14F-4D97-AF65-F5344CB8AC3E}">
        <p14:creationId xmlns:p14="http://schemas.microsoft.com/office/powerpoint/2010/main" val="1130839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62E95B58-DEC4-464F-BB7F-D4D3EBBF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A1A818-E4B9-4816-B793-FFCAEBBA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5DD9CB0D-D9A8-4F5B-A05B-CABB1F80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589E19D7-56B9-43C5-A3F7-B520841A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D4D873C-A66D-4B27-8AE4-05837C57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7602BA6-D9CA-4601-AB69-8AC171DA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7A6A1E1-499E-489B-AD17-C01BF466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采购到付款 P2P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2F959A0-5076-48B9-875D-346A5CFF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采购到付款流程把需求、合同、收货、发票和资金串成一条控制链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AE46F597-1447-4715-BD5A-D793A49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DA4530E-D3BA-4E83-BC9C-1F172B38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7C422BE-89EB-41BE-A545-A3DD6987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25" name="Table 12"/>
          <p:cNvGraphicFramePr/>
          <p:nvPr/>
        </p:nvGraphicFramePr>
        <p:xfrm>
          <a:off xmlns:a="http://schemas.openxmlformats.org/drawingml/2006/main" x="640079" y="1463040"/>
          <a:ext xmlns:a="http://schemas.openxmlformats.org/drawingml/2006/main" cx="10927078" cy="4526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437"/>
                <a:gridCol w="2587992"/>
                <a:gridCol w="3163102"/>
                <a:gridCol w="2875547"/>
              </a:tblGrid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流程阶段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关键对象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系统控制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主要输出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需求与预算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请购、库存、预算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库存缺口与额度校验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批准的采购需求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寻源与下单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询报价、合同、订单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价格与权限审批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采购订单与承诺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收货与质检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到货、批次、检验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数量与质量容差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合格入库或退货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三单匹配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订单、收货、发票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数量、价格、税额勾稽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可付款应付项目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付款与评价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到期日、资金、绩效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付款策略与重复支付检查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付款记录与供应商评分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861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E50917C-4E59-440B-82A6-C29C530B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9141427-91C9-4633-839E-0BF097EF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A34FEB6-4696-4B73-8CA3-1089AE06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6AECB654-0D04-456A-B38D-B8E5D7E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926BBA7C-1428-46E9-BE3A-5AE5617F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5F25FC-124F-42A2-B5F1-13DD079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6352EF2-C450-4ACA-9433-0C54DE05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运营模块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4E62D9-F187-4F12-9A50-31B511D8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制造、销售、人力和分析模块共同支撑交付能力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D35A6B50-F9E7-4C82-84D2-820DA967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F7E0679-A897-44F3-8775-DA43AE7D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401DA72-CD9F-454B-A405-FCA9FECF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265661B-420E-46BC-8E7B-9637611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463040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1EEC1F2-F9C3-439F-A5DC-8B181327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463040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5DD72C4-24AE-45B1-BD87-B64A23C8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1737360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生产制造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BBB82FF-4DD6-4D9E-A0ED-CCBF3722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2331720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对象包括 BOM、工单、工序和批次；把需求转成物料与产能计划，并跟踪质量、在制和成本差异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256A9B7-0EF9-4473-A3FF-0F92D08E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1463040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8B34F0E-77C4-4F2D-8075-8D41FB11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1463040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765BC73-8EB6-459E-8819-9BD1BC21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1737360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销售履约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05CFFA-ED2F-4FCD-B777-C84C50F9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2331720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连接报价、信用、订单、ATP、发运、开票和回款；关键控制是价格权限、交期承诺与应收风险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9B34FC7-B4F4-4377-AE68-AC8EEA30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3840479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86DE794-1889-42BC-8785-BD7C7C9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3840479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2CBDE1C-0231-40A3-8594-BE2C591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4114799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50A4400-6D84-47B8-8A71-D9F8AE1D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4709159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统一组织岗位、技能、工时、薪酬和绩效；为产能、项目成本和责任核算提供人员数据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7413881-5F4E-421E-964A-06D75CB0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3840479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94D401F-7296-444A-AC58-80F6A25E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3840479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76ED3C3-A58E-40FB-B929-D033C59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4114799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经营分析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70AF041-A28F-446D-A9B8-9A5D07BE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4709159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从收入和利润下钻至客户、产品、渠道、工厂和项目；用统一指标定位差异原因与责任动作</a:t>
            </a:r>
          </a:p>
        </p:txBody>
      </p:sp>
    </p:spTree>
    <p:extLst>
      <p:ext uri="{BB962C8B-B14F-4D97-AF65-F5344CB8AC3E}">
        <p14:creationId xmlns:p14="http://schemas.microsoft.com/office/powerpoint/2010/main" val="15826516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9CA4ECEB-CA1D-43BE-9484-AA3869F5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B6F8652-E4C9-46E0-B3A5-A043E9C9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7D824F5-4219-4F22-B650-17C5E62E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3BC531FB-C4B3-4745-BA21-C87E879D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5466FF70-F7ED-43D3-B7A9-B5571141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AC7E741-388F-4B85-8819-77C5479A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E3D1A57-F15C-4C37-B739-FD72554B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计划到生产 P2M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47277E7-C67D-4008-B341-ED035662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计划到生产流程把市场需求转成可执行、可核算的车间任务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7EA2E85B-95DF-486F-A0CF-76482974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065294-2B6D-4DDF-8D02-9E9D9081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5CFC004-AE99-4B23-8A19-3D9D67BA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3" name="Chevron 12">
            <a:extLst xmlns:a="http://schemas.openxmlformats.org/drawingml/2006/main">
              <a:ext uri="{FF2B5EF4-FFF2-40B4-BE49-F238E27FC236}">
                <a16:creationId xmlns:a16="http://schemas.microsoft.com/office/drawing/2014/main" id="{9A493216-88D0-4061-A863-5F3AE653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84ACC5D-789C-439C-9AD8-81FBBDD3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5B4380-6097-4857-AF16-4506AE8C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需求汇总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2D22617-0346-46E6-84FF-7E99474F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合并销售订单、预测、安全库存和服务备件需求</a:t>
            </a:r>
          </a:p>
        </p:txBody>
      </p:sp>
      <p:sp>
        <p:nvSpPr>
          <p:cNvPr id="17" name="Chevron 16">
            <a:extLst xmlns:a="http://schemas.openxmlformats.org/drawingml/2006/main">
              <a:ext uri="{FF2B5EF4-FFF2-40B4-BE49-F238E27FC236}">
                <a16:creationId xmlns:a16="http://schemas.microsoft.com/office/drawing/2014/main" id="{24CCDDCF-3B0A-43B4-AA2B-922BC5C7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270" y="2596896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6537B1E-BD40-4661-B761-ADF941D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2798064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67D8108-3C91-4057-B4E2-61718E8E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3401568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供需平衡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C795618-0B00-487E-BA5F-E4C82B4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4114800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运行 MRP，识别物料缺口、提前期、批量和替代料</a:t>
            </a:r>
          </a:p>
        </p:txBody>
      </p:sp>
      <p:sp>
        <p:nvSpPr>
          <p:cNvPr id="21" name="Chevron 20">
            <a:extLst xmlns:a="http://schemas.openxmlformats.org/drawingml/2006/main">
              <a:ext uri="{FF2B5EF4-FFF2-40B4-BE49-F238E27FC236}">
                <a16:creationId xmlns:a16="http://schemas.microsoft.com/office/drawing/2014/main" id="{05349BFA-D59B-4101-89B0-C4DF37D3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460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F19FDCB-2F34-4091-AF7F-5BDBECD7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ED16ABD-4A1E-4A35-B298-23236822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产能排程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CE6668A-8AEF-4383-98CF-3BC018F8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校验设备、人员、模具和关键工序能力并形成排程</a:t>
            </a:r>
          </a:p>
        </p:txBody>
      </p:sp>
      <p:sp>
        <p:nvSpPr>
          <p:cNvPr id="25" name="Chevron 24">
            <a:extLst xmlns:a="http://schemas.openxmlformats.org/drawingml/2006/main">
              <a:ext uri="{FF2B5EF4-FFF2-40B4-BE49-F238E27FC236}">
                <a16:creationId xmlns:a16="http://schemas.microsoft.com/office/drawing/2014/main" id="{990ABD90-820A-488A-A65C-26838B35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651" y="2596896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203E251-0D99-4A54-B033-26F0C9F6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2798064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24B5809-38D5-4D3A-B99A-8D18E89B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3401568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执行与质量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2172C15-981C-48A4-A32A-79994645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4114800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领料、报工、在制品、检验、不合格和返工实时反馈</a:t>
            </a:r>
          </a:p>
        </p:txBody>
      </p:sp>
      <p:sp>
        <p:nvSpPr>
          <p:cNvPr id="29" name="Chevron 28">
            <a:extLst xmlns:a="http://schemas.openxmlformats.org/drawingml/2006/main">
              <a:ext uri="{FF2B5EF4-FFF2-40B4-BE49-F238E27FC236}">
                <a16:creationId xmlns:a16="http://schemas.microsoft.com/office/drawing/2014/main" id="{287DF848-6FA8-4F93-9B6E-9DF2086A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841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1CF87F-5149-4D01-A8A9-D42FD56F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13FEE04-B17D-40EF-A661-045153F8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完工与成本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46D132A-C443-4C05-9D43-5EB893B1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完工入库，结算材料、人工、制造费用和差异</a:t>
            </a:r>
          </a:p>
        </p:txBody>
      </p:sp>
    </p:spTree>
    <p:extLst>
      <p:ext uri="{BB962C8B-B14F-4D97-AF65-F5344CB8AC3E}">
        <p14:creationId xmlns:p14="http://schemas.microsoft.com/office/powerpoint/2010/main" val="206953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F8546DC3-2095-4250-9BD5-A188E4F1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EA3C87F-75AB-4792-96EE-76A5F542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B8626615-66FD-42B2-9B90-6808AFE4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2E2E4D14-73E0-41C8-BF35-E37C7760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0DCA157-BA87-4360-8ADF-CD78456C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A4B998-B211-4C07-9EF0-E8C47006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7C72679-E944-4789-8AC5-24C5FDAF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订单到回款 O2C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97DBE35-4B54-411F-A9AC-5EF60EB1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销售订单需要同时通过价格、信用、库存、交付和利润五道控制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C939D075-3E01-457A-8C0B-DFBAC320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6E6351-C554-4F7D-AC2F-2C12E247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4B8D85-2B92-4C96-8F03-EB9A598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25" name="Table 12"/>
          <p:cNvGraphicFramePr/>
          <p:nvPr/>
        </p:nvGraphicFramePr>
        <p:xfrm>
          <a:off xmlns:a="http://schemas.openxmlformats.org/drawingml/2006/main" x="640079" y="1463040"/>
          <a:ext xmlns:a="http://schemas.openxmlformats.org/drawingml/2006/main" cx="10927078" cy="4526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452"/>
                <a:gridCol w="3642359"/>
                <a:gridCol w="2801815"/>
                <a:gridCol w="2241452"/>
              </a:tblGrid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控制环节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系统检查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关键单据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异常处理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报价与价格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价目表、折扣权限、最低毛利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报价单/价格条件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超权限审批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客户与信用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授信额度、逾期、风险等级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客户主数据/信用记录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冻结或担保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库存与承诺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可用量、预留、预计到货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销售订单/ATP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拆单或改期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发运与签收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拣配、批次、运输与回单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出库单/运单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短装与拒收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开票与回款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税率、账期、应收与核销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发票/收款单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催收与坏账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利润复盘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收入、折扣、成本和服务费用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订单利润分析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纠偏产品与渠道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6183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C3AB4150-6220-47CD-B426-F25BD468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78CE63-E290-4D4D-8206-DF2C9F4F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E76924C6-F688-43A7-92FA-C709B61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C45DA1E1-AF6F-48EA-BA18-D17464FB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7384D84E-1BB7-4CDB-AAFE-01505907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57C7508-B958-4988-BC10-B7BC9CDC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E6CB471-293D-4CA9-80AF-6118B402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跨模块协同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C501711-8D7E-4C5A-975C-9BFFBC5A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一张销售订单会驱动库存、采购、生产、财务和服务同步行动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2285C0C6-C2DD-4559-ACD1-900EEFC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C31DDB-9A11-41A0-8E5B-FAB261F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A1E64BF-F811-4F4B-8910-58B0D681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3" name="Chevron 12">
            <a:extLst xmlns:a="http://schemas.openxmlformats.org/drawingml/2006/main">
              <a:ext uri="{FF2B5EF4-FFF2-40B4-BE49-F238E27FC236}">
                <a16:creationId xmlns:a16="http://schemas.microsoft.com/office/drawing/2014/main" id="{48A662A1-E5D8-40B7-BD1B-98041A28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227E7D2-B6C0-4F75-A6FD-4E8AD01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C70ADA0-DE33-49AD-8516-3CD93ED5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接收订单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C30AE11-D909-43DA-B9A1-F498E05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检查客户信用、价格、交期和库存可用量</a:t>
            </a:r>
          </a:p>
        </p:txBody>
      </p:sp>
      <p:sp>
        <p:nvSpPr>
          <p:cNvPr id="17" name="Chevron 16">
            <a:extLst xmlns:a="http://schemas.openxmlformats.org/drawingml/2006/main">
              <a:ext uri="{FF2B5EF4-FFF2-40B4-BE49-F238E27FC236}">
                <a16:creationId xmlns:a16="http://schemas.microsoft.com/office/drawing/2014/main" id="{38C096F0-862D-41D8-A131-EF7DEB08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270" y="2596896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653E723-7AD9-4E92-8923-2A30400B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2798064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E63DADB-50FD-42D1-909D-2D992597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3401568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形成计划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07A4399-CC48-41F2-8693-9EBF638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4114800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缺口自动进入采购建议或生产需求计划</a:t>
            </a:r>
          </a:p>
        </p:txBody>
      </p:sp>
      <p:sp>
        <p:nvSpPr>
          <p:cNvPr id="21" name="Chevron 20">
            <a:extLst xmlns:a="http://schemas.openxmlformats.org/drawingml/2006/main">
              <a:ext uri="{FF2B5EF4-FFF2-40B4-BE49-F238E27FC236}">
                <a16:creationId xmlns:a16="http://schemas.microsoft.com/office/drawing/2014/main" id="{A58D9792-D5F4-41A4-AEE5-F0A64BA0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460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640A74A-4461-4802-B1C8-73C7DCF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9094FBD-541A-44AC-B000-BAA8946C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组织交付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7CFC13C-4596-496C-AB72-C36F2E9A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340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仓储、生产、物流按承诺日期协同执行</a:t>
            </a:r>
          </a:p>
        </p:txBody>
      </p:sp>
      <p:sp>
        <p:nvSpPr>
          <p:cNvPr id="25" name="Chevron 24">
            <a:extLst xmlns:a="http://schemas.openxmlformats.org/drawingml/2006/main">
              <a:ext uri="{FF2B5EF4-FFF2-40B4-BE49-F238E27FC236}">
                <a16:creationId xmlns:a16="http://schemas.microsoft.com/office/drawing/2014/main" id="{84D5F2C1-E0FE-43A2-9F2F-0EA4627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651" y="2596896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6484D22-C1BD-400D-BA2D-33ADC78A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2798064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4A7BB0C-16D6-4270-A5ED-F94B14EE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3401568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确认收入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8221C82-D8A2-494B-8958-6350E00B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31" y="4114800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发货、开票、应收和收入确认自动衔接</a:t>
            </a:r>
          </a:p>
        </p:txBody>
      </p:sp>
      <p:sp>
        <p:nvSpPr>
          <p:cNvPr id="29" name="Chevron 28">
            <a:extLst xmlns:a="http://schemas.openxmlformats.org/drawingml/2006/main">
              <a:ext uri="{FF2B5EF4-FFF2-40B4-BE49-F238E27FC236}">
                <a16:creationId xmlns:a16="http://schemas.microsoft.com/office/drawing/2014/main" id="{81B359EB-97E8-4575-B76A-421BB399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841" y="2029968"/>
            <a:ext cx="2044598" cy="23317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1AE23F6-6CA2-4781-9EA0-E892A8F7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2231136"/>
            <a:ext cx="167883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4190522-23D5-4B38-83E0-DA3BCD7F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2834640"/>
            <a:ext cx="166055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复盘利润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C756975-7141-480D-BC96-09420506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21" y="3547872"/>
            <a:ext cx="166055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订单收入与材料、制造、物流和服务成本匹配</a:t>
            </a:r>
          </a:p>
        </p:txBody>
      </p:sp>
    </p:spTree>
    <p:extLst>
      <p:ext uri="{BB962C8B-B14F-4D97-AF65-F5344CB8AC3E}">
        <p14:creationId xmlns:p14="http://schemas.microsoft.com/office/powerpoint/2010/main" val="12715806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6BFEF5C4-6199-4D28-9D59-1F8AC35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6B7950-1FC3-4553-9953-4E49FDDF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647B43F-B3CA-4CF3-8FB1-B4CC9822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8DE42EA0-AE25-4B12-9AAA-0D9500A6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3183C5C-4704-4067-9379-CD31FC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9272277-E65A-48C6-9EFC-D3406431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B667665-5E69-4F5C-8B6B-8FD6993D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模式对比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0B07EA4-4A9E-4DD4-8C45-F64F79BD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管理模式把分散记录变成端到端业务控制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2D469C4B-C6C5-456E-AE15-CDC8A934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220279-D723-45C6-BF33-1391D3DC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04DEF6-7AA1-41BB-A40F-C0526718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C146400-5326-45E8-ACD9-2053CEC2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463040"/>
            <a:ext cx="5358383" cy="4462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6EA57FB-8888-41C6-874D-D08AE3AA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463040"/>
            <a:ext cx="5358383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103675-25F9-410C-85C8-55DEBBDE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" y="1828800"/>
            <a:ext cx="46634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传统分散管理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AA26AFD-A218-458C-9960-AFBB7A93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2578608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FFFAEE5-5B31-4F75-87F6-6FE0C460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2487168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同一数据在多个表格和系统重复维护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D49C80-BFA6-44AE-9791-C4668C4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182112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43D395C-6538-4B46-BED8-D7D4B3C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3090672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部门各自优化，跨部门交接缺少责任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A0903F4-AEB6-4731-B117-B893BA2E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785616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A94B3CA-AC3C-4240-85E4-8DD7501D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3694176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月底集中对账，问题发现时已经发生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6D17E1-9A8A-4739-9A1B-DC758D3E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4389120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62208E7-AFC7-4664-AF39-7C8F6503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4297680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经营分析依赖人工整理和个人经验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6124E1E-8DAC-4C1D-91D8-39934972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1" y="1463040"/>
            <a:ext cx="5358383" cy="4462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0C20C76-4540-4E4A-95EC-0281E7CB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1" y="1463040"/>
            <a:ext cx="5358383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79F42E3-256B-4C7D-8DC4-7915CE0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5" y="1828800"/>
            <a:ext cx="46634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ERP 一体化管理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7239461-1221-4DDB-903E-EC88F71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3" y="2578608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52A6038-62F3-400E-928F-4D8B1B8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39" y="2487168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主数据统一维护并在流程中复用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1DFC0E0-6B58-442C-BEA9-09ED5974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3" y="3182112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B87F325-B945-4170-BF7C-942B976C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39" y="3090672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端到端流程定义角色、规则和异常处理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8BC7C66-4502-468B-96F1-97200E0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3" y="3785616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EF9762C-D8C5-4E44-9413-27B1A13A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39" y="3694176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业务发生时同步校验、记录和预警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864396D-F948-45A9-8ABA-C2C7BED3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3" y="4389120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0469817-4B40-48C1-B291-C5588488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39" y="4297680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指标可实时下钻至客户、产品和订单</a:t>
            </a:r>
          </a:p>
        </p:txBody>
      </p:sp>
    </p:spTree>
    <p:extLst>
      <p:ext uri="{BB962C8B-B14F-4D97-AF65-F5344CB8AC3E}">
        <p14:creationId xmlns:p14="http://schemas.microsoft.com/office/powerpoint/2010/main" val="16849382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B76EC2FC-CD84-475B-BB79-FF288F4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184C29-1106-4E83-98C1-50D0DD4E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42D0E0C0-9F23-440E-982E-B0619DB4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EA7AF304-BAED-49F7-893C-8B4D79FF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5666765-EDAE-4655-9C46-054AA898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9D1CE3B-503C-4F85-9D30-E33B699F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0F5DD1B-5DEE-4EE6-BF6A-C3E4B96F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价值衡量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294A0D-D74A-4DBA-8E05-7D212D28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的价值应同时体现在效率、资金、交付和决策质量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4503D76-11C7-4117-BAB4-4DC8ED69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216152"/>
            <a:ext cx="104698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以下指标为演示数据，用于说明 ERP 项目应如何建立收益基线。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6A8F339E-C90A-43E9-88BC-3E5E70FC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AF44332-003F-4E47-A668-DFFD0EA9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4F2DDCF-647B-4D18-BAFF-C740DEF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FBE64D3C-A16B-4E2C-AA95-85392DA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" y="2423160"/>
            <a:ext cx="1828799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220717C-6254-4B71-951E-C7A6C9A8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59" y="2862072"/>
            <a:ext cx="155447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5E8"/>
                </a:solidFill>
                <a:latin typeface="Microsoft YaHei UI"/>
                <a:ea typeface="Microsoft YaHei UI"/>
                <a:cs typeface="Microsoft YaHei UI"/>
              </a:rPr>
              <a:t>-35%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8A9F688-2AFA-49D6-929F-2D601E69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4398264"/>
            <a:ext cx="21031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关账周期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CB30C4C-EB59-40C3-A6E1-6404A7EB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4818888"/>
            <a:ext cx="2340863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自动凭证减少月结工作（演示）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D671026-494C-4967-B30D-20B69427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339" y="1943100"/>
            <a:ext cx="1600199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B57D078-95B4-47FD-9202-4332EED4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499" y="2382012"/>
            <a:ext cx="132587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5E8"/>
                </a:solidFill>
                <a:latin typeface="Microsoft YaHei UI"/>
                <a:ea typeface="Microsoft YaHei UI"/>
                <a:cs typeface="Microsoft YaHei UI"/>
              </a:rPr>
              <a:t>-22%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1EADA79-E36C-4793-BAA4-C50D8AD4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79" y="3689604"/>
            <a:ext cx="1874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库存资金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30B9E14-E4BC-41A0-9EBF-381E16C2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307" y="4110228"/>
            <a:ext cx="2112263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协同计划降低冗余库存（演示）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32A9911-A9BD-40BD-BF69-03DCD699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39" y="2606040"/>
            <a:ext cx="1828799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4D4CB49-C3BF-40D4-96CC-7A565D57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9" y="3044952"/>
            <a:ext cx="155447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5E8"/>
                </a:solidFill>
                <a:latin typeface="Microsoft YaHei UI"/>
                <a:ea typeface="Microsoft YaHei UI"/>
                <a:cs typeface="Microsoft YaHei UI"/>
              </a:rPr>
              <a:t>+18%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575007A-CBF9-4DCF-BB42-EB4DFC32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4581144"/>
            <a:ext cx="21031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准时交付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CF261DE-3453-4342-863B-B43DBDB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7" y="5001768"/>
            <a:ext cx="2340863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计划与物料状态联动（演示）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4C1849CD-B3F1-4295-AD8D-C44C3EAA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79" y="1988819"/>
            <a:ext cx="1600199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752106C-1F4C-4519-BCF9-C8709CAC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39" y="2427732"/>
            <a:ext cx="132587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FFF5E8"/>
                </a:solidFill>
                <a:latin typeface="Microsoft YaHei UI"/>
                <a:ea typeface="Microsoft YaHei UI"/>
                <a:cs typeface="Microsoft YaHei UI"/>
              </a:rPr>
              <a:t>-40%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11F34D0-FA2D-415D-901C-82E18958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19" y="3735324"/>
            <a:ext cx="18745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报表工时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8345F78-3129-45D2-AD02-669BAF1D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47" y="4155948"/>
            <a:ext cx="2112263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统一指标替代人工汇总（演示）</a:t>
            </a:r>
          </a:p>
        </p:txBody>
      </p:sp>
    </p:spTree>
    <p:extLst>
      <p:ext uri="{BB962C8B-B14F-4D97-AF65-F5344CB8AC3E}">
        <p14:creationId xmlns:p14="http://schemas.microsoft.com/office/powerpoint/2010/main" val="8638774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F6043DB-4333-4BDD-AD5E-CF5DA29C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A16D38-61FF-4678-96AF-5FF18C61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3072954-A9B0-4702-887C-5012115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D1607C67-AEBA-455E-A7F0-80995DF6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1589BF7-9C7A-482D-B3A5-2572964F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0A9007-3E28-4234-9CE5-10DE54E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F0077C-26E2-4D19-8A06-A15B78DE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收益示意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288CE7-C48C-47C7-914C-E77247F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收益不是一次性出现，而会随着流程采用逐步释放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60B7CC00-08DD-4CF0-9C7E-94C73E66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C3626D-470B-4DBA-A037-5344F5A7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2EBE22-9E25-4F29-94A9-C998F16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29" name="Chart 12"/>
          <p:cNvGraphicFramePr/>
          <p:nvPr/>
        </p:nvGraphicFramePr>
        <p:xfrm>
          <a:off xmlns:a="http://schemas.openxmlformats.org/drawingml/2006/main" x="658367" y="1463040"/>
          <a:ext xmlns:a="http://schemas.openxmlformats.org/drawingml/2006/main" cx="7635239" cy="431596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73c10528ca4c28"/>
          </a:graphicData>
        </a:graphic>
      </p:graphicFrame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596D0B7-F5F3-4047-8266-5A680672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59" y="1554480"/>
            <a:ext cx="2240279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核心洞察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F840725-C414-42C7-BA47-C67F16A5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1" y="2121408"/>
            <a:ext cx="2514599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系统上线只是起点，流程采用与持续优化决定最终价值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D67228-352C-4765-AFD5-606A4939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59" y="4864608"/>
            <a:ext cx="2331719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来源：演示数据，不代表任何真实企业</a:t>
            </a:r>
          </a:p>
        </p:txBody>
      </p:sp>
    </p:spTree>
    <p:extLst>
      <p:ext uri="{BB962C8B-B14F-4D97-AF65-F5344CB8AC3E}">
        <p14:creationId xmlns:p14="http://schemas.microsoft.com/office/powerpoint/2010/main" val="12630088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05F45651-403C-4306-B1DE-E64E2DB3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C68F54-AC93-4B92-BA87-45B1896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6C4A0FC-607A-48F3-A3D3-EFDCC741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B403E775-A83B-439F-B3F9-EA1E0645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7B0DB13-0294-4F05-9ABB-7EE34B0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980704D-B360-4122-8524-753F44E6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F28B537-758A-407F-B1AB-3671FD3B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TCO 与 ROI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5AC73EE-C421-428A-B599-B8B6B91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商业论证必须同时计算五年总成本与可兑现收益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89F90560-F41E-460B-921A-9877BC9B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C369C00-72F8-47FE-8605-DC568EAD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FB5438D-B37C-4486-B957-0B9F2BC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25" name="Table 12"/>
          <p:cNvGraphicFramePr/>
          <p:nvPr/>
        </p:nvGraphicFramePr>
        <p:xfrm>
          <a:off xmlns:a="http://schemas.openxmlformats.org/drawingml/2006/main" x="640079" y="1463040"/>
          <a:ext xmlns:a="http://schemas.openxmlformats.org/drawingml/2006/main" cx="10927076" cy="4526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591"/>
                <a:gridCol w="2913887"/>
                <a:gridCol w="4128007"/>
                <a:gridCol w="1942591"/>
              </a:tblGrid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测算类别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典型项目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计算方法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一次性投入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实施、迁移、接口、培训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按里程碑和资源投入估算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项目经理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持续成本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许可、云资源、运维、升级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按五年现金流统一口径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 负责人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效率收益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自动化、关账、报表工时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基线工时 × 改善率 × 人力成本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资金收益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库存、应收、付款节奏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平均占用下降 × 资金成本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财务负责人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经营收益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交付、质量、损耗、毛利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业务量 × 单位改善价值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兑现约束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采用率、爬坡期、双轨成本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按季度设置折减系数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项目委员会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2947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279BDA6E-9209-47CB-A0B6-C75510E3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F9A91CE-9690-41B9-A463-DC42A33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1DAAAD4-1143-444C-984A-35E6828D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130ABFAB-4063-4264-A728-2133008E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F024300-89A2-4732-996C-459756D2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DF4875-DAFF-4168-8813-05C6DA94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7659BBF-7565-4073-93AA-98DEF00D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案例示意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DC2AFC-A301-4384-B520-EB833910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虚构制造案例显示：流程采用率比功能上线率更能解释收益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947780F-D83F-46C6-8356-8852CFE1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216152"/>
            <a:ext cx="104698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示例背景：3 家工厂、约 8,000 个物料编码、260 家供应商；所有数据均为演示假设。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A6AB275D-9180-492C-A480-51030843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FB3A722-C953-4E87-917B-F0168095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7AA905-8426-470B-A01C-00379EB8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695FECE-B9B9-46C0-85D1-0946A841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700784"/>
            <a:ext cx="5358383" cy="4462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0222661-F1B3-4C9A-8126-1036FAB9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700784"/>
            <a:ext cx="5358383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92F4AD8-6990-4E34-A590-B512386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5" y="2066544"/>
            <a:ext cx="46634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上线前基线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8E99879-1DEF-4241-92FC-2CA566D9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2816352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65CD482-1D21-4DEC-97D1-0581708A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2724912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月结 10 个工作日，跨系统对账约 620 小时/月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047E3FC-A77B-46AA-BAC0-2046605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419856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F281839-E30C-4DF2-BA64-36A79D47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3328416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库存周转 4.6 次，呆滞库存率 11.2%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83F60E8-C0EC-4AC0-AA80-1B2CAF31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4023360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25BA22F-B600-445A-A3BD-20489D52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3931920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订单准时交付率 78%，承诺日期依赖人工确认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3C360D2-0573-4D3C-8437-C5713F94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4626864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535D02E-6A63-4BD2-A17A-765F43D2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4535424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采购订单三单自动匹配率仅 18%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7DB37CB-94A5-48EA-9DEF-7ACEE452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1" y="1700784"/>
            <a:ext cx="5358383" cy="4462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D172C9F-6AE0-45E8-ABE4-5DE31F76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1" y="1700784"/>
            <a:ext cx="5358383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020D259-D672-40C9-B2EB-25389736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5" y="2066544"/>
            <a:ext cx="46634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稳定运行 12 个月后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370346-4C7E-4148-9AEC-254593AB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3" y="2816352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90E8D8D-485C-4D78-B821-99BE3384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39" y="2724912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月结缩短至 6.5 天，对账工时下降约 38%（演示）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FCF82FD-8F91-47FC-871E-FBE8CB7D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3" y="3419856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15A550F-92A2-452F-B79B-1EE229B4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39" y="3328416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库存周转提升至 5.5 次，呆滞率降至 8.1%（演示）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1FD4808-31AE-4D60-8A5A-FA3C2179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3" y="4023360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8680FE3-5B25-4F86-BC6C-F8CA5DF3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39" y="3931920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准时交付率提升至 91%，ATP 自动承诺（演示）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9EEC1E-20B7-4579-A5A3-4A572A98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3" y="4626864"/>
            <a:ext cx="32003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AD2AAE7-E4A0-400E-96D7-2114D5FC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39" y="4535424"/>
            <a:ext cx="41605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三单自动匹配率达到 76%，异常集中处理（演示）</a:t>
            </a:r>
          </a:p>
        </p:txBody>
      </p:sp>
    </p:spTree>
    <p:extLst>
      <p:ext uri="{BB962C8B-B14F-4D97-AF65-F5344CB8AC3E}">
        <p14:creationId xmlns:p14="http://schemas.microsoft.com/office/powerpoint/2010/main" val="161614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B409427-075B-4D0A-8EA7-F5582FE2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EBE050-3501-403B-9041-6CB33EE2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BA88AEC-C172-449B-9421-AA2A710E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D22554FF-65B6-4E46-BFA2-E9A7B719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2030144-538F-4A9A-AF14-98C3855E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8BEE06-DC9E-4E90-93CB-18A63366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40CABC-0D86-4AEE-8E00-EC819CF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实施方法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D85D3D-D6DF-40DA-9354-1AD1A83A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实施需要把业务变革、数据准备和系统建设并行推进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9454575-E8E6-40EF-860E-3829641F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7BD872-8F1E-4460-8BC6-67C9303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862D424-67F4-44F9-9A9E-B85A681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25" name="Table 12"/>
          <p:cNvGraphicFramePr/>
          <p:nvPr/>
        </p:nvGraphicFramePr>
        <p:xfrm>
          <a:off xmlns:a="http://schemas.openxmlformats.org/drawingml/2006/main" x="640079" y="1463040"/>
          <a:ext xmlns:a="http://schemas.openxmlformats.org/drawingml/2006/main" cx="10927078" cy="4526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361"/>
                <a:gridCol w="3563178"/>
                <a:gridCol w="2375452"/>
                <a:gridCol w="3088087"/>
              </a:tblGrid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核心任务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关键交付物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退出标准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诊断与蓝图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目标、范围、流程和收益基线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业务蓝图/范围清单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负责人签署并冻结一期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方案与建设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配置、扩展、接口与权限设计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配置文档/接口清单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单元测试与设计评审通过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数据与测试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清洗迁移、集成、性能和 UAT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迁移报告/测试证据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关键场景零阻断缺陷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切换与上线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培训、盘点、切换和业务保障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切换计划/回退方案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演练达标且业务批准上线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稳定与优化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问题关闭、采用跟踪与收益复盘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采用仪表板/优化清单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服务水平稳定并进入常态治理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4806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F1FAB252-607E-463B-B035-BA02575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A2C07B-1606-4A14-B87A-B0BF5BC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02E5AD4-8871-4CFA-8CF6-54D0FA54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25CE85F9-E3BC-4ECA-81E0-C65CCACE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92C483A-54C1-43BB-A92C-40531C45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5A5E2C6-AE2A-4BF5-AEB6-754706A8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FC7BBCF-949B-48E5-953E-9300EFB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项目治理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D020ED-FFAD-43E9-9FA0-678BA980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八条实施工作流必须共用同一套里程碑、依赖和决策机制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DF8DEB56-F41F-44E5-A977-7E334B18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5F64D7-63C5-42E8-83BB-C891711D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DE6F33A-1B0E-4CAC-8658-38473455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1CC9329-F39D-4F2B-BA78-AABFB1A8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572768"/>
            <a:ext cx="5230367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6EA226-61B6-4983-B11F-CB72C6C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1792224"/>
            <a:ext cx="5047487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业务与数据工作流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D151C9-4EBA-49C6-BB08-9D66F33D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2505456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D6EF378-71BF-4B56-A956-9737941F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2414016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流程设计：定义端到端流程、角色、控制点和例外场景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FFB3B4-BF19-4A6F-B6A0-C633B260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3255264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24B47E-F45C-4DE3-B7EF-2AD8C0A4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163824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数据治理：清洗、映射、补全、审批并演练迁移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3DA9912-6052-44A6-A1B1-D3B34B3C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005072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A0A14B7-417A-40C5-9E6D-17B44088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3913632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报表与指标：统一口径、责任归属和下钻路径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2892827-4A1F-4B91-86EB-14D1FB6D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754880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E38C03C-C4E9-4047-835C-F9BC0729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3" y="4663440"/>
            <a:ext cx="470001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收益管理：记录基线、目标、兑现计划和季度复盘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3775F22-94E8-4627-B90D-4C2782A2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572768"/>
            <a:ext cx="5303519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833BCB-ACA1-4B43-ADC9-7219B4C1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792224"/>
            <a:ext cx="51206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系统与组织工作流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00C9D47-A7FF-476D-A4A3-D7E481A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2505456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7B5F7D-09F7-499B-B96D-9833AEE4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2414016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系统配置：优先标准能力，必要扩展须评估升级影响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AD19019-62D0-406E-B917-CA57616A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3255264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65D4684-B637-4D77-9E25-3B42E8E0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163824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集成与测试：覆盖接口、权限、性能、灾备和业务验收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35CE816-E452-43EE-A6E9-65237FA8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4005072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6C36DB2-8ADC-4F9D-B34F-35230917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913632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切换与运维：建立冻结、盘点、回退、值守和问题分级机制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9A19132-A77F-4920-8AB7-6ED0856B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5" y="4754880"/>
            <a:ext cx="25603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4A2A293-84D2-47F0-B755-250753FF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4663440"/>
            <a:ext cx="4773167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变革与培训：按角色设计课程、超级用户网络和采用仪表板</a:t>
            </a:r>
          </a:p>
        </p:txBody>
      </p:sp>
    </p:spTree>
    <p:extLst>
      <p:ext uri="{BB962C8B-B14F-4D97-AF65-F5344CB8AC3E}">
        <p14:creationId xmlns:p14="http://schemas.microsoft.com/office/powerpoint/2010/main" val="18646661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615B7C2C-1523-4406-972D-B6A55601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457E87E-0A55-4AC5-B785-98F3CE99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32E3904-FDF0-4E11-974D-5C65D1B6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11095BD7-9BA7-45FE-BC5A-7D864945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BD1DC52B-BACA-413A-B90D-07F9139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EF0F4B-2AD3-4BB6-9051-36A0F5F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89D474-444B-43BD-9AE8-11E786FF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选型方法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BC7CF79-FB1A-447B-8928-5CF6B63C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选型不能只看功能清单，应综合评估八个维度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1858B773-BC92-442D-BD9E-B5E7A195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B0E5CC-B0D3-4DE1-903D-4082B7FE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E44AB5C-0827-4C0B-8879-E636D532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25" name="Table 12"/>
          <p:cNvGraphicFramePr/>
          <p:nvPr/>
        </p:nvGraphicFramePr>
        <p:xfrm>
          <a:off xmlns:a="http://schemas.openxmlformats.org/drawingml/2006/main" x="640079" y="1463040"/>
          <a:ext xmlns:a="http://schemas.openxmlformats.org/drawingml/2006/main" cx="10927078" cy="4526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452"/>
                <a:gridCol w="3642359"/>
                <a:gridCol w="2801815"/>
                <a:gridCol w="2241452"/>
              </a:tblGrid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评估维度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关键问题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建议证据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关注风险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业务适配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是否支持关键行业流程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场景演示与客户验证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过度定制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产品架构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扩展、集成和升级是否可控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架构说明与接口清单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技术锁定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数据能力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主数据、分析和治理是否完整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数据模型与治理方案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口径分裂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实施能力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团队是否理解业务并可交付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核心顾问履历与计划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依赖外包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总体成本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五年成本和收益是否透明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许可、实施、运维测算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隐性费用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服务生态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伙伴、人才和支持是否可持续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服务等级与伙伴网络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支持中断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8196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CAAEEBC6-A064-4730-900B-3B51E8BC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B89FE6B-BCE9-4D62-B9B0-CB737FF0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C4E6BFB-11AF-43A7-A6B6-65781FB3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9E734F4B-4452-4E40-A39E-97DD726E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9B24D67-AA60-4B7A-82DB-ED3C449A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0B2221E-6940-4E83-A73D-3342368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643501C-3CB4-4F02-A3B7-60D16E99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风险控制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56C77C0-79C8-4BCC-A9FF-B338BBD7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ERP 项目失败往往源于治理和变革，而不是软件功能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58EF6F69-EE66-4713-BAC0-A16F3CEE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E46E64F-5411-4A95-BB88-BD8C4DD9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584E5A-E938-4FB5-953A-DED6757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084F3A2-CA50-4B08-835F-342A26E1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1463040"/>
            <a:ext cx="5230367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B43B19B-4A58-450A-9E23-65F31C10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" y="1700784"/>
            <a:ext cx="46177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高影响 / 高概率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9E2E96D-E2B7-4F85-90CE-E3F8110C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" y="2249424"/>
            <a:ext cx="4617719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信号：范围持续新增、关键决策无人拍板。动作：业务负责人牵头变更委员会，冻结基线并量化新增收益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80D7BD-AC21-46CB-BBB2-B6DB60EC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7" y="1463040"/>
            <a:ext cx="5230367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6F7B0CB-F6B6-4286-8532-7AA08D41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9" y="1700784"/>
            <a:ext cx="46177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高影响 / 低概率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51EE641-4109-4B21-AFF5-FF6A146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9" y="2249424"/>
            <a:ext cx="4617719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信号：切换演练失败、关键数据差异。动作：多轮全量演练，设置回退点、业务连续方案和高层决策门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05801A1-412C-44A6-A86D-18EF9DD6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3675887"/>
            <a:ext cx="5230367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F52E802-C24B-4272-A5FC-9CFC9D13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" y="3913631"/>
            <a:ext cx="46177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低影响 / 高概率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BBE1C3E-9AC7-482B-A856-4CB86007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" y="4462272"/>
            <a:ext cx="4617719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信号：用户继续使用线下表格。动作：按角色培训、建设超级用户网络，并每周跟踪流程采用和绕行率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F57E6EE-FFE9-4CF7-A2A7-ADF4BE8E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7" y="3675887"/>
            <a:ext cx="5230367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71B2C35-CB50-466E-8319-B6658E42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9" y="3913631"/>
            <a:ext cx="461771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低影响 / 低概率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984FAF-4765-4BFC-B933-8570EAFF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9" y="4462272"/>
            <a:ext cx="4617719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信号：标准功能覆盖局部场景不足。动作：先优化流程和参数，再评估扩展的升级、运维与审计成本</a:t>
            </a:r>
          </a:p>
        </p:txBody>
      </p:sp>
    </p:spTree>
    <p:extLst>
      <p:ext uri="{BB962C8B-B14F-4D97-AF65-F5344CB8AC3E}">
        <p14:creationId xmlns:p14="http://schemas.microsoft.com/office/powerpoint/2010/main" val="14729263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50E4A4A-0B04-4326-AA5C-159898A2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6353AC6-C8EC-4C9E-A8B6-70EA23E9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180F3AA0-E88B-4369-A59F-C4B1D4A6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B31EEF9B-D24D-4C12-B902-796DF9AF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B571EB33-E5F7-4650-BDB4-FA0CD69D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B728D8-A43E-457D-89DF-283359CD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144C31B-6D7D-438D-BCAD-E42008AD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未来趋势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869F8B-AF57-4F83-AAC5-3A0BB0C2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云化与 AI 正在把 ERP 从记录系统升级为智能经营系统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C5423BEF-F261-479E-B2FF-81557C2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31D1EB-1E07-4D66-A1C6-72691140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BF01BA-C9D5-43B4-A653-61B6ADF6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E9F1D22-3563-427D-82D4-0EF0878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463040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1B18798-4BEB-44C7-A875-577C0376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1463040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0D8A576-A8A0-4F03-9103-12F4E7E4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1737360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云 ERP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3D8210E-FAD5-44E7-875A-697BFFDE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2331720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持续更新、弹性资源和全球协同成为主流；企业更关注数据驻留、可用性、退出机制与订阅成本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32B1CF0-83FD-4640-86BC-1E3D4E6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1463040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E45A5B8-1C77-473D-969E-6864A3BB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1463040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2BBD0E8-D3A1-4389-B90D-AF0C1653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1737360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嵌入式 AI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02A9ADB-5883-44F3-B49A-29436FF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2331720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需求预测、异常识别、智能核算和经营解释进入业务流程；需要权限、证据、人工复核与效果评估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33D6989-7F84-403B-B2BC-E3783667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3840479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93A3CF4-60D5-4131-A14A-4EC5101A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3840479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080A5E1-833B-4C9B-ACA7-6F528DF4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4114799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组合式架构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675487E-7348-4C1C-A074-720007DE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3" y="4709159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通过 API、事件和业务能力组件连接专业应用与伙伴；核心 ERP 保持稳定，创新能力可独立演进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6CA9306-F650-4AE2-8913-E3510DDF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3840479"/>
            <a:ext cx="5381243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F190C70-C345-432B-B225-AC54ECE4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491" y="3840479"/>
            <a:ext cx="82295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6CA67A3-5B83-4DFD-8DA5-8E2BF807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4114799"/>
            <a:ext cx="4850891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实时企业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430F7C6-8CC9-4C09-BA62-D4BEE241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099" y="4709159"/>
            <a:ext cx="4832603" cy="10424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5E8"/>
                </a:solidFill>
                <a:latin typeface="Microsoft YaHei"/>
                <a:ea typeface="Microsoft YaHei"/>
                <a:cs typeface="Microsoft YaHei"/>
              </a:rPr>
              <a:t>订单、库存、设备和资金事件驱动计划与预警；缩短批处理周期，也提高数据质量和集成治理要求</a:t>
            </a:r>
          </a:p>
        </p:txBody>
      </p:sp>
    </p:spTree>
    <p:extLst>
      <p:ext uri="{BB962C8B-B14F-4D97-AF65-F5344CB8AC3E}">
        <p14:creationId xmlns:p14="http://schemas.microsoft.com/office/powerpoint/2010/main" val="19543226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DF49A0F-5207-4D32-8DD3-401BC8B2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89EBBF4-FCCE-4650-8BC1-4237A6B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491CD1E-DD1A-45C9-BC6F-83596ADB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0C448757-FAFC-414B-A8F8-DECFCCE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757823B5-B07F-420B-8E5C-05EA945D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" y="274320"/>
            <a:ext cx="310895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918BBC-C3A0-4BD1-BCB7-5DDA8878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96111" y="246888"/>
            <a:ext cx="31089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18CA547-D629-4271-9848-B3AEC999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4320"/>
            <a:ext cx="274319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行动建议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DFFEBF3-26BF-4EF8-A519-A527F543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1" y="713232"/>
            <a:ext cx="106070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管理层应先定义业务结果，再启动 ERP 选型与建设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E09F46A4-4E18-405B-8A99-2BCD010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6355080"/>
            <a:ext cx="110642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1708FA4-9D56-45C0-B00C-7DB4FE34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" y="6419088"/>
            <a:ext cx="457199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ERP 系统介绍 · 示例指标均为演示数据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814666A-62CB-445B-A044-84A7B3E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407" y="6419088"/>
            <a:ext cx="3657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1F4477A-02AB-437B-800B-8141F7D0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148132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309DCF-EF2A-42D9-ABB5-54249CBE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146304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明确 ERP 要解决的三至五个经营问题，而不是先罗列功能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C7948F23-A408-486D-8FF0-537201A0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198424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99E966-8542-42AC-A7C8-40218A4C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07568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B2C07CE-1D40-4B9D-AB55-AEB31FCE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05740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任命具有决策权的业务负责人，对流程采用和收益负责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6EE7DD12-8913-45BF-BD58-C3D10FEE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57860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E423FF4-15D5-4C61-907E-47983624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267004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2E699A7-4E57-4818-BB0D-9CCB2CC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265176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控制一期范围，优先贯通端到端关键流程和主数据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6BA6249D-FAA8-4E11-9510-4240E751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317296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02F0C9-5614-4907-B6DA-C968104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326440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46DCF57-04EF-439B-9773-7C8F7DA5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324612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建立数据负责人和主数据治理机制，避免把旧问题迁入新系统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3D5D86FF-F555-4781-A6CC-19BB6061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376732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263BA2C-435D-48D3-A0E0-A51B45C7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385876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0CCA8E9-7228-430F-A5BE-EA6F452E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384048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将流程设计、系统建设、数据准备和组织变革纳入同一计划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BB3680A5-DCCB-4CE4-B3CD-27F3402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436168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71FDCD8-C371-4042-BE2B-DC0FD0E5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4453127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415C2DA-B28B-4C6C-BAA2-9FD5B414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443484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用真实业务场景验证供应商，而不是只听标准功能演示</a:t>
            </a: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34D358C7-B9CB-4C7C-9E1C-2944BC1A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495604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723B0A4-113D-4341-B90A-D3C0134A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504748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223DA7A-19A0-4D69-8895-5556FA4E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502920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上线后持续跟踪采用、效率、资金和交付指标</a:t>
            </a:r>
          </a:p>
        </p:txBody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8DF81D64-52BD-4440-929A-98E1DD40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5550408"/>
            <a:ext cx="957376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202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507FA7F-5001-4F00-9ACD-D65CDB2C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" y="5641848"/>
            <a:ext cx="50291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F5B3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E55F2EE-FB95-4020-B733-6B96BCE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1" y="5623560"/>
            <a:ext cx="955547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设置季度优化路线，让 ERP 随业务发展持续演进</a:t>
            </a:r>
          </a:p>
        </p:txBody>
      </p:sp>
    </p:spTree>
    <p:extLst>
      <p:ext uri="{BB962C8B-B14F-4D97-AF65-F5344CB8AC3E}">
        <p14:creationId xmlns:p14="http://schemas.microsoft.com/office/powerpoint/2010/main" val="795384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5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D4BEDB55-CD21-44D2-B2C1-BDCBDDB3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1" y="384048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14CA28-BE08-444A-9A7B-B9427BE9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7" y="530352"/>
            <a:ext cx="3840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AABB88E8-F01E-4B3F-BEE4-E2EB8C88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399" y="5440680"/>
            <a:ext cx="384047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8D094DE4-4B30-49CA-B925-7AE0B5D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" y="5715000"/>
            <a:ext cx="384047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EAC4D04-8BB0-41E5-BDDD-2B23A15E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" y="530352"/>
            <a:ext cx="868679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8C95B1-5490-4920-88A7-36EA34F4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">
            <a:off x="9601199" y="749808"/>
            <a:ext cx="1142999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C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23D220B2-F030-4B83-AD77-77A9B1FF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9" y="2971800"/>
            <a:ext cx="2468879" cy="2468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6A9398B-EA4A-4E08-9032-7B2C626A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1874519"/>
            <a:ext cx="6492239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15">
            <a:solidFill>
              <a:srgbClr val="1720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35D00C5-12FE-4524-8DC9-37D4CD19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1" y="2139696"/>
            <a:ext cx="571499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17202B"/>
                </a:solidFill>
                <a:latin typeface="Microsoft YaHei UI"/>
                <a:ea typeface="Microsoft YaHei UI"/>
                <a:cs typeface="Microsoft YaHei UI"/>
              </a:rPr>
              <a:t>让 ERP 成为持续改善的经营系统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3B766D6-1E5D-472B-BD2C-6F19A38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7" y="3657600"/>
            <a:ext cx="562355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下一步：明确目标、选择试点、建立跨部门项目团队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8B2FD6-2E4F-44FF-8FE7-B0458E21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7" y="6144768"/>
            <a:ext cx="502919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孟菲斯创意  ·  27</a:t>
            </a:r>
          </a:p>
        </p:txBody>
      </p:sp>
    </p:spTree>
    <p:extLst>
      <p:ext uri="{BB962C8B-B14F-4D97-AF65-F5344CB8AC3E}">
        <p14:creationId xmlns:p14="http://schemas.microsoft.com/office/powerpoint/2010/main" val="3525728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2026-08-25T08:12:33.8670000Z</dcterms:created>
  <dcterms:modified xsi:type="dcterms:W3CDTF">2026-08-25T08:12:33.8670000Z</dcterms:modified>
</coreProperties>
</file>