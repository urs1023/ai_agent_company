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57bbbfde4461b" /><Relationship Type="http://schemas.openxmlformats.org/officeDocument/2006/relationships/extended-properties" Target="/docProps/app.xml" Id="Rfc8384757a9849f8" /><Relationship Type="http://schemas.openxmlformats.org/officeDocument/2006/relationships/officeDocument" Target="/ppt/presentation.xml" Id="R89b0a57563e3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dfd2cb82b146e0"/>
  </p:sldMasterIdLst>
  <p:notesMasterIdLst>
    <p:notesMasterId xmlns:r="http://schemas.openxmlformats.org/officeDocument/2006/relationships" r:id="R674458d9f52e4b36"/>
  </p:notesMasterIdLst>
  <p:sldIdLst>
    <p:sldId xmlns:r="http://schemas.openxmlformats.org/officeDocument/2006/relationships" id="256" r:id="Re3d5752f94e34c55"/>
    <p:sldId xmlns:r="http://schemas.openxmlformats.org/officeDocument/2006/relationships" id="257" r:id="R3c0704a9085b43c6"/>
    <p:sldId xmlns:r="http://schemas.openxmlformats.org/officeDocument/2006/relationships" id="258" r:id="Ra3d2f8ec24534e4d"/>
    <p:sldId xmlns:r="http://schemas.openxmlformats.org/officeDocument/2006/relationships" id="259" r:id="R9dec1c78ab0f41f9"/>
    <p:sldId xmlns:r="http://schemas.openxmlformats.org/officeDocument/2006/relationships" id="260" r:id="R804fe23a19ab48a6"/>
    <p:sldId xmlns:r="http://schemas.openxmlformats.org/officeDocument/2006/relationships" id="261" r:id="R24a368f33aee4f1c"/>
    <p:sldId xmlns:r="http://schemas.openxmlformats.org/officeDocument/2006/relationships" id="262" r:id="Rd41db9dea87f4948"/>
    <p:sldId xmlns:r="http://schemas.openxmlformats.org/officeDocument/2006/relationships" id="263" r:id="R0ff2508403c249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7ea49b904442f7" /><Relationship Type="http://schemas.openxmlformats.org/officeDocument/2006/relationships/slideMaster" Target="/ppt/slideMasters/slideMaster1.xml" Id="Ra6dfd2cb82b146e0" /><Relationship Type="http://schemas.openxmlformats.org/officeDocument/2006/relationships/notesMaster" Target="/ppt/notesMasters/notesMaster1.xml" Id="R674458d9f52e4b36" /><Relationship Type="http://schemas.openxmlformats.org/officeDocument/2006/relationships/presProps" Target="/ppt/presProps.xml" Id="R344bedb533cf4c12" /><Relationship Type="http://schemas.openxmlformats.org/officeDocument/2006/relationships/tableStyles" Target="/ppt/tableStyles.xml" Id="R26b3c9ce71ac485c" /><Relationship Type="http://schemas.openxmlformats.org/officeDocument/2006/relationships/slide" Target="/ppt/slides/slide1.xml" Id="Re3d5752f94e34c55" /><Relationship Type="http://schemas.openxmlformats.org/officeDocument/2006/relationships/slide" Target="/ppt/slides/slide2.xml" Id="R3c0704a9085b43c6" /><Relationship Type="http://schemas.openxmlformats.org/officeDocument/2006/relationships/slide" Target="/ppt/slides/slide3.xml" Id="Ra3d2f8ec24534e4d" /><Relationship Type="http://schemas.openxmlformats.org/officeDocument/2006/relationships/slide" Target="/ppt/slides/slide4.xml" Id="R9dec1c78ab0f41f9" /><Relationship Type="http://schemas.openxmlformats.org/officeDocument/2006/relationships/slide" Target="/ppt/slides/slide5.xml" Id="R804fe23a19ab48a6" /><Relationship Type="http://schemas.openxmlformats.org/officeDocument/2006/relationships/slide" Target="/ppt/slides/slide6.xml" Id="R24a368f33aee4f1c" /><Relationship Type="http://schemas.openxmlformats.org/officeDocument/2006/relationships/slide" Target="/ppt/slides/slide7.xml" Id="Rd41db9dea87f4948" /><Relationship Type="http://schemas.openxmlformats.org/officeDocument/2006/relationships/slide" Target="/ppt/slides/slide8.xml" Id="R0ff2508403c249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6a714781f46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Executive Finance">
      <a:dk1>
        <a:srgbClr val="0C121A"/>
      </a:dk1>
      <a:lt1>
        <a:srgbClr val="FFFFFF"/>
      </a:lt1>
      <a:dk2>
        <a:srgbClr val="17202B"/>
      </a:dk2>
      <a:lt2>
        <a:srgbClr val="E6EBF1"/>
      </a:lt2>
      <a:accent1>
        <a:srgbClr val="D9A441"/>
      </a:accent1>
      <a:accent2>
        <a:srgbClr val="4CC9A7"/>
      </a:accent2>
      <a:accent3>
        <a:srgbClr val="4F7CAC"/>
      </a:accent3>
      <a:accent4>
        <a:srgbClr val="D96C75"/>
      </a:accent4>
      <a:accent5>
        <a:srgbClr val="8B7EC8"/>
      </a:accent5>
      <a:accent6>
        <a:srgbClr val="76A5AF"/>
      </a:accent6>
      <a:hlink>
        <a:srgbClr val="86B7FE"/>
      </a:hlink>
      <a:folHlink>
        <a:srgbClr val="C3A6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xecutive Fina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d67a03f6242eb" /><Relationship Type="http://schemas.openxmlformats.org/officeDocument/2006/relationships/notesMaster" Target="/ppt/notesMasters/notesMaster1.xml" Id="Rc0c99ebd668445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66249f5b494c76" /><Relationship Type="http://schemas.openxmlformats.org/officeDocument/2006/relationships/notesMaster" Target="/ppt/notesMasters/notesMaster1.xml" Id="R2f263d51e62c4f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89f7e924eb4fd5" /><Relationship Type="http://schemas.openxmlformats.org/officeDocument/2006/relationships/notesMaster" Target="/ppt/notesMasters/notesMaster1.xml" Id="R6271c7f69e7f47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17e6ef540e4192" /><Relationship Type="http://schemas.openxmlformats.org/officeDocument/2006/relationships/notesMaster" Target="/ppt/notesMasters/notesMaster1.xml" Id="Raf0c1e66d65548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7175561ce4c9c" /><Relationship Type="http://schemas.openxmlformats.org/officeDocument/2006/relationships/notesMaster" Target="/ppt/notesMasters/notesMaster1.xml" Id="R9bf9a004a9c6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06908372ec41e2" /><Relationship Type="http://schemas.openxmlformats.org/officeDocument/2006/relationships/notesMaster" Target="/ppt/notesMasters/notesMaster1.xml" Id="Re81d71b0b7ac4d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2fc49cb74b4bcd" /><Relationship Type="http://schemas.openxmlformats.org/officeDocument/2006/relationships/notesMaster" Target="/ppt/notesMasters/notesMaster1.xml" Id="Raa80c6f225124f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6825cef81e4d4b" /><Relationship Type="http://schemas.openxmlformats.org/officeDocument/2006/relationships/notesMaster" Target="/ppt/notesMasters/notesMaster1.xml" Id="R237488ac4adb45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E:/code/python_f/111/test5/backend/demo_finance.sql</a:t>
            </a:r>
          </a:p>
          <a:p xmlns:a="http://schemas.openxmlformats.org/drawingml/2006/main">
            <a:r>
              <a:t>- Method: SUM(amount) across the seven supplied sales rows.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E:/code/python_f/111/test5/backend/demo_finance.sql</a:t>
            </a:r>
          </a:p>
          <a:p xmlns:a="http://schemas.openxmlformats.org/drawingml/2006/main">
            <a:r>
              <a:t>- Method: Top-two share = (365 + 210) / 904 = 63.6%; North China share = 365 / 904 = 40.4%.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E:/code/python_f/111/test5/backend/demo_finance.sql</a:t>
            </a:r>
          </a:p>
          <a:p xmlns:a="http://schemas.openxmlformats.org/drawingml/2006/main">
            <a:r>
              <a:t>- Method: Monthly values are direct sums by sale_date month. No forecast or profit assumptions are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E:/code/python_f/111/test5/backend/demo_finance.sql</a:t>
            </a:r>
          </a:p>
          <a:p xmlns:a="http://schemas.openxmlformats.org/drawingml/2006/main">
            <a:r>
              <a:t>- Method: Project totals: Beijing 365, Shanghai 210, Shenzhen 165, Chengdu 86, Guangzhou 78 (万元).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E:/code/python_f/111/test5/backend/demo_finance.sql</a:t>
            </a:r>
          </a:p>
          <a:p xmlns:a="http://schemas.openxmlformats.org/drawingml/2006/main">
            <a:r>
              <a:t>- Method: South China share = (78 + 165) / 904 = 26.9%.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E:/code/python_f/111/test5/backend/demo_finance.sql</a:t>
            </a:r>
          </a:p>
          <a:p xmlns:a="http://schemas.openxmlformats.org/drawingml/2006/main">
            <a:r>
              <a:t>- Method: Portfolio shares use each project total divided by 904万元 total sales.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E:/code/python_f/111/test5/backend/demo_finance.sql</a:t>
            </a:r>
          </a:p>
          <a:p xmlns:a="http://schemas.openxmlformats.org/drawingml/2006/main">
            <a:r>
              <a:t>- Method: Recommendations are analytical implications from concentration and volatility; they are not historical outcomes.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E:/code/python_f/111/test5/backend/demo_finance.sql</a:t>
            </a:r>
          </a:p>
          <a:p xmlns:a="http://schemas.openxmlformats.org/drawingml/2006/main">
            <a:r>
              <a:t>- Method: Decision asks are derived recommendations based on the supplied sales distribution.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a93bddca040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3ff9e7e84484a" /><Relationship Type="http://schemas.openxmlformats.org/officeDocument/2006/relationships/slideLayout" Target="/ppt/slideLayouts/slideLayout1.xml" Id="R870fd69e44db49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0fd69e44db49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Executive Finance">
      <a:dk1>
        <a:srgbClr val="0C121A"/>
      </a:dk1>
      <a:lt1>
        <a:srgbClr val="FFFFFF"/>
      </a:lt1>
      <a:dk2>
        <a:srgbClr val="17202B"/>
      </a:dk2>
      <a:lt2>
        <a:srgbClr val="E6EBF1"/>
      </a:lt2>
      <a:accent1>
        <a:srgbClr val="D9A441"/>
      </a:accent1>
      <a:accent2>
        <a:srgbClr val="4CC9A7"/>
      </a:accent2>
      <a:accent3>
        <a:srgbClr val="4F7CAC"/>
      </a:accent3>
      <a:accent4>
        <a:srgbClr val="D96C75"/>
      </a:accent4>
      <a:accent5>
        <a:srgbClr val="8B7EC8"/>
      </a:accent5>
      <a:accent6>
        <a:srgbClr val="76A5AF"/>
      </a:accent6>
      <a:hlink>
        <a:srgbClr val="86B7FE"/>
      </a:hlink>
      <a:folHlink>
        <a:srgbClr val="C3A6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xecutive Fina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630177c314ca2" /><Relationship Type="http://schemas.openxmlformats.org/officeDocument/2006/relationships/notesSlide" Target="/ppt/notesSlides/notesSlide1.xml" Id="Rf48c0982131241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09d2ac3c64b0b" /><Relationship Type="http://schemas.openxmlformats.org/officeDocument/2006/relationships/notesSlide" Target="/ppt/notesSlides/notesSlide2.xml" Id="R49d92d6bdffa44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69ed885fd419c" /><Relationship Type="http://schemas.openxmlformats.org/officeDocument/2006/relationships/chart" Target="/ppt/slides/charts/chart1.xml" Id="Rc004f4bc5cdc44ee" /><Relationship Type="http://schemas.openxmlformats.org/officeDocument/2006/relationships/notesSlide" Target="/ppt/notesSlides/notesSlide3.xml" Id="R4dbefc86f86d47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3b4f0394141ae" /><Relationship Type="http://schemas.openxmlformats.org/officeDocument/2006/relationships/chart" Target="/ppt/slides/charts/chart2.xml" Id="Ree1d2f4260a049ec" /><Relationship Type="http://schemas.openxmlformats.org/officeDocument/2006/relationships/notesSlide" Target="/ppt/notesSlides/notesSlide4.xml" Id="R1a9b98c9498c4c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da9d81ed9478f" /><Relationship Type="http://schemas.openxmlformats.org/officeDocument/2006/relationships/chart" Target="/ppt/slides/charts/chart3.xml" Id="Ra47720ed54404c45" /><Relationship Type="http://schemas.openxmlformats.org/officeDocument/2006/relationships/notesSlide" Target="/ppt/notesSlides/notesSlide5.xml" Id="R5e10725546d548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5a6b5b20041fd" /><Relationship Type="http://schemas.openxmlformats.org/officeDocument/2006/relationships/notesSlide" Target="/ppt/notesSlides/notesSlide6.xml" Id="Rb21322259c1943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60e88f2564872" /><Relationship Type="http://schemas.openxmlformats.org/officeDocument/2006/relationships/notesSlide" Target="/ppt/notesSlides/notesSlide7.xml" Id="R51b5056624804b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7b917a03e490d" /><Relationship Type="http://schemas.openxmlformats.org/officeDocument/2006/relationships/notesSlide" Target="/ppt/notesSlides/notesSlide8.xml" Id="R20b161430f544a9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月销售额</c:v>
          </c:tx>
          <c:spPr>
            <a:ln xmlns:a="http://schemas.openxmlformats.org/drawingml/2006/main" w="38100">
              <a:solidFill>
                <a:srgbClr val="1F5A74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F5A74"/>
              </a:solidFill>
            </c:spPr>
          </c:marker>
          <c:cat>
            <c:strLit>
              <c:ptCount val="7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  <c:pt idx="4">
                <c:v>5月</c:v>
              </c:pt>
              <c:pt idx="5">
                <c:v>6月</c:v>
              </c:pt>
              <c:pt idx="6">
                <c:v>7月</c:v>
              </c:pt>
            </c:strLit>
          </c:cat>
          <c:val>
            <c:numLit>
              <c:formatCode>0</c:formatCode>
              <c:ptCount val="7"/>
              <c:pt idx="0">
                <c:v>125</c:v>
              </c:pt>
              <c:pt idx="1">
                <c:v>98</c:v>
              </c:pt>
              <c:pt idx="2">
                <c:v>210</c:v>
              </c:pt>
              <c:pt idx="3">
                <c:v>78</c:v>
              </c:pt>
              <c:pt idx="4">
                <c:v>165</c:v>
              </c:pt>
              <c:pt idx="5">
                <c:v>86</c:v>
              </c:pt>
              <c:pt idx="6">
                <c:v>142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C8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1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万元</a:t>
                </a:r>
              </a:p>
            </c:rich>
          </c:tx>
          <c:overlay val="0"/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1"/>
                </a:solidFill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4F6F8"/>
        </a:solidFill>
      </c:spPr>
    </c:plotArea>
    <c:plotVisOnly val="1"/>
  </c:chart>
  <c:spPr>
    <a:solidFill xmlns:a="http://schemas.openxmlformats.org/drawingml/2006/main">
      <a:srgbClr val="F4F6F8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销售额</c:v>
          </c:tx>
          <c:spPr>
            <a:solidFill xmlns:a="http://schemas.openxmlformats.org/drawingml/2006/main">
              <a:srgbClr val="1F5A7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9A441"/>
              </a:solidFill>
            </c:spPr>
          </c:dPt>
          <c:cat>
            <c:strLit>
              <c:ptCount val="5"/>
              <c:pt idx="0">
                <c:v>北京XX项目</c:v>
              </c:pt>
              <c:pt idx="1">
                <c:v>上海YY项目</c:v>
              </c:pt>
              <c:pt idx="2">
                <c:v>深圳AA项目</c:v>
              </c:pt>
              <c:pt idx="3">
                <c:v>成都BB项目</c:v>
              </c:pt>
              <c:pt idx="4">
                <c:v>广州ZZ项目</c:v>
              </c:pt>
            </c:strLit>
          </c:cat>
          <c:val>
            <c:numLit>
              <c:formatCode>General</c:formatCode>
              <c:ptCount val="5"/>
              <c:pt idx="0">
                <c:v>365</c:v>
              </c:pt>
              <c:pt idx="1">
                <c:v>210</c:v>
              </c:pt>
              <c:pt idx="2">
                <c:v>165</c:v>
              </c:pt>
              <c:pt idx="3">
                <c:v>86</c:v>
              </c:pt>
              <c:pt idx="4">
                <c:v>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0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324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销售额</c:v>
          </c:tx>
          <c:dPt>
            <c:idx val="0"/>
            <c:spPr>
              <a:solidFill xmlns:a="http://schemas.openxmlformats.org/drawingml/2006/main">
                <a:srgbClr val="1F5A74"/>
              </a:solidFill>
            </c:spPr>
          </c:dPt>
          <c:dPt>
            <c:idx val="1"/>
            <c:spPr>
              <a:solidFill xmlns:a="http://schemas.openxmlformats.org/drawingml/2006/main">
                <a:srgbClr val="4CC9A7"/>
              </a:solidFill>
            </c:spPr>
          </c:dPt>
          <c:dPt>
            <c:idx val="2"/>
            <c:spPr>
              <a:solidFill xmlns:a="http://schemas.openxmlformats.org/drawingml/2006/main">
                <a:srgbClr val="D9A441"/>
              </a:solidFill>
            </c:spPr>
          </c:dPt>
          <c:dPt>
            <c:idx val="3"/>
            <c:spPr>
              <a:solidFill xmlns:a="http://schemas.openxmlformats.org/drawingml/2006/main">
                <a:srgbClr val="8B95A5"/>
              </a:solidFill>
            </c:spPr>
          </c:dPt>
          <c:cat>
            <c:strLit>
              <c:ptCount val="4"/>
              <c:pt idx="0">
                <c:v>华北</c:v>
              </c:pt>
              <c:pt idx="1">
                <c:v>华南</c:v>
              </c:pt>
              <c:pt idx="2">
                <c:v>华东</c:v>
              </c:pt>
              <c:pt idx="3">
                <c:v>西南</c:v>
              </c:pt>
            </c:strLit>
          </c:cat>
          <c:val>
            <c:numLit>
              <c:formatCode>General</c:formatCode>
              <c:ptCount val="4"/>
              <c:pt idx="0">
                <c:v>365</c:v>
              </c:pt>
              <c:pt idx="1">
                <c:v>243</c:v>
              </c:pt>
              <c:pt idx="2">
                <c:v>210</c:v>
              </c:pt>
              <c:pt idx="3">
                <c:v>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F4F6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E5A6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4F6F8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A0D87C5-0C5C-4C60-886F-EBB8EF6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MANAGEMENT REVIEW · 2026 JAN–JUL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C3DEB1-F318-45E0-A7E6-959BD34C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经营分析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决策简报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505F006-D888-4679-887B-EB23D914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1C9D3"/>
                </a:solidFill>
              </a:defRPr>
            </a:pPr>
            <a:r>
              <a:rPr sz="1575">
                <a:solidFill>
                  <a:srgbClr val="C1C9D3"/>
                </a:solidFill>
              </a:rPr>
              <a:t>基于销售明细的项目结构、区域集中度与下一步行动</a:t>
            </a:r>
          </a:p>
        </p:txBody>
      </p:sp>
      <p:sp>
        <p:nvSpPr>
          <p:cNvPr id="4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3725106-3FB1-42EF-8A5D-72729624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1143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otal-label">
            <a:extLst xmlns:a="http://schemas.openxmlformats.org/drawingml/2006/main">
              <a:ext uri="{FF2B5EF4-FFF2-40B4-BE49-F238E27FC236}">
                <a16:creationId xmlns:a16="http://schemas.microsoft.com/office/drawing/2014/main" id="{E36795F1-8CED-4CA9-AAD5-D24D350D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1C9D3"/>
                </a:solidFill>
              </a:defRPr>
            </a:pPr>
            <a:r>
              <a:rPr sz="1200">
                <a:solidFill>
                  <a:srgbClr val="C1C9D3"/>
                </a:solidFill>
              </a:rPr>
              <a:t>累计销售额</a:t>
            </a:r>
          </a:p>
        </p:txBody>
      </p:sp>
      <p:sp>
        <p:nvSpPr>
          <p:cNvPr id="6" name="total">
            <a:extLst xmlns:a="http://schemas.openxmlformats.org/drawingml/2006/main">
              <a:ext uri="{FF2B5EF4-FFF2-40B4-BE49-F238E27FC236}">
                <a16:creationId xmlns:a16="http://schemas.microsoft.com/office/drawing/2014/main" id="{AC16EA7E-F165-484B-9BC0-335F1C7B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431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904 万元</a:t>
            </a:r>
          </a:p>
        </p:txBody>
      </p:sp>
      <p:sp>
        <p:nvSpPr>
          <p:cNvPr id="7" name="period">
            <a:extLst xmlns:a="http://schemas.openxmlformats.org/drawingml/2006/main">
              <a:ext uri="{FF2B5EF4-FFF2-40B4-BE49-F238E27FC236}">
                <a16:creationId xmlns:a16="http://schemas.microsoft.com/office/drawing/2014/main" id="{6F05C7A1-BADE-4C69-AF66-6F90F178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CC9A7"/>
                </a:solidFill>
              </a:defRPr>
            </a:pPr>
            <a:r>
              <a:rPr sz="1125">
                <a:solidFill>
                  <a:srgbClr val="4CC9A7"/>
                </a:solidFill>
              </a:rPr>
              <a:t>7 个月 · 5 个项目 · 4 个区域</a:t>
            </a:r>
          </a:p>
        </p:txBody>
      </p:sp>
      <p:sp>
        <p:nvSpPr>
          <p:cNvPr id="8" name="footer-1">
            <a:extLst xmlns:a="http://schemas.openxmlformats.org/drawingml/2006/main">
              <a:ext uri="{FF2B5EF4-FFF2-40B4-BE49-F238E27FC236}">
                <a16:creationId xmlns:a16="http://schemas.microsoft.com/office/drawing/2014/main" id="{E4CAEB70-B27C-46DB-A120-0E3B168E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792A2"/>
                </a:solidFill>
              </a:defRPr>
            </a:pPr>
            <a:r>
              <a:rPr sz="750">
                <a:solidFill>
                  <a:srgbClr val="8792A2"/>
                </a:solidFill>
              </a:rPr>
              <a:t>企业 AI 工作平台 · 决策材料</a:t>
            </a:r>
          </a:p>
        </p:txBody>
      </p:sp>
      <p:sp>
        <p:nvSpPr>
          <p:cNvPr id="9" name="page-1">
            <a:extLst xmlns:a="http://schemas.openxmlformats.org/drawingml/2006/main">
              <a:ext uri="{FF2B5EF4-FFF2-40B4-BE49-F238E27FC236}">
                <a16:creationId xmlns:a16="http://schemas.microsoft.com/office/drawing/2014/main" id="{05D855C9-7BB6-4C59-801E-A51C4D3D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792A2"/>
                </a:solidFill>
              </a:defRPr>
            </a:pPr>
            <a:r>
              <a:rPr sz="750">
                <a:solidFill>
                  <a:srgbClr val="8792A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1307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5868C8-A2B3-485E-8B35-CE0F0B55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增长可见，但项目集中度需要主动管理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C449CF-357B-4319-95BF-895AA589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9C9"/>
                </a:solidFill>
              </a:defRPr>
            </a:pPr>
            <a:r>
              <a:rPr sz="1125">
                <a:solidFill>
                  <a:srgbClr val="AEB9C9"/>
                </a:solidFill>
              </a:rPr>
              <a:t>三项数字决定下一步经营动作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39801172-CE33-40D1-B330-15A50421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9A441"/>
                </a:solidFill>
              </a:defRPr>
            </a:pPr>
            <a:r>
              <a:rPr sz="3225" b="1">
                <a:solidFill>
                  <a:srgbClr val="D9A441"/>
                </a:solidFill>
              </a:rPr>
              <a:t>904 万元</a:t>
            </a:r>
          </a:p>
        </p:txBody>
      </p:sp>
      <p:sp>
        <p:nvSpPr>
          <p:cNvPr id="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ECFE0D53-3429-4260-B0C0-01DFB0BD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累计销售额</a:t>
            </a:r>
          </a:p>
        </p:txBody>
      </p:sp>
      <p:sp>
        <p:nvSpPr>
          <p:cNvPr id="5" name="metric-note-0">
            <a:extLst xmlns:a="http://schemas.openxmlformats.org/drawingml/2006/main">
              <a:ext uri="{FF2B5EF4-FFF2-40B4-BE49-F238E27FC236}">
                <a16:creationId xmlns:a16="http://schemas.microsoft.com/office/drawing/2014/main" id="{1D9E7A6D-EF21-4DA6-8F8E-1A0C7859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9C9"/>
                </a:solidFill>
              </a:defRPr>
            </a:pPr>
            <a:r>
              <a:rPr sz="1050">
                <a:solidFill>
                  <a:srgbClr val="AEB9C9"/>
                </a:solidFill>
              </a:rPr>
              <a:t>覆盖 1–7 月</a:t>
            </a:r>
          </a:p>
        </p:txBody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0C30DD2D-3C22-4BC6-88B5-0B7E145D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383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63.6%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E55F7125-40DF-4207-9E15-EF73CB4B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19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前两大项目占比</a:t>
            </a:r>
          </a:p>
        </p:txBody>
      </p:sp>
      <p:sp>
        <p:nvSpPr>
          <p:cNvPr id="8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6C5FCB5D-4BC3-4B6D-8746-6039D928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00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9C9"/>
                </a:solidFill>
              </a:defRPr>
            </a:pPr>
            <a:r>
              <a:rPr sz="1050">
                <a:solidFill>
                  <a:srgbClr val="AEB9C9"/>
                </a:solidFill>
              </a:rPr>
              <a:t>北京 + 上海</a:t>
            </a:r>
          </a:p>
        </p:txBody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E2D09135-9DF5-4F82-8BB6-3B0BB1E7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40.4%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E786BF8-4D5C-4A53-ADB9-71BD680E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华北区域占比</a:t>
            </a:r>
          </a:p>
        </p:txBody>
      </p:sp>
      <p:sp>
        <p:nvSpPr>
          <p:cNvPr id="11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A7144C65-6846-4028-9C39-5D569811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9C9"/>
                </a:solidFill>
              </a:defRPr>
            </a:pPr>
            <a:r>
              <a:rPr sz="1050">
                <a:solidFill>
                  <a:srgbClr val="AEB9C9"/>
                </a:solidFill>
              </a:rPr>
              <a:t>单一区域最高</a:t>
            </a:r>
          </a:p>
        </p:txBody>
      </p:sp>
      <p:sp>
        <p:nvSpPr>
          <p:cNvPr id="12" name="decision-line">
            <a:extLst xmlns:a="http://schemas.openxmlformats.org/drawingml/2006/main">
              <a:ext uri="{FF2B5EF4-FFF2-40B4-BE49-F238E27FC236}">
                <a16:creationId xmlns:a16="http://schemas.microsoft.com/office/drawing/2014/main" id="{EA84E190-DFB7-416E-9DE5-707EEB9E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cision">
            <a:extLst xmlns:a="http://schemas.openxmlformats.org/drawingml/2006/main">
              <a:ext uri="{FF2B5EF4-FFF2-40B4-BE49-F238E27FC236}">
                <a16:creationId xmlns:a16="http://schemas.microsoft.com/office/drawing/2014/main" id="{B40E1BA2-0378-4453-9A0E-1CB135D5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建议：把新增机会优先配置到华东、华南，同时对北京项目设置回款与交付双里程碑。</a:t>
            </a:r>
          </a:p>
        </p:txBody>
      </p:sp>
      <p:sp>
        <p:nvSpPr>
          <p:cNvPr id="14" name="footer-2">
            <a:extLst xmlns:a="http://schemas.openxmlformats.org/drawingml/2006/main">
              <a:ext uri="{FF2B5EF4-FFF2-40B4-BE49-F238E27FC236}">
                <a16:creationId xmlns:a16="http://schemas.microsoft.com/office/drawing/2014/main" id="{607BBCDE-E248-4D19-8F36-6976C6D2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792A2"/>
                </a:solidFill>
              </a:defRPr>
            </a:pPr>
            <a:r>
              <a:rPr sz="750">
                <a:solidFill>
                  <a:srgbClr val="8792A2"/>
                </a:solidFill>
              </a:rPr>
              <a:t>企业 AI 工作平台 · 决策材料</a:t>
            </a:r>
          </a:p>
        </p:txBody>
      </p:sp>
      <p:sp>
        <p:nvSpPr>
          <p:cNvPr id="15" name="page-2">
            <a:extLst xmlns:a="http://schemas.openxmlformats.org/drawingml/2006/main">
              <a:ext uri="{FF2B5EF4-FFF2-40B4-BE49-F238E27FC236}">
                <a16:creationId xmlns:a16="http://schemas.microsoft.com/office/drawing/2014/main" id="{0BED87AB-8D9A-410A-9E7A-93A9DB06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792A2"/>
                </a:solidFill>
              </a:defRPr>
            </a:pPr>
            <a:r>
              <a:rPr sz="750">
                <a:solidFill>
                  <a:srgbClr val="8792A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8896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315206-81CE-446B-AF3E-97CCC370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销售节奏呈波动型，3 月和 5 月形成两次峰值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CCA1B8-7E42-46E2-B627-C5C2D03F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37083"/>
                </a:solidFill>
              </a:defRPr>
            </a:pPr>
            <a:r>
              <a:rPr sz="1125">
                <a:solidFill>
                  <a:srgbClr val="637083"/>
                </a:solidFill>
              </a:rPr>
              <a:t>单位：万元；7 月为当前数据截止点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00100" y="1619250"/>
          <a:ext xmlns:a="http://schemas.openxmlformats.org/drawingml/2006/main" cx="7810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04f4bc5cdc44ee"/>
          </a:graphicData>
        </a:graphic>
      </p:graphicFrame>
      <p:sp>
        <p:nvSpPr>
          <p:cNvPr id="4" name="peak">
            <a:extLst xmlns:a="http://schemas.openxmlformats.org/drawingml/2006/main">
              <a:ext uri="{FF2B5EF4-FFF2-40B4-BE49-F238E27FC236}">
                <a16:creationId xmlns:a16="http://schemas.microsoft.com/office/drawing/2014/main" id="{93230FFA-F576-4199-ABAA-D25E3C87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峰值月</a:t>
            </a:r>
          </a:p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3 月 210 万元</a:t>
            </a:r>
          </a:p>
        </p:txBody>
      </p:sp>
      <p:sp>
        <p:nvSpPr>
          <p:cNvPr id="5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60754EEE-6802-40CD-82F8-D4EB48E6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477"/>
                </a:solidFill>
              </a:defRPr>
            </a:pPr>
            <a:r>
              <a:rPr sz="1275">
                <a:solidFill>
                  <a:srgbClr val="566477"/>
                </a:solidFill>
              </a:rPr>
              <a:t>月度波动说明收入仍受单项目签约节奏驱动。经营计划应同时观察合同额、交付与回款，而不是只看单月销售。</a:t>
            </a:r>
          </a:p>
        </p:txBody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539B7C70-7B70-4CB6-9FA1-006B1196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企业 AI 工作平台 · 决策材料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9EE4617E-0A97-4FD1-8628-6F9C8AD7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0834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58C2F3-42DC-47C2-91BB-C99F8C0E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北京项目贡献四成销售额，组合需要第二增长支点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70D609F-5C22-4BD1-A57F-B9CF0554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37083"/>
                </a:solidFill>
              </a:defRPr>
            </a:pPr>
            <a:r>
              <a:rPr sz="1125">
                <a:solidFill>
                  <a:srgbClr val="637083"/>
                </a:solidFill>
              </a:rPr>
              <a:t>项目累计销售额与组合占比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19150" y="1571625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1d2f4260a049ec"/>
          </a:graphicData>
        </a:graphic>
      </p:graphicFrame>
      <p:sp>
        <p:nvSpPr>
          <p:cNvPr id="4" name="right-title">
            <a:extLst xmlns:a="http://schemas.openxmlformats.org/drawingml/2006/main">
              <a:ext uri="{FF2B5EF4-FFF2-40B4-BE49-F238E27FC236}">
                <a16:creationId xmlns:a16="http://schemas.microsoft.com/office/drawing/2014/main" id="{A97148C5-FF94-42CC-9F43-D9D5A00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430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组合判断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1BC9565F-D238-4C03-9DDE-C04E32B4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33625"/>
            <a:ext cx="2667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65568"/>
                </a:solidFill>
              </a:defRPr>
            </a:pPr>
            <a:r>
              <a:rPr sz="1425">
                <a:solidFill>
                  <a:srgbClr val="465568"/>
                </a:solidFill>
              </a:rPr>
              <a:t>1. 北京是规模基座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465568"/>
                </a:solidFill>
              </a:defRPr>
            </a:pPr>
            <a:r>
              <a:rPr sz="1425">
                <a:solidFill>
                  <a:srgbClr val="465568"/>
                </a:solidFill>
              </a:rPr>
              <a:t>2. 上海、深圳构成第二梯队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465568"/>
                </a:solidFill>
              </a:defRPr>
            </a:pPr>
            <a:r>
              <a:rPr sz="1425">
                <a:solidFill>
                  <a:srgbClr val="465568"/>
                </a:solidFill>
              </a:rPr>
              <a:t>3. 广州、成都验证区域复制</a:t>
            </a:r>
          </a:p>
        </p:txBody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EC87D184-260C-4606-ABC7-CB1E4A76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企业 AI 工作平台 · 决策材料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793DDE59-D6A9-46D1-A1B9-ECDB9D96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9387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F861F1-79F4-4FC2-96E4-F915D5B0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华南已形成双项目基础，是最可验证的增量区域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5B05B7-B3E0-494F-9DAC-14761AE2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37083"/>
                </a:solidFill>
              </a:defRPr>
            </a:pPr>
            <a:r>
              <a:rPr sz="1125">
                <a:solidFill>
                  <a:srgbClr val="637083"/>
                </a:solidFill>
              </a:rPr>
              <a:t>区域销售结构；单位：万元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5143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7720ed54404c45"/>
          </a:graphicData>
        </a:graphic>
      </p:graphicFrame>
      <p:sp>
        <p:nvSpPr>
          <p:cNvPr id="4" name="region-claim">
            <a:extLst xmlns:a="http://schemas.openxmlformats.org/drawingml/2006/main">
              <a:ext uri="{FF2B5EF4-FFF2-40B4-BE49-F238E27FC236}">
                <a16:creationId xmlns:a16="http://schemas.microsoft.com/office/drawing/2014/main" id="{4A62E405-7711-4D14-B422-EC707B1A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华南占比 26.9%</a:t>
            </a:r>
          </a:p>
        </p:txBody>
      </p:sp>
      <p:sp>
        <p:nvSpPr>
          <p:cNvPr id="5" name="region-copy">
            <a:extLst xmlns:a="http://schemas.openxmlformats.org/drawingml/2006/main">
              <a:ext uri="{FF2B5EF4-FFF2-40B4-BE49-F238E27FC236}">
                <a16:creationId xmlns:a16="http://schemas.microsoft.com/office/drawing/2014/main" id="{15ED1824-5536-4ACD-A9E1-583A8EAD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1"/>
                </a:solidFill>
              </a:defRPr>
            </a:pPr>
            <a:r>
              <a:rPr sz="1500">
                <a:solidFill>
                  <a:srgbClr val="536171"/>
                </a:solidFill>
              </a:rPr>
              <a:t>与华北不同，华南销售来自广州、深圳两个项目，结构更分散。下一步应验证交付资源和客户拓展能否继续复制。</a:t>
            </a:r>
          </a:p>
        </p:txBody>
      </p:sp>
      <p:sp>
        <p:nvSpPr>
          <p:cNvPr id="6" name="region-action">
            <a:extLst xmlns:a="http://schemas.openxmlformats.org/drawingml/2006/main">
              <a:ext uri="{FF2B5EF4-FFF2-40B4-BE49-F238E27FC236}">
                <a16:creationId xmlns:a16="http://schemas.microsoft.com/office/drawing/2014/main" id="{E87C52E7-FB4A-41DE-BB00-B87A088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5A74"/>
                </a:solidFill>
              </a:defRPr>
            </a:pPr>
            <a:r>
              <a:rPr sz="1575" b="1">
                <a:solidFill>
                  <a:srgbClr val="1F5A74"/>
                </a:solidFill>
              </a:rPr>
              <a:t>行动：把华南列为下一周期重点经营区，同时控制单一项目依赖。</a:t>
            </a:r>
          </a:p>
        </p:txBody>
      </p:sp>
      <p:sp>
        <p:nvSpPr>
          <p:cNvPr id="7" name="footer-5">
            <a:extLst xmlns:a="http://schemas.openxmlformats.org/drawingml/2006/main">
              <a:ext uri="{FF2B5EF4-FFF2-40B4-BE49-F238E27FC236}">
                <a16:creationId xmlns:a16="http://schemas.microsoft.com/office/drawing/2014/main" id="{7E58FFDE-7323-484A-9789-549EA02A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企业 AI 工作平台 · 决策材料</a:t>
            </a:r>
          </a:p>
        </p:txBody>
      </p:sp>
      <p:sp>
        <p:nvSpPr>
          <p:cNvPr id="8" name="page-5">
            <a:extLst xmlns:a="http://schemas.openxmlformats.org/drawingml/2006/main">
              <a:ext uri="{FF2B5EF4-FFF2-40B4-BE49-F238E27FC236}">
                <a16:creationId xmlns:a16="http://schemas.microsoft.com/office/drawing/2014/main" id="{DB04A2BB-9EA2-43B7-AAD7-CBD7C8D6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909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36A0A9-FEB3-4F5B-A851-B62C2EE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项目组合应按规模、区域价值和管理动作分层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8950C2-1639-4BBA-A39F-F8FF08DD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37083"/>
                </a:solidFill>
              </a:defRPr>
            </a:pPr>
            <a:r>
              <a:rPr sz="1125">
                <a:solidFill>
                  <a:srgbClr val="637083"/>
                </a:solidFill>
              </a:rPr>
              <a:t>数据结论转为可执行经营动作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1638300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区域</a:t>
                      </a:r>
                    </a:p>
                  </a:txBody>
                  <a:tcPr marL="91440" marR="91440" marT="45720" marB="45720"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销售额</a:t>
                      </a:r>
                    </a:p>
                  </a:txBody>
                  <a:tcPr marL="91440" marR="91440" marT="45720" marB="45720"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组合占比</a:t>
                      </a:r>
                    </a:p>
                  </a:txBody>
                  <a:tcPr marL="91440" marR="91440" marT="45720" marB="45720"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建议动作</a:t>
                      </a:r>
                    </a:p>
                  </a:txBody>
                  <a:tcPr marL="91440" marR="91440" marT="45720" marB="45720">
                    <a:solidFill>
                      <a:srgbClr val="17202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北京XX项目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华北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365 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40.4%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双里程碑管理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上海YY项目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华东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210 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23.2%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建设第二支点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深圳AA项目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华南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165 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18.3%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复制交付打法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成都BB项目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西南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86 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9.5%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验证区域潜力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广州ZZ项目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华南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78 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8.6%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245"/>
                          </a:solidFill>
                        </a:rPr>
                        <a:t>与深圳协同经营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3ADCE298-2DDA-44AE-817C-90A122E9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企业 AI 工作平台 · 决策材料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64501C34-88FB-4588-B126-97F4B91B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9567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9047AD-CA6F-42D2-AD2B-F565CA22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未来 90 天聚焦三个动作，不把波动误当增长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F4211C-4BCB-42A3-AAB8-0AFC7AE2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9C9"/>
                </a:solidFill>
              </a:defRPr>
            </a:pPr>
            <a:r>
              <a:rPr sz="1125">
                <a:solidFill>
                  <a:srgbClr val="AEB9C9"/>
                </a:solidFill>
              </a:rPr>
              <a:t>建议动作、衡量方式与负责人角色</a:t>
            </a:r>
          </a:p>
        </p:txBody>
      </p:sp>
      <p:sp>
        <p:nvSpPr>
          <p:cNvPr id="3" name="action-no-0">
            <a:extLst xmlns:a="http://schemas.openxmlformats.org/drawingml/2006/main">
              <a:ext uri="{FF2B5EF4-FFF2-40B4-BE49-F238E27FC236}">
                <a16:creationId xmlns:a16="http://schemas.microsoft.com/office/drawing/2014/main" id="{78E29ABA-6BB9-4E19-9E13-9F264D36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4" name="action-title-0">
            <a:extLst xmlns:a="http://schemas.openxmlformats.org/drawingml/2006/main">
              <a:ext uri="{FF2B5EF4-FFF2-40B4-BE49-F238E27FC236}">
                <a16:creationId xmlns:a16="http://schemas.microsoft.com/office/drawing/2014/main" id="{8CAD3401-8E08-4CD2-B0F1-128F415F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621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稳住规模基座</a:t>
            </a:r>
          </a:p>
        </p:txBody>
      </p:sp>
      <p:sp>
        <p:nvSpPr>
          <p:cNvPr id="5" name="action-copy-0">
            <a:extLst xmlns:a="http://schemas.openxmlformats.org/drawingml/2006/main">
              <a:ext uri="{FF2B5EF4-FFF2-40B4-BE49-F238E27FC236}">
                <a16:creationId xmlns:a16="http://schemas.microsoft.com/office/drawing/2014/main" id="{E173A9F1-4E64-48F0-9B05-6C596CC4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811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1C9D3"/>
                </a:solidFill>
              </a:defRPr>
            </a:pPr>
            <a:r>
              <a:rPr sz="1350">
                <a:solidFill>
                  <a:srgbClr val="C1C9D3"/>
                </a:solidFill>
              </a:rPr>
              <a:t>北京项目设置交付和回款双里程碑</a:t>
            </a:r>
          </a:p>
        </p:txBody>
      </p:sp>
      <p:sp>
        <p:nvSpPr>
          <p:cNvPr id="6" name="action-owner-0">
            <a:extLst xmlns:a="http://schemas.openxmlformats.org/drawingml/2006/main">
              <a:ext uri="{FF2B5EF4-FFF2-40B4-BE49-F238E27FC236}">
                <a16:creationId xmlns:a16="http://schemas.microsoft.com/office/drawing/2014/main" id="{885379D6-0352-49C8-8B28-0CFBB266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02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CC9A7"/>
                </a:solidFill>
              </a:defRPr>
            </a:pPr>
            <a:r>
              <a:rPr sz="1125" b="1">
                <a:solidFill>
                  <a:srgbClr val="4CC9A7"/>
                </a:solidFill>
              </a:rPr>
              <a:t>项目负责人</a:t>
            </a:r>
          </a:p>
        </p:txBody>
      </p:sp>
      <p:sp>
        <p:nvSpPr>
          <p:cNvPr id="7" name="action-rule-0">
            <a:extLst xmlns:a="http://schemas.openxmlformats.org/drawingml/2006/main">
              <a:ext uri="{FF2B5EF4-FFF2-40B4-BE49-F238E27FC236}">
                <a16:creationId xmlns:a16="http://schemas.microsoft.com/office/drawing/2014/main" id="{67A6DCA3-BA0D-484F-BB4D-38691D06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384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ction-no-1">
            <a:extLst xmlns:a="http://schemas.openxmlformats.org/drawingml/2006/main">
              <a:ext uri="{FF2B5EF4-FFF2-40B4-BE49-F238E27FC236}">
                <a16:creationId xmlns:a16="http://schemas.microsoft.com/office/drawing/2014/main" id="{E666643E-0C91-4691-AB79-2A966E07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9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88CFCA94-A7BC-45A7-AB84-F2D750F7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146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建立第二支点</a:t>
            </a:r>
          </a:p>
        </p:txBody>
      </p:sp>
      <p:sp>
        <p:nvSpPr>
          <p:cNvPr id="10" name="action-copy-1">
            <a:extLst xmlns:a="http://schemas.openxmlformats.org/drawingml/2006/main">
              <a:ext uri="{FF2B5EF4-FFF2-40B4-BE49-F238E27FC236}">
                <a16:creationId xmlns:a16="http://schemas.microsoft.com/office/drawing/2014/main" id="{AD9C535A-8B3D-4571-8921-54BD05E2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3372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1C9D3"/>
                </a:solidFill>
              </a:defRPr>
            </a:pPr>
            <a:r>
              <a:rPr sz="1350">
                <a:solidFill>
                  <a:srgbClr val="C1C9D3"/>
                </a:solidFill>
              </a:rPr>
              <a:t>华东、华南新增机会优先进入经营评审</a:t>
            </a:r>
          </a:p>
        </p:txBody>
      </p:sp>
      <p:sp>
        <p:nvSpPr>
          <p:cNvPr id="11" name="action-owner-1">
            <a:extLst xmlns:a="http://schemas.openxmlformats.org/drawingml/2006/main">
              <a:ext uri="{FF2B5EF4-FFF2-40B4-BE49-F238E27FC236}">
                <a16:creationId xmlns:a16="http://schemas.microsoft.com/office/drawing/2014/main" id="{6412F0E5-C273-4CC1-A3F5-B1FD5244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527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CC9A7"/>
                </a:solidFill>
              </a:defRPr>
            </a:pPr>
            <a:r>
              <a:rPr sz="1125" b="1">
                <a:solidFill>
                  <a:srgbClr val="4CC9A7"/>
                </a:solidFill>
              </a:rPr>
              <a:t>销售负责人</a:t>
            </a:r>
          </a:p>
        </p:txBody>
      </p:sp>
      <p:sp>
        <p:nvSpPr>
          <p:cNvPr id="12" name="action-rule-1">
            <a:extLst xmlns:a="http://schemas.openxmlformats.org/drawingml/2006/main">
              <a:ext uri="{FF2B5EF4-FFF2-40B4-BE49-F238E27FC236}">
                <a16:creationId xmlns:a16="http://schemas.microsoft.com/office/drawing/2014/main" id="{F733DA3E-B6F6-4C5F-BF3A-05080EE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909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tion-no-2">
            <a:extLst xmlns:a="http://schemas.openxmlformats.org/drawingml/2006/main">
              <a:ext uri="{FF2B5EF4-FFF2-40B4-BE49-F238E27FC236}">
                <a16:creationId xmlns:a16="http://schemas.microsoft.com/office/drawing/2014/main" id="{AF6F9DC6-44D9-4DA1-AC4E-B0F0AE97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A441"/>
                </a:solidFill>
              </a:defRPr>
            </a:pPr>
            <a:r>
              <a:rPr sz="2250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14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B37E0A48-6EFE-4CAA-8DCA-41FB57F7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672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统一经营口径</a:t>
            </a:r>
          </a:p>
        </p:txBody>
      </p:sp>
      <p:sp>
        <p:nvSpPr>
          <p:cNvPr id="15" name="action-copy-2">
            <a:extLst xmlns:a="http://schemas.openxmlformats.org/drawingml/2006/main">
              <a:ext uri="{FF2B5EF4-FFF2-40B4-BE49-F238E27FC236}">
                <a16:creationId xmlns:a16="http://schemas.microsoft.com/office/drawing/2014/main" id="{BD0F55D6-BA74-48AA-B3E7-12609CE4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862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1C9D3"/>
                </a:solidFill>
              </a:defRPr>
            </a:pPr>
            <a:r>
              <a:rPr sz="1350">
                <a:solidFill>
                  <a:srgbClr val="C1C9D3"/>
                </a:solidFill>
              </a:rPr>
              <a:t>每月同时复盘合同、交付、回款和风险</a:t>
            </a:r>
          </a:p>
        </p:txBody>
      </p:sp>
      <p:sp>
        <p:nvSpPr>
          <p:cNvPr id="16" name="action-owner-2">
            <a:extLst xmlns:a="http://schemas.openxmlformats.org/drawingml/2006/main">
              <a:ext uri="{FF2B5EF4-FFF2-40B4-BE49-F238E27FC236}">
                <a16:creationId xmlns:a16="http://schemas.microsoft.com/office/drawing/2014/main" id="{7BBC28AE-C6EB-48D2-B1E5-403EF97B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053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CC9A7"/>
                </a:solidFill>
              </a:defRPr>
            </a:pPr>
            <a:r>
              <a:rPr sz="1125" b="1">
                <a:solidFill>
                  <a:srgbClr val="4CC9A7"/>
                </a:solidFill>
              </a:rPr>
              <a:t>经营分析</a:t>
            </a:r>
          </a:p>
        </p:txBody>
      </p:sp>
      <p:sp>
        <p:nvSpPr>
          <p:cNvPr id="17" name="footer-7">
            <a:extLst xmlns:a="http://schemas.openxmlformats.org/drawingml/2006/main">
              <a:ext uri="{FF2B5EF4-FFF2-40B4-BE49-F238E27FC236}">
                <a16:creationId xmlns:a16="http://schemas.microsoft.com/office/drawing/2014/main" id="{C7A6F2A7-3BD7-4DA8-A088-B15652E1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792A2"/>
                </a:solidFill>
              </a:defRPr>
            </a:pPr>
            <a:r>
              <a:rPr sz="750">
                <a:solidFill>
                  <a:srgbClr val="8792A2"/>
                </a:solidFill>
              </a:rPr>
              <a:t>企业 AI 工作平台 · 决策材料</a:t>
            </a:r>
          </a:p>
        </p:txBody>
      </p:sp>
      <p:sp>
        <p:nvSpPr>
          <p:cNvPr id="18" name="page-7">
            <a:extLst xmlns:a="http://schemas.openxmlformats.org/drawingml/2006/main">
              <a:ext uri="{FF2B5EF4-FFF2-40B4-BE49-F238E27FC236}">
                <a16:creationId xmlns:a16="http://schemas.microsoft.com/office/drawing/2014/main" id="{3D65B67C-141B-4B9A-9A56-245962F3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792A2"/>
                </a:solidFill>
              </a:defRPr>
            </a:pPr>
            <a:r>
              <a:rPr sz="750">
                <a:solidFill>
                  <a:srgbClr val="8792A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7979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FECF6B48-9709-4C33-8A23-B86324C7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A74"/>
                </a:solidFill>
              </a:defRPr>
            </a:pPr>
            <a:r>
              <a:rPr sz="975" b="1">
                <a:solidFill>
                  <a:srgbClr val="1F5A74"/>
                </a:solidFill>
              </a:rPr>
              <a:t>MANAGEMENT DECISION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B1A9ADAB-56F5-40A3-A0AD-AA783B84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批准三项 90 天行动，</a:t>
            </a:r>
          </a:p>
          <a:p xmlns:a="http://schemas.openxmlformats.org/drawingml/2006/main">
            <a:pPr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把销售规模转化为可复制增长</a:t>
            </a:r>
          </a:p>
        </p:txBody>
      </p:sp>
      <p:sp>
        <p:nvSpPr>
          <p:cNvPr id="3" name="closing-asks">
            <a:extLst xmlns:a="http://schemas.openxmlformats.org/drawingml/2006/main">
              <a:ext uri="{FF2B5EF4-FFF2-40B4-BE49-F238E27FC236}">
                <a16:creationId xmlns:a16="http://schemas.microsoft.com/office/drawing/2014/main" id="{A7A772C8-1A31-4EC0-B90C-2590EB49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65568"/>
                </a:solidFill>
              </a:defRPr>
            </a:pPr>
            <a:r>
              <a:rPr sz="1650">
                <a:solidFill>
                  <a:srgbClr val="465568"/>
                </a:solidFill>
              </a:rPr>
              <a:t>需要确认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465568"/>
                </a:solidFill>
              </a:defRPr>
            </a:pPr>
            <a:r>
              <a:rPr sz="1650">
                <a:solidFill>
                  <a:srgbClr val="465568"/>
                </a:solidFill>
              </a:rPr>
              <a:t>• 北京项目双里程碑机制</a:t>
            </a:r>
          </a:p>
          <a:p xmlns:a="http://schemas.openxmlformats.org/drawingml/2006/main">
            <a:pPr>
              <a:defRPr sz="1650">
                <a:solidFill>
                  <a:srgbClr val="465568"/>
                </a:solidFill>
              </a:defRPr>
            </a:pPr>
            <a:r>
              <a:rPr sz="1650">
                <a:solidFill>
                  <a:srgbClr val="465568"/>
                </a:solidFill>
              </a:rPr>
              <a:t>• 华东与华南机会优先级</a:t>
            </a:r>
          </a:p>
          <a:p xmlns:a="http://schemas.openxmlformats.org/drawingml/2006/main">
            <a:pPr>
              <a:defRPr sz="1650">
                <a:solidFill>
                  <a:srgbClr val="465568"/>
                </a:solidFill>
              </a:defRPr>
            </a:pPr>
            <a:r>
              <a:rPr sz="1650">
                <a:solidFill>
                  <a:srgbClr val="465568"/>
                </a:solidFill>
              </a:rPr>
              <a:t>• 月度经营复盘统一口径</a:t>
            </a:r>
          </a:p>
        </p:txBody>
      </p:sp>
      <p:sp>
        <p:nvSpPr>
          <p:cNvPr id="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F45C688B-EC0F-4409-9175-79A72268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38250"/>
            <a:ext cx="1143000" cy="4000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A2A90DAB-A1D6-4E7D-9692-19D28DCF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企业 AI 工作平台 · 决策材料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8F55C472-A723-4C27-8A27-4E258A21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B95A5"/>
                </a:solidFill>
              </a:defRPr>
            </a:pPr>
            <a:r>
              <a:rPr sz="750">
                <a:solidFill>
                  <a:srgbClr val="8B95A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9462077"/>
      </p:ext>
    </p:extLst>
  </p:cSld>
</p:sld>
</file>

<file path=ppt/theme/theme1.xml><?xml version="1.0" encoding="utf-8"?>
<a:theme xmlns:a="http://schemas.openxmlformats.org/drawingml/2006/main" name="ChatGPT">
  <a:themeElements>
    <a:clrScheme name="Executive Finance">
      <a:dk1>
        <a:srgbClr val="0C121A"/>
      </a:dk1>
      <a:lt1>
        <a:srgbClr val="FFFFFF"/>
      </a:lt1>
      <a:dk2>
        <a:srgbClr val="17202B"/>
      </a:dk2>
      <a:lt2>
        <a:srgbClr val="E6EBF1"/>
      </a:lt2>
      <a:accent1>
        <a:srgbClr val="D9A441"/>
      </a:accent1>
      <a:accent2>
        <a:srgbClr val="4CC9A7"/>
      </a:accent2>
      <a:accent3>
        <a:srgbClr val="4F7CAC"/>
      </a:accent3>
      <a:accent4>
        <a:srgbClr val="D96C75"/>
      </a:accent4>
      <a:accent5>
        <a:srgbClr val="8B7EC8"/>
      </a:accent5>
      <a:accent6>
        <a:srgbClr val="76A5AF"/>
      </a:accent6>
      <a:hlink>
        <a:srgbClr val="86B7FE"/>
      </a:hlink>
      <a:folHlink>
        <a:srgbClr val="C3A6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xecutive Fina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2026-08-20T12:58:28.2970000Z</dcterms:created>
  <dcterms:modified xsi:type="dcterms:W3CDTF">2026-08-20T12:58:28.2970000Z</dcterms:modified>
</coreProperties>
</file>