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以上数据为行业演示参考值，实际效益因行业、企业规模、实施质量而异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7" y="530352"/>
            <a:ext cx="868679" cy="8686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660000">
            <a:off x="9601199" y="749808"/>
            <a:ext cx="1142999" cy="1143000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9" y="2971800"/>
            <a:ext cx="2468879" cy="24688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19" y="1874519"/>
            <a:ext cx="6492239" cy="2907792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1" y="1417320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EF5B3C"/>
                </a:solidFill>
                <a:latin typeface="Microsoft YaHei"/>
              </a:rPr>
              <a:t>创意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1" y="2139696"/>
            <a:ext cx="571499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7202B"/>
                </a:solidFill>
                <a:latin typeface="Microsoft YaHei UI"/>
              </a:rPr>
              <a:t>ERP 系统全面介绍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7" y="4123944"/>
            <a:ext cx="56235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D6470"/>
                </a:solidFill>
                <a:latin typeface="Microsoft YaHei"/>
              </a:rPr>
              <a:t>面向管理者与业务负责人的 ERP 系统全面指南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7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470"/>
                </a:solidFill>
                <a:latin typeface="Microsoft YaHei"/>
              </a:rPr>
              <a:t>企业 AI 工作助手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ERP 是什么：企业数字化的核心引擎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ERP 是企业资源计划系统的简称，通过集成核心业务流程实现数据共享与流程协同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202B"/>
                </a:solidFill>
                <a:latin typeface="Microsoft YaHei UI"/>
              </a:rPr>
              <a:t>ERP 不仅是软件系统，更是企业管理理念和运营模式的数字化载体——它帮助企业实现从"经验驱动"到"数据驱动"的根本转变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470"/>
                </a:solidFill>
                <a:latin typeface="Microsoft YaHei"/>
              </a:rPr>
              <a:t>ERP 是企业资源计划系统的简称，通过集成核心业务流程实现数据共享与流程协同  ·  ERP 的核心特征 — ERP 的核心特征包括：统一数据库（消除信息孤岛）、流程标准化（固化最佳实践）、实时协同（跨部门数据共享）、全面覆盖（贯穿企业全业务链条）。这些特性使 ERP 成为企业数字化转型的基础设施。  ·  ERP 的现代定位 — 现代 ERP 已超越传统的事务处理系统，发展为支持战略决策的智能平台。通过内置的 BI 分析工具、AI 辅助功能和开放 API 生态，ERP 正在从"记录系统"向"智能系统"演进，成为企业数字化的核心引擎。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ERP 演进：四十年技术跃迁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从 MRP 到云原生智能 ERP，系统能力持续演进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02</a:t>
            </a:r>
          </a:p>
        </p:txBody>
      </p:sp>
      <p:sp>
        <p:nvSpPr>
          <p:cNvPr id="14" name="Chevron 13"/>
          <p:cNvSpPr/>
          <p:nvPr/>
        </p:nvSpPr>
        <p:spPr>
          <a:xfrm>
            <a:off x="640079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1960s MRP 萌芽期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1960s 库存控制与物料需求计划，解决制造企业的物料管理问题，MRP 概念初步形成</a:t>
            </a:r>
          </a:p>
        </p:txBody>
      </p:sp>
      <p:sp>
        <p:nvSpPr>
          <p:cNvPr id="18" name="Chevron 17"/>
          <p:cNvSpPr/>
          <p:nvPr/>
        </p:nvSpPr>
        <p:spPr>
          <a:xfrm>
            <a:off x="2849270" y="2926080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2150" y="312724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73075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1980s MRP II 成型期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150" y="444398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1970s-1980s MRP II 将生产、采购、财务等模块集成，定义 ERP 核心功能边界，实现制造业全流程管理</a:t>
            </a:r>
          </a:p>
        </p:txBody>
      </p:sp>
      <p:sp>
        <p:nvSpPr>
          <p:cNvPr id="22" name="Chevron 21"/>
          <p:cNvSpPr/>
          <p:nvPr/>
        </p:nvSpPr>
        <p:spPr>
          <a:xfrm>
            <a:off x="5058460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1340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1340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1990s ERP 时代开启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1340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1990s Gartner 正式提出 ERP 概念，系统突破制造业边界，拓展至全行业资源计划管理</a:t>
            </a:r>
          </a:p>
        </p:txBody>
      </p:sp>
      <p:sp>
        <p:nvSpPr>
          <p:cNvPr id="26" name="Chevron 25"/>
          <p:cNvSpPr/>
          <p:nvPr/>
        </p:nvSpPr>
        <p:spPr>
          <a:xfrm>
            <a:off x="7267651" y="2926080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0531" y="312724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373075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2000s 企业级 ERP 成熟期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1" y="444398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2000s 企业规模扩张推动 ERP 功能深化，支持多组织、多币种、多语言全球化运营能力</a:t>
            </a:r>
          </a:p>
        </p:txBody>
      </p:sp>
      <p:sp>
        <p:nvSpPr>
          <p:cNvPr id="30" name="Chevron 29"/>
          <p:cNvSpPr/>
          <p:nvPr/>
        </p:nvSpPr>
        <p:spPr>
          <a:xfrm>
            <a:off x="9476841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9721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2010s-今 云 ERP 智能时代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9721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2010s至今 SaaS 云部署、移动化、AI 智能分析成为主流，ERP 进入云原生与智能时代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痛点分析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管理者的核心痛点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信息孤岛、流程断裂、数据滞后是企业管理的典型痛点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" y="181051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1792224"/>
            <a:ext cx="9555479" cy="4709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02B"/>
                </a:solidFill>
                <a:latin typeface="Microsoft YaHei"/>
              </a:rPr>
              <a:t>信息孤岛严重 — 各部门使用独立系统，数据无法互通，形成信息孤岛，管理者难以获取企业整体运营视图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1" y="2263139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" y="2354579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1" y="2336291"/>
            <a:ext cx="9555479" cy="4709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02B"/>
                </a:solidFill>
                <a:latin typeface="Microsoft YaHei"/>
              </a:rPr>
              <a:t>业务流程断裂 — 跨部门流程依赖人工传递，审批链路冗长，业务节点衔接不畅，效率低下且易出错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1" y="2807207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1" y="28986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2880360"/>
            <a:ext cx="9555479" cy="4709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02B"/>
                </a:solidFill>
                <a:latin typeface="Microsoft YaHei"/>
              </a:rPr>
              <a:t>数据滞后失真 — 财务报表、库存数据、销售统计存在 T+1 甚至更长时间延迟，无法支持实时决策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3351276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3442716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3424428"/>
            <a:ext cx="9555479" cy="4709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02B"/>
                </a:solidFill>
                <a:latin typeface="Microsoft YaHei"/>
              </a:rPr>
              <a:t>协同效率低下 — 订单状态、库存水平、产能进度散落在各处，响应客户需求速度慢，竞争力下降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3895344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3986783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3968496"/>
            <a:ext cx="9555479" cy="4709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02B"/>
                </a:solidFill>
                <a:latin typeface="Microsoft YaHei"/>
              </a:rPr>
              <a:t>数据口径混乱 — 不同人员导出相同数据结果不一致，缺少统一口径和数据来源，信任成本高昂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443941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4530851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4512564"/>
            <a:ext cx="9555479" cy="4709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02B"/>
                </a:solidFill>
                <a:latin typeface="Microsoft YaHei"/>
              </a:rPr>
              <a:t>手工操作繁重 — 大量依赖 Excel 手工汇总，重复录入多，错误率高，人力成本浪费严重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53311" y="4983479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1" y="5074919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1" y="5056631"/>
            <a:ext cx="9555479" cy="4709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02B"/>
                </a:solidFill>
                <a:latin typeface="Microsoft YaHei"/>
              </a:rPr>
              <a:t>缺乏数据分析能力 — 缺乏历史数据积累和分析能力，无法做趋势预测，决策靠经验而非数据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53311" y="5527547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3231" y="56189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1" y="5600700"/>
            <a:ext cx="9555479" cy="4709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02B"/>
                </a:solidFill>
                <a:latin typeface="Microsoft YaHei"/>
              </a:rPr>
              <a:t>补充要点 — 扩展灵活性不足 — 新业务、新系统上线时，现有系统难以快速适配，IT 响应成为业务瓶颈；组织变革阻力 — 员工操作习惯固化，对新系统抵触情绪强，变革阻力大，项目推进困难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财务模块：业财一体化的中枢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总账、应收应付、成本、预算、资金管理一体化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" y="1792224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" y="1792224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传统财务模式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手工制单繁琐 — 手工录入凭证，依赖 Excel 汇总报表，耗时长且易出错，月结需要数天甚至数周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业财数据脱节 — 业务系统与财务系统分离，业务发生与财务入账存在时间差，对账困难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成本核算粗放 — 成本分摊依赖人工计算规则，准确性低，难以支撑精细化成本分析需求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1" y="1792224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1" y="1792224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ERP 财务一体化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5E8"/>
                </a:solidFill>
                <a:latin typeface="Microsoft YaHei"/>
              </a:rPr>
              <a:t>业务驱动自动凭证 — 业务单据自动生成会计凭证，销售开票、采购入库、生产领料等业务实时生成财务记录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5E8"/>
                </a:solidFill>
                <a:latin typeface="Microsoft YaHei"/>
              </a:rPr>
              <a:t>业财数据实时同步 — 统一数据源，所有业务数据实时同步至财务系统，三单匹配（订单/收货/发票）自动化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精细化成本核算 — 多维度成本归集（产品、部门、项目、客户），支持标准成本与实际成本双轨核算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供应链管理：从采购到交付的闭环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采购到付款全流程自动化，库存周转优化 20-30%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采购管理 (P2P)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建立合格供应商库，实现从采购申请、询价比价、订单下达、收货验收到付款结算的全流程管理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库存管理 (WMS)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实时库存监控与安全库存预警，智能补货建议，先进先出/批次管理，降低库存积压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追溯与合规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完整追溯物料来源与去向，支持批次、序列号、有效期管理，满足审计合规要求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采购分析与决策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供应商绩效评估、价格趋势分析、采购异常预警，持续优化供应链效率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生产制造：精益计划的执行引擎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BOM 管理、MRP 运算、车间执行全链路覆盖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物料清单 (BOM) 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多层级 BOM 管理（设计 BOM→制造 BOM→服务 BOM），支持变型 BOM 与配置管理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物料需求计划 (MRP)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根据销售订单、库存状况、在制情况自动运算物料需求，生成采购建议与生产计划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车间执行 (MES)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生产工单派发、工序报工、产能平衡、设备维护管理，实现车间透明化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成本分析与改善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标准成本与实际成本对比分析，生产效率追踪，支持持续改善与精益生产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销售与客户管理：增长驱动的引擎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从报价到回款，客户生命周期全周期管理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" y="1792224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" y="1792224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传统销售管理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订单管理混乱 — 销售订单分散在邮件、微信、Excel 中，缺乏统一入口和标准化流程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客户资产流失风险 — 销售人员各自为战，客户资源私有化，人员离职导致客户流失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价格管控困难 — 报价审批链条长，价格体系不透明，低价竞争或利润流失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1" y="1792224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1" y="1792224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ERP 销售管理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端到端订单管理 — 从商机→报价→订单→发货→开票→回款全流程数字化，状态实时可追溯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客户资产管理 (CRM) — 客户信息统一存储，客户分级管理，销售机会与生命周期全程记录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智能定价与管控 — 基于产品、客户、区域的多级定价策略，折扣审批流自动化，保障利润底线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人力资源：人才资产的系统化管理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组织架构、薪酬、绩效、招聘一体化 HR 管理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核心人事 (HRM)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员工从入职到离职的全生命周期管理，涵盖档案、合同、考勤、休假等基础人事事务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薪酬福利管理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基于岗位、职级、绩效的薪酬体系，自动化计算社保公积金、个税及各类补贴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绩效管理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目标分解、过程跟踪、绩效评估、改进反馈的完整闭环，支持 OKR/KPI 等多种模式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招聘与人才发展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招聘需求管理、简历筛选、面试安排、录用审批全流程数字化，降低人力成本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数据分析：从报表到智能决策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实时看板、智能预测、多维钻取支持科学决策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09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79" y="1792224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089"/>
                <a:gridCol w="3152042"/>
                <a:gridCol w="2311497"/>
                <a:gridCol w="2101361"/>
                <a:gridCol w="1681089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分析维度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核心指标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价值输出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财务分析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营收、毛利率、费用率、现金流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总账、应收应付、预算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经营分析会、月度复盘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识别盈利驱动因素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供应链分析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库存周转率、采购准时率、缺货率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采购、库存、销售订单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供应链优化、备货决策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降低库存占用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生产分析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OEE、计划达成率、一次合格率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生产工单、报工、质检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精益改善、产能规划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提升制造效率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销售分析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销售额、客单价、客户留存率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销售订单、CRM、发票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客户分层、销售策略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驱动收入增长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人力分析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人均产出、离职率、人力成本占比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HRM、薪酬、绩效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组织效能评估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优化人才策略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协同机制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跨模块协同：打破部门墙的价值实现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销售→计划→采购→生产→财务，端到端流程无缝衔接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202B"/>
                </a:solidFill>
                <a:latin typeface="Microsoft YaHei UI"/>
              </a:rPr>
              <a:t>跨模块协同是 ERP 区别于孤立系统管理的核心价值，也是数字化转型的关键抓手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470"/>
                </a:solidFill>
                <a:latin typeface="Microsoft YaHei"/>
              </a:rPr>
              <a:t>销售→计划→采购→生产→财务，端到端流程无缝衔接  ·  成功实施的关键要素 — 关键成功要素：统一主数据标准、明确流程责任边界、建立跨部门协作机制、选择支持灵活配置的平台。管理层应主导跨部门流程梳理，确保 ERP 实施能够真正打通部门壁垒，实现业务流程的端到端优化。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业务价值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业务价值：可量化的效率提升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演示数据：平均库存下降 25%，订单交付周期缩短 30%，财务月结时间从 10 天缩短至 3 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" y="1792224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" y="1792224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实施前基准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财务月结 — 手工汇总报表，月结需 10 个工作日，数据滞后严重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库存管理 — 库存积压与缺货并存，库存周转天数约 45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订单交付周期 — 订单从接收到交付平均需要 15 天，存在较多等待时间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4718304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99" y="4626864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采购效率 — 采购依赖人工询价比价，采购周期长，成本不透明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" y="53218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599" y="52303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生产计划执行 — 生产计划与执行脱节，计划达成率约 70%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1" y="1792224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1" y="1792224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实施后目标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财务月结 — 凭证自动生成，月结缩短至 3 天，报表实时可用（演示数据，实际效果因企业而异）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3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库存管理 — 精准需求预测与安全库存设定，库存周转优化 20-30%（演示数据，实际效果因企业而异）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3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订单交付周期 — 端到端订单跟踪，交付周期缩短 25-35%（演示数据，实际效果因企业而异）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3" y="4718304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39" y="4626864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采购效率 — 供应商门户与电子招投标，采购效率提升 30%（演示数据，实际效果因企业而异）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3" y="53218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39" y="52303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5E8"/>
                </a:solidFill>
                <a:latin typeface="Microsoft YaHei"/>
              </a:rPr>
              <a:t>生产计划执行 — MRP 自动运算与车间透明化，计划达成率提升至 90%+（演示数据，实际效果因企业而异）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管理对比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传统管理 vs ERP 管理模式对比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手工 Excel 到 ERP 自动化的管理范式转变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79" y="1792224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928"/>
                <a:gridCol w="3952348"/>
                <a:gridCol w="3254874"/>
                <a:gridCol w="1859928"/>
              </a:tblGrid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管理维度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传统管理模式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ERP 管理模式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核心差异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数据管理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分散在各系统/Excel，重复录入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统一数据库，一次录入全局共享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数据一致性保障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流程管理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人工传递，审批链条冗长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流程自动化，节点状态实时可视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流程效率提升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决策支持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事后报表，T+1 或更滞后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实时看板，支持即时分析决策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决策时效性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协同方式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部门壁垒，信息孤岛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跨部门流程打通，端到端协同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组织协同效率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成本控制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粗放核算，难以精细化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多维度成本归集，精准成本分析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成本管控能力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风险管理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依赖人工检查，漏洞多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系统内置控制点，自动预警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风险防控能力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实施方法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ERP 实施方法论：分阶段稳健推进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准备→规划→实施→上线→优化，五阶段标准化路径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13</a:t>
            </a:r>
          </a:p>
        </p:txBody>
      </p:sp>
      <p:sp>
        <p:nvSpPr>
          <p:cNvPr id="14" name="Chevron 13"/>
          <p:cNvSpPr/>
          <p:nvPr/>
        </p:nvSpPr>
        <p:spPr>
          <a:xfrm>
            <a:off x="640079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第一阶段：项目准备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明确实施目标、范围、预算与时间计划，组建项目团队，完成供应商选型与合同签订</a:t>
            </a:r>
          </a:p>
        </p:txBody>
      </p:sp>
      <p:sp>
        <p:nvSpPr>
          <p:cNvPr id="18" name="Chevron 17"/>
          <p:cNvSpPr/>
          <p:nvPr/>
        </p:nvSpPr>
        <p:spPr>
          <a:xfrm>
            <a:off x="2849270" y="2926080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2150" y="312724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73075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第二阶段：规划与设计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150" y="444398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业务流程梳理与优化、系统蓝图设计、主数据标准制定、差异化需求分析</a:t>
            </a:r>
          </a:p>
        </p:txBody>
      </p:sp>
      <p:sp>
        <p:nvSpPr>
          <p:cNvPr id="22" name="Chevron 21"/>
          <p:cNvSpPr/>
          <p:nvPr/>
        </p:nvSpPr>
        <p:spPr>
          <a:xfrm>
            <a:off x="5058460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1340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1340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第三阶段：系统实现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1340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系统配置开发、单元测试、集成测试、用户培训、数据迁移准备</a:t>
            </a:r>
          </a:p>
        </p:txBody>
      </p:sp>
      <p:sp>
        <p:nvSpPr>
          <p:cNvPr id="26" name="Chevron 25"/>
          <p:cNvSpPr/>
          <p:nvPr/>
        </p:nvSpPr>
        <p:spPr>
          <a:xfrm>
            <a:off x="7267651" y="2926080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0531" y="312724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373075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第四阶段：上线切换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1" y="444398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系统上线切换、并行运行验证、问题修复、用户支持与知识转移</a:t>
            </a:r>
          </a:p>
        </p:txBody>
      </p:sp>
      <p:sp>
        <p:nvSpPr>
          <p:cNvPr id="30" name="Chevron 29"/>
          <p:cNvSpPr/>
          <p:nvPr/>
        </p:nvSpPr>
        <p:spPr>
          <a:xfrm>
            <a:off x="9476841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9721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第五阶段：持续优化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9721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持续优化改进、新功能扩展、系统性能调优、经验总结与推广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实施方法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选型关键维度：四大评估视角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功能匹配度、技术架构、厂商实力、总体拥有成本四大维度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功能匹配度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评估系统功能是否满足企业核心业务需求，重点关注行业适配性、流程灵活性、扩展能力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技术架构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评估技术架构的先进性、开放性、安全性，是否支持云部署、API 集成、移动化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厂商实力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评估厂商的行业经验、成功案例、实施能力、产品路线图、服务响应速度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总体拥有成本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评估总拥有成本（TCO），包括软件许可、实施服务、运维成本、升级费用等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实施基础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数据治理：ERP 成功的基石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主数据标准、数据迁移策略、数据质量治理体系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主数据标准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统一物料编码、客户/供应商编码、会计科目等主数据标准，确保数据一致性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数据迁移策略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制定完整的数据清洗、映射、验证和迁移计划，确保历史数据准确导入新系统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数据质量治理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建立数据质量监控机制，包括完整性、准确性、一致性校验规则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数据治理组织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明确数据所有权和责任归属，建立数据维护流程和变更管理机制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风险规避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常见失败风险与规避策略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需求蔓延、变革阻力、数据质量差是前三大失败原因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需求蔓延风险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在项目实施过程中不断追加新功能需求，导致范围蔓延、工期延误、成本超支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变革阻力风险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员工习惯原有工作方式，对新系统抵触，培训不到位导致使用效率低下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数据质量风险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历史数据不完整、不准确、不统一，迁移后系统无法正常运行或决策失真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项目管理风险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项目团队经验不足，实施方法论不成熟，关键节点把控不力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趋势展望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云 ERP 与 AI 趋势：下一代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SaaS 模式降低 TCO，AI 智能体正在重塑 ERP 交互方式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" y="1792224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" y="1792224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传统 ERP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基础设施投入大 — 本地部署，需要购买服务器、存储、网络等硬件基础设施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升级周期长 — 升级需要停机维护，新版本功能迭代慢，功能更新周期长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集成扩展受限 — 系统架构封闭，与其他系统集成困难，定制化开发成本高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4718304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99" y="4626864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交互方式传统 — 功能固定，需要用户主动操作才能获取信息，缺乏智能辅助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1792224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1792224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云 ERP +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云端 SaaS 部署 — SaaS 订阅模式，按需付费，无需自建基础设施，TCO 降低 40-60%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持续快速迭代 — 持续更新，每月/每季度自动获得新功能，无需停机维护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3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开放生态集成 — 开放 API 生态，轻松对接 CRM、MES、BI 等系统，构建数字化生态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3" y="4718304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39" y="4626864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AI 智能增强 — AI 智能助手支持自然语言交互，智能推荐、异常预警、自动生成报告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行动建议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管理层行动建议：三步启动数字化转型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分步实施、一把手工程、持续优化是成功三要素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" y="181051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1792224"/>
            <a:ext cx="9555479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02B"/>
                </a:solidFill>
                <a:latin typeface="Microsoft YaHei"/>
              </a:rPr>
              <a:t>第一步：分步实施，价值驱动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1" y="2157984"/>
            <a:ext cx="9555479" cy="8503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D6470"/>
                </a:solidFill>
                <a:latin typeface="Microsoft YaHei"/>
              </a:rPr>
              <a:t>从痛点最明显、价值最高的模块入手（如财务或供应链），快速验证效果，建立信心后再逐步扩展到其他模块，避免一次性大规模实施的风险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53311" y="304495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1" y="313639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1" y="3118104"/>
            <a:ext cx="9555479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02B"/>
                </a:solidFill>
                <a:latin typeface="Microsoft YaHei"/>
              </a:rPr>
              <a:t>第二步：一把手工程，组织保障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1" y="3483864"/>
            <a:ext cx="9555479" cy="8503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D6470"/>
                </a:solidFill>
                <a:latin typeface="Microsoft YaHei"/>
              </a:rPr>
              <a:t>ERP 项目涉及跨部门流程重构，需要一把手亲自挂帅，统筹资源，推动变革；建立项目治理机制，确保决策效率和执行力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53311" y="437083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1" y="4462271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1" y="4443983"/>
            <a:ext cx="9555479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02B"/>
                </a:solidFill>
                <a:latin typeface="Microsoft YaHei"/>
              </a:rPr>
              <a:t>第三步：持续优化，动态演进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4809744"/>
            <a:ext cx="9555479" cy="8503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D6470"/>
                </a:solidFill>
                <a:latin typeface="Microsoft YaHei"/>
              </a:rPr>
              <a:t>系统上线不是终点，而是起点。建立持续优化机制，根据业务变化不断调整流程和功能，将 ERP 作为持续改进的平台而非一次性项目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结语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总结：ERP 是企业迈向智能化的必由之路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选择合适时机，坚定推进，拥抱变化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ERP 定义与定位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ERP 已从单一的财务管理工具演变为企业数字化转型的核心平台，覆盖财务、供应链、生产、销售、人力等全业务领域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核心价值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通过打破信息孤岛、优化业务流程、实现数据共享，ERP 帮助企业解决管理痛点，提升运营效率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实施要点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成功的 ERP 实施需要科学的方法论、周密的规划、数据治理的支撑和风险的有效规避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未来趋势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云 ERP 和 AI 技术的融合正在重塑 ERP 的未来形态，为企业带来更低成本、更强能力、更优体验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7" y="530352"/>
            <a:ext cx="868679" cy="8686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660000">
            <a:off x="9601199" y="749808"/>
            <a:ext cx="1142999" cy="1143000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9" y="2971800"/>
            <a:ext cx="2468879" cy="24688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19" y="1874519"/>
            <a:ext cx="6492239" cy="2907792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1" y="2139696"/>
            <a:ext cx="571499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7202B"/>
                </a:solidFill>
                <a:latin typeface="Microsoft YaHei UI"/>
              </a:rPr>
              <a:t>总结与下一步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7" y="3657600"/>
            <a:ext cx="562355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D6470"/>
                </a:solidFill>
                <a:latin typeface="Microsoft YaHei"/>
              </a:rPr>
              <a:t>将共识转化为可执行行动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7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D6470"/>
                </a:solidFill>
                <a:latin typeface="Microsoft YaHei"/>
              </a:rPr>
              <a:t>孟菲斯创意  ·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系统全面介绍</dc:title>
  <dc:subject>由企业 AI 工作平台基于语义页面角色与自适应模板生成</dc:subject>
  <dc:creator/>
  <cp:keywords>template=memphis-studio;layout_family=premium;schema=presentation_spec.v2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