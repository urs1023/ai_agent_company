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51742587dad445b" /><Relationship Type="http://schemas.openxmlformats.org/officeDocument/2006/relationships/extended-properties" Target="/docProps/app.xml" Id="R4cf205469d6a422b" /><Relationship Type="http://schemas.openxmlformats.org/officeDocument/2006/relationships/officeDocument" Target="/ppt/presentation.xml" Id="R28f2a79047344a3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dada8cadebc4267"/>
    <p:sldMasterId xmlns:r="http://schemas.openxmlformats.org/officeDocument/2006/relationships" id="2147483650" r:id="R78b23ecf02d145e6"/>
  </p:sldMasterIdLst>
  <p:notesMasterIdLst>
    <p:notesMasterId xmlns:r="http://schemas.openxmlformats.org/officeDocument/2006/relationships" r:id="R75263f3edf9949a0"/>
  </p:notesMasterIdLst>
  <p:sldIdLst>
    <p:sldId xmlns:r="http://schemas.openxmlformats.org/officeDocument/2006/relationships" id="256" r:id="R199b74fde96547e7"/>
    <p:sldId xmlns:r="http://schemas.openxmlformats.org/officeDocument/2006/relationships" id="257" r:id="Re36694e8713f4cab"/>
    <p:sldId xmlns:r="http://schemas.openxmlformats.org/officeDocument/2006/relationships" id="258" r:id="R62b592ac34f34406"/>
    <p:sldId xmlns:r="http://schemas.openxmlformats.org/officeDocument/2006/relationships" id="259" r:id="R5a7b02a19f594f8f"/>
    <p:sldId xmlns:r="http://schemas.openxmlformats.org/officeDocument/2006/relationships" id="260" r:id="Rad8f432e5a424c6e"/>
    <p:sldId xmlns:r="http://schemas.openxmlformats.org/officeDocument/2006/relationships" id="261" r:id="Ra548f73259eb46c5"/>
    <p:sldId xmlns:r="http://schemas.openxmlformats.org/officeDocument/2006/relationships" id="262" r:id="R6ac9be0631934900"/>
    <p:sldId xmlns:r="http://schemas.openxmlformats.org/officeDocument/2006/relationships" id="263" r:id="R527e6ebc69bd4f5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7f85e8225f0402e" /><Relationship Type="http://schemas.openxmlformats.org/officeDocument/2006/relationships/slideMaster" Target="/ppt/slideMasters/slideMaster1.xml" Id="Rbdada8cadebc4267" /><Relationship Type="http://schemas.openxmlformats.org/officeDocument/2006/relationships/slideMaster" Target="/ppt/slideMasters/slideMaster2.xml" Id="R78b23ecf02d145e6" /><Relationship Type="http://schemas.openxmlformats.org/officeDocument/2006/relationships/notesMaster" Target="/ppt/notesMasters/notesMaster1.xml" Id="R75263f3edf9949a0" /><Relationship Type="http://schemas.openxmlformats.org/officeDocument/2006/relationships/presProps" Target="/ppt/presProps.xml" Id="Rc7e28bb0c9024331" /><Relationship Type="http://schemas.openxmlformats.org/officeDocument/2006/relationships/tableStyles" Target="/ppt/tableStyles.xml" Id="R494c1e4e3f7143e3" /><Relationship Type="http://schemas.openxmlformats.org/officeDocument/2006/relationships/slide" Target="/ppt/slides/slide1.xml" Id="R199b74fde96547e7" /><Relationship Type="http://schemas.openxmlformats.org/officeDocument/2006/relationships/slide" Target="/ppt/slides/slide2.xml" Id="Re36694e8713f4cab" /><Relationship Type="http://schemas.openxmlformats.org/officeDocument/2006/relationships/slide" Target="/ppt/slides/slide3.xml" Id="R62b592ac34f34406" /><Relationship Type="http://schemas.openxmlformats.org/officeDocument/2006/relationships/slide" Target="/ppt/slides/slide4.xml" Id="R5a7b02a19f594f8f" /><Relationship Type="http://schemas.openxmlformats.org/officeDocument/2006/relationships/slide" Target="/ppt/slides/slide5.xml" Id="Rad8f432e5a424c6e" /><Relationship Type="http://schemas.openxmlformats.org/officeDocument/2006/relationships/slide" Target="/ppt/slides/slide6.xml" Id="Ra548f73259eb46c5" /><Relationship Type="http://schemas.openxmlformats.org/officeDocument/2006/relationships/slide" Target="/ppt/slides/slide7.xml" Id="R6ac9be0631934900" /><Relationship Type="http://schemas.openxmlformats.org/officeDocument/2006/relationships/slide" Target="/ppt/slides/slide8.xml" Id="R527e6ebc69bd4f5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b2032982927f4a0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ChatGPT">
  <a:themeElements>
    <a:clrScheme name="Lingyun Smart Building">
      <a:dk1>
        <a:srgbClr val="171212"/>
      </a:dk1>
      <a:lt1>
        <a:srgbClr val="FFFFFF"/>
      </a:lt1>
      <a:dk2>
        <a:srgbClr val="382D2D"/>
      </a:dk2>
      <a:lt2>
        <a:srgbClr val="EFE8DE"/>
      </a:lt2>
      <a:accent1>
        <a:srgbClr val="9D2C2C"/>
      </a:accent1>
      <a:accent2>
        <a:srgbClr val="D8B46A"/>
      </a:accent2>
      <a:accent3>
        <a:srgbClr val="335C81"/>
      </a:accent3>
      <a:accent4>
        <a:srgbClr val="5A7D68"/>
      </a:accent4>
      <a:accent5>
        <a:srgbClr val="7B5D87"/>
      </a:accent5>
      <a:accent6>
        <a:srgbClr val="8B6F47"/>
      </a:accent6>
      <a:hlink>
        <a:srgbClr val="9D2C2C"/>
      </a:hlink>
      <a:folHlink>
        <a:srgbClr val="7B5D87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Lingyun Smart Building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c0a0792f2d1424b" /><Relationship Type="http://schemas.openxmlformats.org/officeDocument/2006/relationships/notesMaster" Target="/ppt/notesMasters/notesMaster1.xml" Id="R56a4461a834240b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464bf6211ef436a" /><Relationship Type="http://schemas.openxmlformats.org/officeDocument/2006/relationships/notesMaster" Target="/ppt/notesMasters/notesMaster1.xml" Id="Rd167ec07d6cb434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c82471b64784f44" /><Relationship Type="http://schemas.openxmlformats.org/officeDocument/2006/relationships/notesMaster" Target="/ppt/notesMasters/notesMaster1.xml" Id="Rc581ce7c99ed4bb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757922e7cd4492c" /><Relationship Type="http://schemas.openxmlformats.org/officeDocument/2006/relationships/notesMaster" Target="/ppt/notesMasters/notesMaster1.xml" Id="R0540cb719576475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56b240b8afe4a86" /><Relationship Type="http://schemas.openxmlformats.org/officeDocument/2006/relationships/notesMaster" Target="/ppt/notesMasters/notesMaster1.xml" Id="Rc915092894704ab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97ff4174fe24468" /><Relationship Type="http://schemas.openxmlformats.org/officeDocument/2006/relationships/notesMaster" Target="/ppt/notesMasters/notesMaster1.xml" Id="Rb818fae330fd46a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44f58c90e584f2f" /><Relationship Type="http://schemas.openxmlformats.org/officeDocument/2006/relationships/notesMaster" Target="/ppt/notesMasters/notesMaster1.xml" Id="Rc7badb63e99d4b4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0a7c1b86db34a46" /><Relationship Type="http://schemas.openxmlformats.org/officeDocument/2006/relationships/notesMaster" Target="/ppt/notesMasters/notesMaster1.xml" Id="Rc4294c742704421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E:/code/python_f/111/test5/backend/e2e_ac.py</a:t>
            </a:r>
          </a:p>
          <a:p xmlns:a="http://schemas.openxmlformats.org/drawingml/2006/main">
            <a:r>
              <a:t>- Method: Tender scope, qualification requirements, scoring and company evidence are taken from the local acceptance fixture.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E:/code/python_f/111/test5/backend/e2e_ac.py</a:t>
            </a:r>
          </a:p>
          <a:p xmlns:a="http://schemas.openxmlformats.org/drawingml/2006/main">
            <a:r>
              <a:t>- Method: Recommendation is based on stated qualification fit; no award probability is asserted.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E:/code/python_f/111/test5/backend/e2e_ac.py</a:t>
            </a:r>
          </a:p>
          <a:p xmlns:a="http://schemas.openxmlformats.org/drawingml/2006/main">
            <a:r>
              <a:t>- Method: Compliance status follows the supplied tender and company qualification fixture.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E:/code/python_f/111/test5/backend/e2e_ac.py</a:t>
            </a:r>
          </a:p>
          <a:p xmlns:a="http://schemas.openxmlformats.org/drawingml/2006/main">
            <a:r>
              <a:t>- Method: Score weights are directly stated in the tender fixture.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E:/code/python_f/111/test5/backend/e2e_ac.py</a:t>
            </a:r>
          </a:p>
          <a:p xmlns:a="http://schemas.openxmlformats.org/drawingml/2006/main">
            <a:r>
              <a:t>- Method: The fixture states a 180-day total duration; phase allocation is a proposed delivery plan, not historical performance.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E:/code/python_f/111/test5/backend/e2e_ac.py</a:t>
            </a:r>
          </a:p>
          <a:p xmlns:a="http://schemas.openxmlformats.org/drawingml/2006/main">
            <a:r>
              <a:t>- Method: The fixture names weak current, security, and BA automation scope; architecture is a proposed solution structure.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E:/code/python_f/111/test5/backend/e2e_ac.py</a:t>
            </a:r>
          </a:p>
          <a:p xmlns:a="http://schemas.openxmlformats.org/drawingml/2006/main">
            <a:r>
              <a:t>- Method: Risk controls are proposed from the stated qualifications, scope, duration and scoring model.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E:/code/python_f/111/test5/backend/e2e_ac.py</a:t>
            </a:r>
          </a:p>
          <a:p xmlns:a="http://schemas.openxmlformats.org/drawingml/2006/main">
            <a:r>
              <a:t>- Method: Approval asks are proposed actions based on the fixture and analysis.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6fb817fadb48f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16d94d303394dd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066ebcb2bc344e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>
  <p:cSld name="Client Cov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5CE1F963-6407-4574-9B05-20E6F8BD00F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800100" y="3371850"/>
            <a:ext cx="80962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E6060"/>
                </a:solidFill>
              </a:defRPr>
            </a:pPr>
            <a:r>
              <a:rPr sz="1650">
                <a:solidFill>
                  <a:srgbClr val="6E6060"/>
                </a:solidFill>
              </a:rPr>
              <a:t>副标题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>
  <p:cSld name="Client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8ED6DA3A-A842-4CEF-8B0F-5941FE3BDCD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3900" y="1428750"/>
            <a:ext cx="10668000" cy="4524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B4141"/>
                </a:solidFill>
              </a:defRPr>
            </a:pPr>
            <a:r>
              <a:rPr sz="1500">
                <a:solidFill>
                  <a:srgbClr val="4B4141"/>
                </a:solidFill>
              </a:rPr>
              <a:t>正文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4d6f1f876024d64" /><Relationship Type="http://schemas.openxmlformats.org/officeDocument/2006/relationships/slideLayout" Target="/ppt/slideLayouts/slideLayout1.xml" Id="R9d24bcd98e264686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53562f64cc654665" /><Relationship Type="http://schemas.openxmlformats.org/officeDocument/2006/relationships/slideLayout" Target="/ppt/slideLayouts/slideLayout2.xml" Id="Rad7e00abf9e94881" /><Relationship Type="http://schemas.openxmlformats.org/officeDocument/2006/relationships/slideLayout" Target="/ppt/slideLayouts/slideLayout3.xml" Id="Recd41f0481cf472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d24bcd98e26468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凌云智建 Brand Master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ad7e00abf9e94881"/>
    <p:sldLayoutId xmlns:r="http://schemas.openxmlformats.org/officeDocument/2006/relationships" id="2147483652" r:id="Recd41f0481cf4728"/>
  </p:sldLayoutIdLst>
</p:sldMaster>
</file>

<file path=ppt/slideMasters/theme/theme2.xml><?xml version="1.0" encoding="utf-8"?>
<a:theme xmlns:a="http://schemas.openxmlformats.org/drawingml/2006/main" name="ChatGPT">
  <a:themeElements>
    <a:clrScheme name="Lingyun Smart Building">
      <a:dk1>
        <a:srgbClr val="171212"/>
      </a:dk1>
      <a:lt1>
        <a:srgbClr val="FFFFFF"/>
      </a:lt1>
      <a:dk2>
        <a:srgbClr val="382D2D"/>
      </a:dk2>
      <a:lt2>
        <a:srgbClr val="EFE8DE"/>
      </a:lt2>
      <a:accent1>
        <a:srgbClr val="9D2C2C"/>
      </a:accent1>
      <a:accent2>
        <a:srgbClr val="D8B46A"/>
      </a:accent2>
      <a:accent3>
        <a:srgbClr val="335C81"/>
      </a:accent3>
      <a:accent4>
        <a:srgbClr val="5A7D68"/>
      </a:accent4>
      <a:accent5>
        <a:srgbClr val="7B5D87"/>
      </a:accent5>
      <a:accent6>
        <a:srgbClr val="8B6F47"/>
      </a:accent6>
      <a:hlink>
        <a:srgbClr val="9D2C2C"/>
      </a:hlink>
      <a:folHlink>
        <a:srgbClr val="7B5D87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Lingyun Smart Building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ChatGPT">
  <a:themeElements>
    <a:clrScheme name="Lingyun Smart Building">
      <a:dk1>
        <a:srgbClr val="171212"/>
      </a:dk1>
      <a:lt1>
        <a:srgbClr val="FFFFFF"/>
      </a:lt1>
      <a:dk2>
        <a:srgbClr val="382D2D"/>
      </a:dk2>
      <a:lt2>
        <a:srgbClr val="EFE8DE"/>
      </a:lt2>
      <a:accent1>
        <a:srgbClr val="9D2C2C"/>
      </a:accent1>
      <a:accent2>
        <a:srgbClr val="D8B46A"/>
      </a:accent2>
      <a:accent3>
        <a:srgbClr val="335C81"/>
      </a:accent3>
      <a:accent4>
        <a:srgbClr val="5A7D68"/>
      </a:accent4>
      <a:accent5>
        <a:srgbClr val="7B5D87"/>
      </a:accent5>
      <a:accent6>
        <a:srgbClr val="8B6F47"/>
      </a:accent6>
      <a:hlink>
        <a:srgbClr val="9D2C2C"/>
      </a:hlink>
      <a:folHlink>
        <a:srgbClr val="7B5D87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Lingyun Smart Building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314d13eda44baa" /><Relationship Type="http://schemas.openxmlformats.org/officeDocument/2006/relationships/notesSlide" Target="/ppt/notesSlides/notesSlide1.xml" Id="R21b0d16b7b16455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318e8e20a14a19" /><Relationship Type="http://schemas.openxmlformats.org/officeDocument/2006/relationships/notesSlide" Target="/ppt/notesSlides/notesSlide2.xml" Id="R20e3ed61db98441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2fd340736a4195" /><Relationship Type="http://schemas.openxmlformats.org/officeDocument/2006/relationships/notesSlide" Target="/ppt/notesSlides/notesSlide3.xml" Id="R77c9e16c4d384d7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2b337c51f24701" /><Relationship Type="http://schemas.openxmlformats.org/officeDocument/2006/relationships/chart" Target="/ppt/slides/charts/chart1.xml" Id="R776edbe5b85b449f" /><Relationship Type="http://schemas.openxmlformats.org/officeDocument/2006/relationships/notesSlide" Target="/ppt/notesSlides/notesSlide4.xml" Id="R8da111951dc047f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2a4d0863f14e69" /><Relationship Type="http://schemas.openxmlformats.org/officeDocument/2006/relationships/notesSlide" Target="/ppt/notesSlides/notesSlide5.xml" Id="R7fcb056603014dc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d03b25a36e484b" /><Relationship Type="http://schemas.openxmlformats.org/officeDocument/2006/relationships/notesSlide" Target="/ppt/notesSlides/notesSlide6.xml" Id="R519cf442ec014f4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8eb5e9dc454652" /><Relationship Type="http://schemas.openxmlformats.org/officeDocument/2006/relationships/notesSlide" Target="/ppt/notesSlides/notesSlide7.xml" Id="R65404b2a8d794af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b4b70d8d9f4f85" /><Relationship Type="http://schemas.openxmlformats.org/officeDocument/2006/relationships/notesSlide" Target="/ppt/notesSlides/notesSlide8.xml" Id="R9a97c4a083e84d90" /></Relationships>
</file>

<file path=ppt/slides/charts/chart1.xml><?xml version="1.0" encoding="utf-8"?>
<c:chartSpace xmlns:c="http://schemas.openxmlformats.org/drawingml/2006/chart">
  <c:lang val="en-US"/>
  <c:chart>
    <c:plotArea>
      <c:doughnutChart>
        <c:ser>
          <c:idx val="0"/>
          <c:order val="0"/>
          <c:tx>
            <c:v>分值</c:v>
          </c:tx>
          <c:dPt>
            <c:idx val="0"/>
            <c:spPr>
              <a:solidFill xmlns:a="http://schemas.openxmlformats.org/drawingml/2006/main">
                <a:srgbClr val="9D2C2C"/>
              </a:solidFill>
            </c:spPr>
          </c:dPt>
          <c:dPt>
            <c:idx val="1"/>
            <c:spPr>
              <a:solidFill xmlns:a="http://schemas.openxmlformats.org/drawingml/2006/main">
                <a:srgbClr val="D8B46A"/>
              </a:solidFill>
            </c:spPr>
          </c:dPt>
          <c:dPt>
            <c:idx val="2"/>
            <c:spPr>
              <a:solidFill xmlns:a="http://schemas.openxmlformats.org/drawingml/2006/main">
                <a:srgbClr val="335C81"/>
              </a:solidFill>
            </c:spPr>
          </c:dPt>
          <c:cat>
            <c:strLit>
              <c:ptCount val="3"/>
              <c:pt idx="0">
                <c:v>技术</c:v>
              </c:pt>
              <c:pt idx="1">
                <c:v>商务</c:v>
              </c:pt>
              <c:pt idx="2">
                <c:v>价格</c:v>
              </c:pt>
            </c:strLit>
          </c:cat>
          <c:val>
            <c:numLit>
              <c:formatCode>General</c:formatCode>
              <c:ptCount val="3"/>
              <c:pt idx="0">
                <c:v>40</c:v>
              </c:pt>
              <c:pt idx="1">
                <c:v>30</c:v>
              </c:pt>
              <c:pt idx="2">
                <c:v>30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2A2020"/>
                  </a:solidFill>
                </a:defRPr>
              </a:pPr>
            </a:p>
          </c:txPr>
          <c:showLegendKey val="0"/>
          <c:showVal val="1"/>
          <c:showCatName val="1"/>
          <c:showSerName val="0"/>
          <c:showPercent val="0"/>
          <c:showBubbleSize val="0"/>
          <c:showLeaderLines val="0"/>
        </c:dLbls>
        <c:holeSize val="60"/>
      </c:doughnutChart>
      <c:spPr>
        <a:solidFill xmlns:a="http://schemas.openxmlformats.org/drawingml/2006/main">
          <a:srgbClr val="FAF7F2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4B4141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AF7F2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lient-cover-title">
            <a:extLst xmlns:a="http://schemas.openxmlformats.org/drawingml/2006/main">
              <a:ext uri="{FF2B5EF4-FFF2-40B4-BE49-F238E27FC236}">
                <a16:creationId xmlns:a16="http://schemas.microsoft.com/office/drawing/2014/main" id="{AC606703-F333-4234-94D4-07826E567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52625"/>
            <a:ext cx="857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2A2020"/>
                </a:solidFill>
              </a:defRPr>
            </a:pPr>
            <a:r>
              <a:rPr sz="4050" b="1">
                <a:solidFill>
                  <a:srgbClr val="2A2020"/>
                </a:solidFill>
              </a:rPr>
              <a:t>北京 XX 园区</a:t>
            </a:r>
          </a:p>
          <a:p xmlns:a="http://schemas.openxmlformats.org/drawingml/2006/main">
            <a:pPr>
              <a:defRPr sz="4050" b="1">
                <a:solidFill>
                  <a:srgbClr val="2A2020"/>
                </a:solidFill>
              </a:defRPr>
            </a:pPr>
            <a:r>
              <a:rPr sz="4050" b="1">
                <a:solidFill>
                  <a:srgbClr val="2A2020"/>
                </a:solidFill>
              </a:rPr>
              <a:t>智能楼宇项目投标策略</a:t>
            </a:r>
          </a:p>
        </p:txBody>
      </p:sp>
      <p:sp>
        <p:nvSpPr>
          <p:cNvPr id="2" name="client-cover-subtitle">
            <a:extLst xmlns:a="http://schemas.openxmlformats.org/drawingml/2006/main">
              <a:ext uri="{FF2B5EF4-FFF2-40B4-BE49-F238E27FC236}">
                <a16:creationId xmlns:a16="http://schemas.microsoft.com/office/drawing/2014/main" id="{9C5F35BA-8CC9-44E2-ADD9-9411FD3AA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10050"/>
            <a:ext cx="809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E6060"/>
                </a:solidFill>
              </a:defRPr>
            </a:pPr>
            <a:r>
              <a:rPr sz="1650">
                <a:solidFill>
                  <a:srgbClr val="6E6060"/>
                </a:solidFill>
              </a:rPr>
              <a:t>投标决策会 · 资格匹配、得分路径与 180 天交付方案</a:t>
            </a:r>
          </a:p>
        </p:txBody>
      </p:sp>
      <p:sp>
        <p:nvSpPr>
          <p:cNvPr id="3" name="brand">
            <a:extLst xmlns:a="http://schemas.openxmlformats.org/drawingml/2006/main">
              <a:ext uri="{FF2B5EF4-FFF2-40B4-BE49-F238E27FC236}">
                <a16:creationId xmlns:a16="http://schemas.microsoft.com/office/drawing/2014/main" id="{A3478CF7-8F5F-4180-AF52-B23BA6AF5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9D2C2C"/>
                </a:solidFill>
              </a:defRPr>
            </a:pPr>
            <a:r>
              <a:rPr sz="1350" b="1">
                <a:solidFill>
                  <a:srgbClr val="9D2C2C"/>
                </a:solidFill>
              </a:rPr>
              <a:t>凌云智建</a:t>
            </a:r>
          </a:p>
        </p:txBody>
      </p:sp>
      <p:sp>
        <p:nvSpPr>
          <p:cNvPr id="4" name="brand-rule">
            <a:extLst xmlns:a="http://schemas.openxmlformats.org/drawingml/2006/main">
              <a:ext uri="{FF2B5EF4-FFF2-40B4-BE49-F238E27FC236}">
                <a16:creationId xmlns:a16="http://schemas.microsoft.com/office/drawing/2014/main" id="{2B128288-2E53-4EEE-AD35-8CC09B271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62050"/>
            <a:ext cx="1047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2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meta">
            <a:extLst xmlns:a="http://schemas.openxmlformats.org/drawingml/2006/main">
              <a:ext uri="{FF2B5EF4-FFF2-40B4-BE49-F238E27FC236}">
                <a16:creationId xmlns:a16="http://schemas.microsoft.com/office/drawing/2014/main" id="{284437BA-2E5B-4742-BDBF-6E7B7F28F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29200"/>
            <a:ext cx="638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E6060"/>
                </a:solidFill>
              </a:defRPr>
            </a:pPr>
            <a:r>
              <a:rPr sz="1200">
                <a:solidFill>
                  <a:srgbClr val="6E6060"/>
                </a:solidFill>
              </a:rPr>
              <a:t>资质：建筑智能化一级 · ISO9001 · ISO14001</a:t>
            </a:r>
          </a:p>
        </p:txBody>
      </p:sp>
      <p:sp>
        <p:nvSpPr>
          <p:cNvPr id="6" name="cover-date">
            <a:extLst xmlns:a="http://schemas.openxmlformats.org/drawingml/2006/main">
              <a:ext uri="{FF2B5EF4-FFF2-40B4-BE49-F238E27FC236}">
                <a16:creationId xmlns:a16="http://schemas.microsoft.com/office/drawing/2014/main" id="{A887E078-08FB-4681-8F2F-21A889360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9D2C2C"/>
                </a:solidFill>
              </a:defRPr>
            </a:pPr>
            <a:r>
              <a:rPr sz="825" b="1">
                <a:solidFill>
                  <a:srgbClr val="9D2C2C"/>
                </a:solidFill>
              </a:rPr>
              <a:t>V1 ACCEPTANCE CASE</a:t>
            </a:r>
          </a:p>
        </p:txBody>
      </p:sp>
    </p:spTree>
    <p:extLst>
      <p:ext uri="{BB962C8B-B14F-4D97-AF65-F5344CB8AC3E}">
        <p14:creationId xmlns:p14="http://schemas.microsoft.com/office/powerpoint/2010/main" val="13662836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client-title">
            <a:extLst xmlns:a="http://schemas.openxmlformats.org/drawingml/2006/main">
              <a:ext uri="{FF2B5EF4-FFF2-40B4-BE49-F238E27FC236}">
                <a16:creationId xmlns:a16="http://schemas.microsoft.com/office/drawing/2014/main" id="{7F53AFFC-484F-4417-9B99-B8D09B513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A2020"/>
                </a:solidFill>
              </a:defRPr>
            </a:pPr>
            <a:r>
              <a:rPr sz="2700" b="1">
                <a:solidFill>
                  <a:srgbClr val="2A2020"/>
                </a:solidFill>
              </a:rPr>
              <a:t>建议投标：核心资格满足，胜负关键在技术方案与价格纪律</a:t>
            </a:r>
          </a:p>
        </p:txBody>
      </p:sp>
      <p:sp>
        <p:nvSpPr>
          <p:cNvPr id="2" name="section-note">
            <a:extLst xmlns:a="http://schemas.openxmlformats.org/drawingml/2006/main">
              <a:ext uri="{FF2B5EF4-FFF2-40B4-BE49-F238E27FC236}">
                <a16:creationId xmlns:a16="http://schemas.microsoft.com/office/drawing/2014/main" id="{319B6BDB-7631-45A4-8D12-A396A6B18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33475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8C7777"/>
                </a:solidFill>
              </a:defRPr>
            </a:pPr>
            <a:r>
              <a:rPr sz="975">
                <a:solidFill>
                  <a:srgbClr val="8C7777"/>
                </a:solidFill>
              </a:rPr>
              <a:t>结论先行：具备投标资格，但需要把资质优势转化为评分证据</a:t>
            </a:r>
          </a:p>
        </p:txBody>
      </p:sp>
      <p:sp>
        <p:nvSpPr>
          <p:cNvPr id="3" name="go">
            <a:extLst xmlns:a="http://schemas.openxmlformats.org/drawingml/2006/main">
              <a:ext uri="{FF2B5EF4-FFF2-40B4-BE49-F238E27FC236}">
                <a16:creationId xmlns:a16="http://schemas.microsoft.com/office/drawing/2014/main" id="{2D626A2D-8D25-431D-9558-1DDF04D99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2333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9D2C2C"/>
                </a:solidFill>
              </a:defRPr>
            </a:pPr>
            <a:r>
              <a:rPr sz="5400" b="1">
                <a:solidFill>
                  <a:srgbClr val="9D2C2C"/>
                </a:solidFill>
              </a:rPr>
              <a:t>GO</a:t>
            </a:r>
          </a:p>
        </p:txBody>
      </p:sp>
      <p:sp>
        <p:nvSpPr>
          <p:cNvPr id="4" name="go-copy">
            <a:extLst xmlns:a="http://schemas.openxmlformats.org/drawingml/2006/main">
              <a:ext uri="{FF2B5EF4-FFF2-40B4-BE49-F238E27FC236}">
                <a16:creationId xmlns:a16="http://schemas.microsoft.com/office/drawing/2014/main" id="{D2B6CE40-81C7-411C-A0E4-19368ED67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333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A2020"/>
                </a:solidFill>
              </a:defRPr>
            </a:pPr>
            <a:r>
              <a:rPr sz="1800" b="1">
                <a:solidFill>
                  <a:srgbClr val="2A2020"/>
                </a:solidFill>
              </a:rPr>
              <a:t>建议进入正式投标</a:t>
            </a:r>
          </a:p>
          <a:p xmlns:a="http://schemas.openxmlformats.org/drawingml/2006/main">
            <a:pPr>
              <a:defRPr sz="1800" b="1">
                <a:solidFill>
                  <a:srgbClr val="2A2020"/>
                </a:solidFill>
              </a:defRPr>
            </a:pPr>
            <a:r>
              <a:rPr sz="1800" b="1">
                <a:solidFill>
                  <a:srgbClr val="2A2020"/>
                </a:solidFill>
              </a:rPr>
              <a:t>核心资格均有证据支撑</a:t>
            </a:r>
          </a:p>
        </p:txBody>
      </p:sp>
      <p:sp>
        <p:nvSpPr>
          <p:cNvPr id="5" name="fact-value-0">
            <a:extLst xmlns:a="http://schemas.openxmlformats.org/drawingml/2006/main">
              <a:ext uri="{FF2B5EF4-FFF2-40B4-BE49-F238E27FC236}">
                <a16:creationId xmlns:a16="http://schemas.microsoft.com/office/drawing/2014/main" id="{93B58232-5CA7-405E-A2A9-7DA8D98AE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6690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9D2C2C"/>
                </a:solidFill>
              </a:defRPr>
            </a:pPr>
            <a:r>
              <a:rPr sz="2325" b="1">
                <a:solidFill>
                  <a:srgbClr val="9D2C2C"/>
                </a:solidFill>
              </a:rPr>
              <a:t>一级资质</a:t>
            </a:r>
          </a:p>
        </p:txBody>
      </p:sp>
      <p:sp>
        <p:nvSpPr>
          <p:cNvPr id="6" name="fact-copy-0">
            <a:extLst xmlns:a="http://schemas.openxmlformats.org/drawingml/2006/main">
              <a:ext uri="{FF2B5EF4-FFF2-40B4-BE49-F238E27FC236}">
                <a16:creationId xmlns:a16="http://schemas.microsoft.com/office/drawing/2014/main" id="{018D5CDA-FF69-4412-813E-202DCD693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0500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B4141"/>
                </a:solidFill>
              </a:defRPr>
            </a:pPr>
            <a:r>
              <a:rPr sz="1500">
                <a:solidFill>
                  <a:srgbClr val="4B4141"/>
                </a:solidFill>
              </a:rPr>
              <a:t>高于招标二级要求</a:t>
            </a:r>
          </a:p>
        </p:txBody>
      </p:sp>
      <p:sp>
        <p:nvSpPr>
          <p:cNvPr id="7" name="fact-rule-0">
            <a:extLst xmlns:a="http://schemas.openxmlformats.org/drawingml/2006/main">
              <a:ext uri="{FF2B5EF4-FFF2-40B4-BE49-F238E27FC236}">
                <a16:creationId xmlns:a16="http://schemas.microsoft.com/office/drawing/2014/main" id="{F949D44E-5BBF-42F4-BF0C-CB59387CE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19375"/>
            <a:ext cx="590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8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act-value-1">
            <a:extLst xmlns:a="http://schemas.openxmlformats.org/drawingml/2006/main">
              <a:ext uri="{FF2B5EF4-FFF2-40B4-BE49-F238E27FC236}">
                <a16:creationId xmlns:a16="http://schemas.microsoft.com/office/drawing/2014/main" id="{CEDCA0B8-4A3E-4AE2-AF53-E5B449A14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57525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9D2C2C"/>
                </a:solidFill>
              </a:defRPr>
            </a:pPr>
            <a:r>
              <a:rPr sz="2325" b="1">
                <a:solidFill>
                  <a:srgbClr val="9D2C2C"/>
                </a:solidFill>
              </a:rPr>
              <a:t>6 个项目</a:t>
            </a:r>
          </a:p>
        </p:txBody>
      </p:sp>
      <p:sp>
        <p:nvSpPr>
          <p:cNvPr id="9" name="fact-copy-1">
            <a:extLst xmlns:a="http://schemas.openxmlformats.org/drawingml/2006/main">
              <a:ext uri="{FF2B5EF4-FFF2-40B4-BE49-F238E27FC236}">
                <a16:creationId xmlns:a16="http://schemas.microsoft.com/office/drawing/2014/main" id="{CE5F5160-8DD3-4821-97C5-430C3E085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95625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B4141"/>
                </a:solidFill>
              </a:defRPr>
            </a:pPr>
            <a:r>
              <a:rPr sz="1500">
                <a:solidFill>
                  <a:srgbClr val="4B4141"/>
                </a:solidFill>
              </a:rPr>
              <a:t>近三年同类业绩</a:t>
            </a:r>
          </a:p>
        </p:txBody>
      </p:sp>
      <p:sp>
        <p:nvSpPr>
          <p:cNvPr id="10" name="fact-rule-1">
            <a:extLst xmlns:a="http://schemas.openxmlformats.org/drawingml/2006/main">
              <a:ext uri="{FF2B5EF4-FFF2-40B4-BE49-F238E27FC236}">
                <a16:creationId xmlns:a16="http://schemas.microsoft.com/office/drawing/2014/main" id="{D15B5E03-50FD-4F61-AA71-8ADEB7967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810000"/>
            <a:ext cx="590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8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fact-value-2">
            <a:extLst xmlns:a="http://schemas.openxmlformats.org/drawingml/2006/main">
              <a:ext uri="{FF2B5EF4-FFF2-40B4-BE49-F238E27FC236}">
                <a16:creationId xmlns:a16="http://schemas.microsoft.com/office/drawing/2014/main" id="{14897740-A7D8-466B-92E7-6C05377C2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4815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9D2C2C"/>
                </a:solidFill>
              </a:defRPr>
            </a:pPr>
            <a:r>
              <a:rPr sz="2325" b="1">
                <a:solidFill>
                  <a:srgbClr val="9D2C2C"/>
                </a:solidFill>
              </a:rPr>
              <a:t>180 天</a:t>
            </a:r>
          </a:p>
        </p:txBody>
      </p:sp>
      <p:sp>
        <p:nvSpPr>
          <p:cNvPr id="12" name="fact-copy-2">
            <a:extLst xmlns:a="http://schemas.openxmlformats.org/drawingml/2006/main">
              <a:ext uri="{FF2B5EF4-FFF2-40B4-BE49-F238E27FC236}">
                <a16:creationId xmlns:a16="http://schemas.microsoft.com/office/drawing/2014/main" id="{9CF3FBB1-680C-4C5F-B2CE-817A88A01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2862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B4141"/>
                </a:solidFill>
              </a:defRPr>
            </a:pPr>
            <a:r>
              <a:rPr sz="1500">
                <a:solidFill>
                  <a:srgbClr val="4B4141"/>
                </a:solidFill>
              </a:rPr>
              <a:t>需锁定四阶段计划</a:t>
            </a:r>
          </a:p>
        </p:txBody>
      </p:sp>
    </p:spTree>
    <p:extLst>
      <p:ext uri="{BB962C8B-B14F-4D97-AF65-F5344CB8AC3E}">
        <p14:creationId xmlns:p14="http://schemas.microsoft.com/office/powerpoint/2010/main" val="18045455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lient-title">
            <a:extLst xmlns:a="http://schemas.openxmlformats.org/drawingml/2006/main">
              <a:ext uri="{FF2B5EF4-FFF2-40B4-BE49-F238E27FC236}">
                <a16:creationId xmlns:a16="http://schemas.microsoft.com/office/drawing/2014/main" id="{76E7B755-2129-4309-ABDF-FB843343C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A2020"/>
                </a:solidFill>
              </a:defRPr>
            </a:pPr>
            <a:r>
              <a:rPr sz="2700" b="1">
                <a:solidFill>
                  <a:srgbClr val="2A2020"/>
                </a:solidFill>
              </a:rPr>
              <a:t>资格门槛全部可举证，材料完整性是第一道质量关</a:t>
            </a:r>
          </a:p>
        </p:txBody>
      </p:sp>
      <p:sp>
        <p:nvSpPr>
          <p:cNvPr id="2" name="section-note">
            <a:extLst xmlns:a="http://schemas.openxmlformats.org/drawingml/2006/main">
              <a:ext uri="{FF2B5EF4-FFF2-40B4-BE49-F238E27FC236}">
                <a16:creationId xmlns:a16="http://schemas.microsoft.com/office/drawing/2014/main" id="{66763F0D-EE38-4C14-817E-327EBAEB9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33475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8C7777"/>
                </a:solidFill>
              </a:defRPr>
            </a:pPr>
            <a:r>
              <a:rPr sz="975">
                <a:solidFill>
                  <a:srgbClr val="8C7777"/>
                </a:solidFill>
              </a:rPr>
              <a:t>逐条要求、现有证据与提交动作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742950" y="1600200"/>
          <a:ext xmlns:a="http://schemas.openxmlformats.org/drawingml/2006/main" cx="10687050" cy="3810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671763"/>
                <a:gridCol w="2671763"/>
                <a:gridCol w="2671763"/>
                <a:gridCol w="2671763"/>
              </a:tblGrid>
              <a:tr h="63500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招标要求</a:t>
                      </a:r>
                    </a:p>
                  </a:txBody>
                  <a:tcPr marL="91440" marR="91440" marT="45720" marB="45720">
                    <a:solidFill>
                      <a:srgbClr val="9D2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我方证据</a:t>
                      </a:r>
                    </a:p>
                  </a:txBody>
                  <a:tcPr marL="91440" marR="91440" marT="45720" marB="45720">
                    <a:solidFill>
                      <a:srgbClr val="9D2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判断</a:t>
                      </a:r>
                    </a:p>
                  </a:txBody>
                  <a:tcPr marL="91440" marR="91440" marT="45720" marB="45720">
                    <a:solidFill>
                      <a:srgbClr val="9D2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提交动作</a:t>
                      </a:r>
                    </a:p>
                  </a:txBody>
                  <a:tcPr marL="91440" marR="91440" marT="45720" marB="45720">
                    <a:solidFill>
                      <a:srgbClr val="9D2C2C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3333"/>
                          </a:solidFill>
                        </a:rPr>
                        <a:t>营业执照有效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3333"/>
                          </a:solidFill>
                        </a:rPr>
                        <a:t>营业执照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3333"/>
                          </a:solidFill>
                        </a:rPr>
                        <a:t>满足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3333"/>
                          </a:solidFill>
                        </a:rPr>
                        <a:t>核验有效期</a:t>
                      </a:r>
                    </a:p>
                  </a:txBody>
                  <a:tcPr marL="91440" marR="91440" marT="45720" marB="45720"/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3333"/>
                          </a:solidFill>
                        </a:rPr>
                        <a:t>ISO9001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3333"/>
                          </a:solidFill>
                        </a:rPr>
                        <a:t>质量管理体系认证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3333"/>
                          </a:solidFill>
                        </a:rPr>
                        <a:t>满足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3333"/>
                          </a:solidFill>
                        </a:rPr>
                        <a:t>附证书与查询页</a:t>
                      </a:r>
                    </a:p>
                  </a:txBody>
                  <a:tcPr marL="91440" marR="91440" marT="45720" marB="45720"/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3333"/>
                          </a:solidFill>
                        </a:rPr>
                        <a:t>ISO14001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3333"/>
                          </a:solidFill>
                        </a:rPr>
                        <a:t>环境管理体系认证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3333"/>
                          </a:solidFill>
                        </a:rPr>
                        <a:t>满足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3333"/>
                          </a:solidFill>
                        </a:rPr>
                        <a:t>附证书与查询页</a:t>
                      </a:r>
                    </a:p>
                  </a:txBody>
                  <a:tcPr marL="91440" marR="91440" marT="45720" marB="45720"/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3333"/>
                          </a:solidFill>
                        </a:rPr>
                        <a:t>智能化专业承包二级+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3333"/>
                          </a:solidFill>
                        </a:rPr>
                        <a:t>一级资质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3333"/>
                          </a:solidFill>
                        </a:rPr>
                        <a:t>高于要求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3333"/>
                          </a:solidFill>
                        </a:rPr>
                        <a:t>突出等级优势</a:t>
                      </a:r>
                    </a:p>
                  </a:txBody>
                  <a:tcPr marL="91440" marR="91440" marT="45720" marB="45720"/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3333"/>
                          </a:solidFill>
                        </a:rPr>
                        <a:t>机电二级建造师+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3333"/>
                          </a:solidFill>
                        </a:rPr>
                        <a:t>需绑定拟任项目经理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8A5600"/>
                          </a:solidFill>
                        </a:rPr>
                        <a:t>待锁定</a:t>
                      </a:r>
                    </a:p>
                  </a:txBody>
                  <a:tcPr marL="91440" marR="91440" marT="45720" marB="45720">
                    <a:solidFill>
                      <a:srgbClr val="FFF0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3333"/>
                          </a:solidFill>
                        </a:rPr>
                        <a:t>补证书与业绩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4" name="matrix-note">
            <a:extLst xmlns:a="http://schemas.openxmlformats.org/drawingml/2006/main">
              <a:ext uri="{FF2B5EF4-FFF2-40B4-BE49-F238E27FC236}">
                <a16:creationId xmlns:a16="http://schemas.microsoft.com/office/drawing/2014/main" id="{9CA5CDE4-48F6-4E01-A5D5-8EC0EAD33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9D2C2C"/>
                </a:solidFill>
              </a:defRPr>
            </a:pPr>
            <a:r>
              <a:rPr sz="1350" b="1">
                <a:solidFill>
                  <a:srgbClr val="9D2C2C"/>
                </a:solidFill>
              </a:rPr>
              <a:t>唯一待锁定项：拟任项目经理证书与同类项目业绩。</a:t>
            </a:r>
          </a:p>
        </p:txBody>
      </p:sp>
    </p:spTree>
    <p:extLst>
      <p:ext uri="{BB962C8B-B14F-4D97-AF65-F5344CB8AC3E}">
        <p14:creationId xmlns:p14="http://schemas.microsoft.com/office/powerpoint/2010/main" val="14014371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lient-title">
            <a:extLst xmlns:a="http://schemas.openxmlformats.org/drawingml/2006/main">
              <a:ext uri="{FF2B5EF4-FFF2-40B4-BE49-F238E27FC236}">
                <a16:creationId xmlns:a16="http://schemas.microsoft.com/office/drawing/2014/main" id="{E45DAFEA-49CD-4E14-A575-6D0ABEEF8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A2020"/>
                </a:solidFill>
              </a:defRPr>
            </a:pPr>
            <a:r>
              <a:rPr sz="2700" b="1">
                <a:solidFill>
                  <a:srgbClr val="2A2020"/>
                </a:solidFill>
              </a:rPr>
              <a:t>技术 40 分决定上限，价格 30 分决定底线</a:t>
            </a:r>
          </a:p>
        </p:txBody>
      </p:sp>
      <p:sp>
        <p:nvSpPr>
          <p:cNvPr id="2" name="section-note">
            <a:extLst xmlns:a="http://schemas.openxmlformats.org/drawingml/2006/main">
              <a:ext uri="{FF2B5EF4-FFF2-40B4-BE49-F238E27FC236}">
                <a16:creationId xmlns:a16="http://schemas.microsoft.com/office/drawing/2014/main" id="{56F880F6-3E55-452D-A096-CCDC3935B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33475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8C7777"/>
                </a:solidFill>
              </a:defRPr>
            </a:pPr>
            <a:r>
              <a:rPr sz="975">
                <a:solidFill>
                  <a:srgbClr val="8C7777"/>
                </a:solidFill>
              </a:rPr>
              <a:t>评分结构：技术 40 / 商务 30 / 价格 30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762000" y="1666875"/>
          <a:ext xmlns:a="http://schemas.openxmlformats.org/drawingml/2006/main" cx="49530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76edbe5b85b449f"/>
          </a:graphicData>
        </a:graphic>
      </p:graphicFrame>
      <p:sp>
        <p:nvSpPr>
          <p:cNvPr id="4" name="score-tech">
            <a:extLst xmlns:a="http://schemas.openxmlformats.org/drawingml/2006/main">
              <a:ext uri="{FF2B5EF4-FFF2-40B4-BE49-F238E27FC236}">
                <a16:creationId xmlns:a16="http://schemas.microsoft.com/office/drawing/2014/main" id="{978FAD07-BE19-4429-A94F-E0C6EAA42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57375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9D2C2C"/>
                </a:solidFill>
              </a:defRPr>
            </a:pPr>
            <a:r>
              <a:rPr sz="1725" b="1">
                <a:solidFill>
                  <a:srgbClr val="9D2C2C"/>
                </a:solidFill>
              </a:rPr>
              <a:t>技术：实施计划 + 里程碑 + 风险控制</a:t>
            </a:r>
          </a:p>
        </p:txBody>
      </p:sp>
      <p:sp>
        <p:nvSpPr>
          <p:cNvPr id="5" name="score-business">
            <a:extLst xmlns:a="http://schemas.openxmlformats.org/drawingml/2006/main">
              <a:ext uri="{FF2B5EF4-FFF2-40B4-BE49-F238E27FC236}">
                <a16:creationId xmlns:a16="http://schemas.microsoft.com/office/drawing/2014/main" id="{3DE4F539-11C5-49CD-BC91-98EB6E57F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05125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6B5122"/>
                </a:solidFill>
              </a:defRPr>
            </a:pPr>
            <a:r>
              <a:rPr sz="1575" b="1">
                <a:solidFill>
                  <a:srgbClr val="6B5122"/>
                </a:solidFill>
              </a:rPr>
              <a:t>商务：资质等级 + 6 个同类项目证据</a:t>
            </a:r>
          </a:p>
        </p:txBody>
      </p:sp>
      <p:sp>
        <p:nvSpPr>
          <p:cNvPr id="6" name="score-price">
            <a:extLst xmlns:a="http://schemas.openxmlformats.org/drawingml/2006/main">
              <a:ext uri="{FF2B5EF4-FFF2-40B4-BE49-F238E27FC236}">
                <a16:creationId xmlns:a16="http://schemas.microsoft.com/office/drawing/2014/main" id="{43846854-1FC1-4FDE-8824-82E4D317B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52875"/>
            <a:ext cx="4476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335C81"/>
                </a:solidFill>
              </a:defRPr>
            </a:pPr>
            <a:r>
              <a:rPr sz="1575" b="1">
                <a:solidFill>
                  <a:srgbClr val="335C81"/>
                </a:solidFill>
              </a:rPr>
              <a:t>价格：明确底价纪律，避免为 30 分牺牲交付质量</a:t>
            </a:r>
          </a:p>
        </p:txBody>
      </p:sp>
    </p:spTree>
    <p:extLst>
      <p:ext uri="{BB962C8B-B14F-4D97-AF65-F5344CB8AC3E}">
        <p14:creationId xmlns:p14="http://schemas.microsoft.com/office/powerpoint/2010/main" val="10364306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client-title">
            <a:extLst xmlns:a="http://schemas.openxmlformats.org/drawingml/2006/main">
              <a:ext uri="{FF2B5EF4-FFF2-40B4-BE49-F238E27FC236}">
                <a16:creationId xmlns:a16="http://schemas.microsoft.com/office/drawing/2014/main" id="{FB23791E-A483-4154-8866-8B6644841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A2020"/>
                </a:solidFill>
              </a:defRPr>
            </a:pPr>
            <a:r>
              <a:rPr sz="2700" b="1">
                <a:solidFill>
                  <a:srgbClr val="2A2020"/>
                </a:solidFill>
              </a:rPr>
              <a:t>180 天交付拆成四个可验收阶段</a:t>
            </a:r>
          </a:p>
        </p:txBody>
      </p:sp>
      <p:sp>
        <p:nvSpPr>
          <p:cNvPr id="2" name="section-note">
            <a:extLst xmlns:a="http://schemas.openxmlformats.org/drawingml/2006/main">
              <a:ext uri="{FF2B5EF4-FFF2-40B4-BE49-F238E27FC236}">
                <a16:creationId xmlns:a16="http://schemas.microsoft.com/office/drawing/2014/main" id="{2C8751A9-2407-4388-90BA-EBE206121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33475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8C7777"/>
                </a:solidFill>
              </a:defRPr>
            </a:pPr>
            <a:r>
              <a:rPr sz="975">
                <a:solidFill>
                  <a:srgbClr val="8C7777"/>
                </a:solidFill>
              </a:rPr>
              <a:t>设计、采购部署、联调试运行、验收移交</a:t>
            </a:r>
          </a:p>
        </p:txBody>
      </p:sp>
      <p:sp>
        <p:nvSpPr>
          <p:cNvPr id="3" name="timeline">
            <a:extLst xmlns:a="http://schemas.openxmlformats.org/drawingml/2006/main">
              <a:ext uri="{FF2B5EF4-FFF2-40B4-BE49-F238E27FC236}">
                <a16:creationId xmlns:a16="http://schemas.microsoft.com/office/drawing/2014/main" id="{EB7F8255-35AD-4AB7-A413-F5FCDB408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076575"/>
            <a:ext cx="904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B4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hase-node-0">
            <a:extLst xmlns:a="http://schemas.openxmlformats.org/drawingml/2006/main">
              <a:ext uri="{FF2B5EF4-FFF2-40B4-BE49-F238E27FC236}">
                <a16:creationId xmlns:a16="http://schemas.microsoft.com/office/drawing/2014/main" id="{F311EA53-CB8C-44FA-A86E-3ACDF01FC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003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D2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hase-no-0">
            <a:extLst xmlns:a="http://schemas.openxmlformats.org/drawingml/2006/main">
              <a:ext uri="{FF2B5EF4-FFF2-40B4-BE49-F238E27FC236}">
                <a16:creationId xmlns:a16="http://schemas.microsoft.com/office/drawing/2014/main" id="{661B57C1-7961-4C36-AFED-9956211CC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4322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6" name="phase-title-0">
            <a:extLst xmlns:a="http://schemas.openxmlformats.org/drawingml/2006/main">
              <a:ext uri="{FF2B5EF4-FFF2-40B4-BE49-F238E27FC236}">
                <a16:creationId xmlns:a16="http://schemas.microsoft.com/office/drawing/2014/main" id="{531A099D-46D8-4F25-8B35-EB0CFA6C4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1666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A2020"/>
                </a:solidFill>
              </a:defRPr>
            </a:pPr>
            <a:r>
              <a:rPr sz="1650" b="1">
                <a:solidFill>
                  <a:srgbClr val="2A2020"/>
                </a:solidFill>
              </a:rPr>
              <a:t>方案设计</a:t>
            </a:r>
          </a:p>
        </p:txBody>
      </p:sp>
      <p:sp>
        <p:nvSpPr>
          <p:cNvPr id="7" name="phase-days-0">
            <a:extLst xmlns:a="http://schemas.openxmlformats.org/drawingml/2006/main">
              <a:ext uri="{FF2B5EF4-FFF2-40B4-BE49-F238E27FC236}">
                <a16:creationId xmlns:a16="http://schemas.microsoft.com/office/drawing/2014/main" id="{1A4D857C-56A1-4D8C-8183-11CF8BD8F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9D2C2C"/>
                </a:solidFill>
              </a:defRPr>
            </a:pPr>
            <a:r>
              <a:rPr sz="1200" b="1">
                <a:solidFill>
                  <a:srgbClr val="9D2C2C"/>
                </a:solidFill>
              </a:rPr>
              <a:t>1–25 天</a:t>
            </a:r>
          </a:p>
        </p:txBody>
      </p:sp>
      <p:sp>
        <p:nvSpPr>
          <p:cNvPr id="8" name="phase-out-0">
            <a:extLst xmlns:a="http://schemas.openxmlformats.org/drawingml/2006/main">
              <a:ext uri="{FF2B5EF4-FFF2-40B4-BE49-F238E27FC236}">
                <a16:creationId xmlns:a16="http://schemas.microsoft.com/office/drawing/2014/main" id="{6BAB5A2C-DE55-4744-A954-4770F739D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52950"/>
            <a:ext cx="1666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6E6060"/>
                </a:solidFill>
              </a:defRPr>
            </a:pPr>
            <a:r>
              <a:rPr sz="1125">
                <a:solidFill>
                  <a:srgbClr val="6E6060"/>
                </a:solidFill>
              </a:rPr>
              <a:t>图纸/清单确认</a:t>
            </a:r>
          </a:p>
        </p:txBody>
      </p:sp>
      <p:sp>
        <p:nvSpPr>
          <p:cNvPr id="9" name="phase-node-1">
            <a:extLst xmlns:a="http://schemas.openxmlformats.org/drawingml/2006/main">
              <a:ext uri="{FF2B5EF4-FFF2-40B4-BE49-F238E27FC236}">
                <a16:creationId xmlns:a16="http://schemas.microsoft.com/office/drawing/2014/main" id="{BB145F3A-A665-4436-801D-54588B7CB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8003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hase-no-1">
            <a:extLst xmlns:a="http://schemas.openxmlformats.org/drawingml/2006/main">
              <a:ext uri="{FF2B5EF4-FFF2-40B4-BE49-F238E27FC236}">
                <a16:creationId xmlns:a16="http://schemas.microsoft.com/office/drawing/2014/main" id="{0EA93AD0-1DB7-4CDD-9DBA-00407982F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94322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1" name="phase-title-1">
            <a:extLst xmlns:a="http://schemas.openxmlformats.org/drawingml/2006/main">
              <a:ext uri="{FF2B5EF4-FFF2-40B4-BE49-F238E27FC236}">
                <a16:creationId xmlns:a16="http://schemas.microsoft.com/office/drawing/2014/main" id="{D08CA15B-A6FB-4916-A25A-8DA25215C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714750"/>
            <a:ext cx="1666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A2020"/>
                </a:solidFill>
              </a:defRPr>
            </a:pPr>
            <a:r>
              <a:rPr sz="1650" b="1">
                <a:solidFill>
                  <a:srgbClr val="2A2020"/>
                </a:solidFill>
              </a:rPr>
              <a:t>采购与部署</a:t>
            </a:r>
          </a:p>
        </p:txBody>
      </p:sp>
      <p:sp>
        <p:nvSpPr>
          <p:cNvPr id="12" name="phase-days-1">
            <a:extLst xmlns:a="http://schemas.openxmlformats.org/drawingml/2006/main">
              <a:ext uri="{FF2B5EF4-FFF2-40B4-BE49-F238E27FC236}">
                <a16:creationId xmlns:a16="http://schemas.microsoft.com/office/drawing/2014/main" id="{27B05D90-820F-494F-A3AE-440364AB8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143375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9D2C2C"/>
                </a:solidFill>
              </a:defRPr>
            </a:pPr>
            <a:r>
              <a:rPr sz="1200" b="1">
                <a:solidFill>
                  <a:srgbClr val="9D2C2C"/>
                </a:solidFill>
              </a:rPr>
              <a:t>26–105 天</a:t>
            </a:r>
          </a:p>
        </p:txBody>
      </p:sp>
      <p:sp>
        <p:nvSpPr>
          <p:cNvPr id="13" name="phase-out-1">
            <a:extLst xmlns:a="http://schemas.openxmlformats.org/drawingml/2006/main">
              <a:ext uri="{FF2B5EF4-FFF2-40B4-BE49-F238E27FC236}">
                <a16:creationId xmlns:a16="http://schemas.microsoft.com/office/drawing/2014/main" id="{42748DB2-968B-4F13-A3F5-94B910396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552950"/>
            <a:ext cx="1666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6E6060"/>
                </a:solidFill>
              </a:defRPr>
            </a:pPr>
            <a:r>
              <a:rPr sz="1125">
                <a:solidFill>
                  <a:srgbClr val="6E6060"/>
                </a:solidFill>
              </a:rPr>
              <a:t>弱电/安防/BA安装</a:t>
            </a:r>
          </a:p>
        </p:txBody>
      </p:sp>
      <p:sp>
        <p:nvSpPr>
          <p:cNvPr id="14" name="phase-node-2">
            <a:extLst xmlns:a="http://schemas.openxmlformats.org/drawingml/2006/main">
              <a:ext uri="{FF2B5EF4-FFF2-40B4-BE49-F238E27FC236}">
                <a16:creationId xmlns:a16="http://schemas.microsoft.com/office/drawing/2014/main" id="{755CB269-06C9-4C96-8547-DCEDE1C89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003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hase-no-2">
            <a:extLst xmlns:a="http://schemas.openxmlformats.org/drawingml/2006/main">
              <a:ext uri="{FF2B5EF4-FFF2-40B4-BE49-F238E27FC236}">
                <a16:creationId xmlns:a16="http://schemas.microsoft.com/office/drawing/2014/main" id="{6EF5DDE5-9B7C-4023-88E2-96BE4B529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94322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6" name="phase-title-2">
            <a:extLst xmlns:a="http://schemas.openxmlformats.org/drawingml/2006/main">
              <a:ext uri="{FF2B5EF4-FFF2-40B4-BE49-F238E27FC236}">
                <a16:creationId xmlns:a16="http://schemas.microsoft.com/office/drawing/2014/main" id="{D1FE8048-08A4-4CD6-9E40-3D35C22D8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14750"/>
            <a:ext cx="1666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A2020"/>
                </a:solidFill>
              </a:defRPr>
            </a:pPr>
            <a:r>
              <a:rPr sz="1650" b="1">
                <a:solidFill>
                  <a:srgbClr val="2A2020"/>
                </a:solidFill>
              </a:rPr>
              <a:t>联调试运行</a:t>
            </a:r>
          </a:p>
        </p:txBody>
      </p:sp>
      <p:sp>
        <p:nvSpPr>
          <p:cNvPr id="17" name="phase-days-2">
            <a:extLst xmlns:a="http://schemas.openxmlformats.org/drawingml/2006/main">
              <a:ext uri="{FF2B5EF4-FFF2-40B4-BE49-F238E27FC236}">
                <a16:creationId xmlns:a16="http://schemas.microsoft.com/office/drawing/2014/main" id="{07BAE9E8-6A06-4797-859E-A99AD1898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43375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9D2C2C"/>
                </a:solidFill>
              </a:defRPr>
            </a:pPr>
            <a:r>
              <a:rPr sz="1200" b="1">
                <a:solidFill>
                  <a:srgbClr val="9D2C2C"/>
                </a:solidFill>
              </a:rPr>
              <a:t>106–155 天</a:t>
            </a:r>
          </a:p>
        </p:txBody>
      </p:sp>
      <p:sp>
        <p:nvSpPr>
          <p:cNvPr id="18" name="phase-out-2">
            <a:extLst xmlns:a="http://schemas.openxmlformats.org/drawingml/2006/main">
              <a:ext uri="{FF2B5EF4-FFF2-40B4-BE49-F238E27FC236}">
                <a16:creationId xmlns:a16="http://schemas.microsoft.com/office/drawing/2014/main" id="{659C5FFA-2335-4F15-B41A-8E09A81E6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52950"/>
            <a:ext cx="1666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6E6060"/>
                </a:solidFill>
              </a:defRPr>
            </a:pPr>
            <a:r>
              <a:rPr sz="1125">
                <a:solidFill>
                  <a:srgbClr val="6E6060"/>
                </a:solidFill>
              </a:rPr>
              <a:t>系统联调与培训</a:t>
            </a:r>
          </a:p>
        </p:txBody>
      </p:sp>
      <p:sp>
        <p:nvSpPr>
          <p:cNvPr id="19" name="phase-node-3">
            <a:extLst xmlns:a="http://schemas.openxmlformats.org/drawingml/2006/main">
              <a:ext uri="{FF2B5EF4-FFF2-40B4-BE49-F238E27FC236}">
                <a16:creationId xmlns:a16="http://schemas.microsoft.com/office/drawing/2014/main" id="{DF619D81-8A67-42B0-8E99-5D74E7AD4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8003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hase-no-3">
            <a:extLst xmlns:a="http://schemas.openxmlformats.org/drawingml/2006/main">
              <a:ext uri="{FF2B5EF4-FFF2-40B4-BE49-F238E27FC236}">
                <a16:creationId xmlns:a16="http://schemas.microsoft.com/office/drawing/2014/main" id="{D778CEEA-C07D-44FD-B8C5-8FB797AFA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94322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1" name="phase-title-3">
            <a:extLst xmlns:a="http://schemas.openxmlformats.org/drawingml/2006/main">
              <a:ext uri="{FF2B5EF4-FFF2-40B4-BE49-F238E27FC236}">
                <a16:creationId xmlns:a16="http://schemas.microsoft.com/office/drawing/2014/main" id="{20B58171-82D4-4B07-9A5F-290ABAA24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714750"/>
            <a:ext cx="1666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A2020"/>
                </a:solidFill>
              </a:defRPr>
            </a:pPr>
            <a:r>
              <a:rPr sz="1650" b="1">
                <a:solidFill>
                  <a:srgbClr val="2A2020"/>
                </a:solidFill>
              </a:rPr>
              <a:t>验收移交</a:t>
            </a:r>
          </a:p>
        </p:txBody>
      </p:sp>
      <p:sp>
        <p:nvSpPr>
          <p:cNvPr id="22" name="phase-days-3">
            <a:extLst xmlns:a="http://schemas.openxmlformats.org/drawingml/2006/main">
              <a:ext uri="{FF2B5EF4-FFF2-40B4-BE49-F238E27FC236}">
                <a16:creationId xmlns:a16="http://schemas.microsoft.com/office/drawing/2014/main" id="{B021CCE9-30E1-4EDF-9532-AE10020E5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143375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9D2C2C"/>
                </a:solidFill>
              </a:defRPr>
            </a:pPr>
            <a:r>
              <a:rPr sz="1200" b="1">
                <a:solidFill>
                  <a:srgbClr val="9D2C2C"/>
                </a:solidFill>
              </a:rPr>
              <a:t>156–180 天</a:t>
            </a:r>
          </a:p>
        </p:txBody>
      </p:sp>
      <p:sp>
        <p:nvSpPr>
          <p:cNvPr id="23" name="phase-out-3">
            <a:extLst xmlns:a="http://schemas.openxmlformats.org/drawingml/2006/main">
              <a:ext uri="{FF2B5EF4-FFF2-40B4-BE49-F238E27FC236}">
                <a16:creationId xmlns:a16="http://schemas.microsoft.com/office/drawing/2014/main" id="{413BEF4D-78F1-45FA-A085-D60C4D9DB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552950"/>
            <a:ext cx="1666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6E6060"/>
                </a:solidFill>
              </a:defRPr>
            </a:pPr>
            <a:r>
              <a:rPr sz="1125">
                <a:solidFill>
                  <a:srgbClr val="6E6060"/>
                </a:solidFill>
              </a:rPr>
              <a:t>验收资料与运维移交</a:t>
            </a:r>
          </a:p>
        </p:txBody>
      </p:sp>
    </p:spTree>
    <p:extLst>
      <p:ext uri="{BB962C8B-B14F-4D97-AF65-F5344CB8AC3E}">
        <p14:creationId xmlns:p14="http://schemas.microsoft.com/office/powerpoint/2010/main" val="16353979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client-title">
            <a:extLst xmlns:a="http://schemas.openxmlformats.org/drawingml/2006/main">
              <a:ext uri="{FF2B5EF4-FFF2-40B4-BE49-F238E27FC236}">
                <a16:creationId xmlns:a16="http://schemas.microsoft.com/office/drawing/2014/main" id="{99FBD323-D754-4565-99FF-2D5F235FD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A2020"/>
                </a:solidFill>
              </a:defRPr>
            </a:pPr>
            <a:r>
              <a:rPr sz="2700" b="1">
                <a:solidFill>
                  <a:srgbClr val="2A2020"/>
                </a:solidFill>
              </a:rPr>
              <a:t>技术方案以统一平台贯通弱电、安防和 BA 自控</a:t>
            </a:r>
          </a:p>
        </p:txBody>
      </p:sp>
      <p:sp>
        <p:nvSpPr>
          <p:cNvPr id="2" name="section-note">
            <a:extLst xmlns:a="http://schemas.openxmlformats.org/drawingml/2006/main">
              <a:ext uri="{FF2B5EF4-FFF2-40B4-BE49-F238E27FC236}">
                <a16:creationId xmlns:a16="http://schemas.microsoft.com/office/drawing/2014/main" id="{808FFA89-CC9B-42E2-8CCA-030C33852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33475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8C7777"/>
                </a:solidFill>
              </a:defRPr>
            </a:pPr>
            <a:r>
              <a:rPr sz="975">
                <a:solidFill>
                  <a:srgbClr val="8C7777"/>
                </a:solidFill>
              </a:rPr>
              <a:t>一套数据底座、三类业务系统、统一运维闭环</a:t>
            </a:r>
          </a:p>
        </p:txBody>
      </p:sp>
      <p:sp>
        <p:nvSpPr>
          <p:cNvPr id="3" name="layer-0">
            <a:extLst xmlns:a="http://schemas.openxmlformats.org/drawingml/2006/main">
              <a:ext uri="{FF2B5EF4-FFF2-40B4-BE49-F238E27FC236}">
                <a16:creationId xmlns:a16="http://schemas.microsoft.com/office/drawing/2014/main" id="{4A675F25-2642-4A23-BC17-A31CB0100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619250"/>
            <a:ext cx="9810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9D2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layer-title-0">
            <a:extLst xmlns:a="http://schemas.openxmlformats.org/drawingml/2006/main">
              <a:ext uri="{FF2B5EF4-FFF2-40B4-BE49-F238E27FC236}">
                <a16:creationId xmlns:a16="http://schemas.microsoft.com/office/drawing/2014/main" id="{EFAAB365-5550-4EA3-AD92-79FDEA968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7907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统一运营层</a:t>
            </a:r>
          </a:p>
        </p:txBody>
      </p:sp>
      <p:sp>
        <p:nvSpPr>
          <p:cNvPr id="5" name="layer-copy-0">
            <a:extLst xmlns:a="http://schemas.openxmlformats.org/drawingml/2006/main">
              <a:ext uri="{FF2B5EF4-FFF2-40B4-BE49-F238E27FC236}">
                <a16:creationId xmlns:a16="http://schemas.microsoft.com/office/drawing/2014/main" id="{2A9987EA-18F3-4EB9-B3B1-7841A0398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809750"/>
            <a:ext cx="638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FFFFF"/>
                </a:solidFill>
              </a:defRPr>
            </a:pPr>
            <a:r>
              <a:rPr sz="1425">
                <a:solidFill>
                  <a:srgbClr val="FFFFFF"/>
                </a:solidFill>
              </a:rPr>
              <a:t>告警中心 · 运营驾驶舱 · 能耗分析</a:t>
            </a:r>
          </a:p>
        </p:txBody>
      </p:sp>
      <p:sp>
        <p:nvSpPr>
          <p:cNvPr id="6" name="layer-1">
            <a:extLst xmlns:a="http://schemas.openxmlformats.org/drawingml/2006/main">
              <a:ext uri="{FF2B5EF4-FFF2-40B4-BE49-F238E27FC236}">
                <a16:creationId xmlns:a16="http://schemas.microsoft.com/office/drawing/2014/main" id="{795C6F31-C89E-44BA-81C9-2F182592C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19375"/>
            <a:ext cx="9810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8B4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layer-title-1">
            <a:extLst xmlns:a="http://schemas.openxmlformats.org/drawingml/2006/main">
              <a:ext uri="{FF2B5EF4-FFF2-40B4-BE49-F238E27FC236}">
                <a16:creationId xmlns:a16="http://schemas.microsoft.com/office/drawing/2014/main" id="{CB85CB55-A329-45E7-8712-2302A015C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9082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A2020"/>
                </a:solidFill>
              </a:defRPr>
            </a:pPr>
            <a:r>
              <a:rPr sz="1650" b="1">
                <a:solidFill>
                  <a:srgbClr val="2A2020"/>
                </a:solidFill>
              </a:rPr>
              <a:t>业务应用层</a:t>
            </a:r>
          </a:p>
        </p:txBody>
      </p:sp>
      <p:sp>
        <p:nvSpPr>
          <p:cNvPr id="8" name="layer-copy-1">
            <a:extLst xmlns:a="http://schemas.openxmlformats.org/drawingml/2006/main">
              <a:ext uri="{FF2B5EF4-FFF2-40B4-BE49-F238E27FC236}">
                <a16:creationId xmlns:a16="http://schemas.microsoft.com/office/drawing/2014/main" id="{E2F651AE-9BC1-4A1A-B463-AB339BFB5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09875"/>
            <a:ext cx="638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A2020"/>
                </a:solidFill>
              </a:defRPr>
            </a:pPr>
            <a:r>
              <a:rPr sz="1425">
                <a:solidFill>
                  <a:srgbClr val="2A2020"/>
                </a:solidFill>
              </a:rPr>
              <a:t>视频安防 · 门禁访客 · 楼宇自控</a:t>
            </a:r>
          </a:p>
        </p:txBody>
      </p:sp>
      <p:sp>
        <p:nvSpPr>
          <p:cNvPr id="9" name="layer-2">
            <a:extLst xmlns:a="http://schemas.openxmlformats.org/drawingml/2006/main">
              <a:ext uri="{FF2B5EF4-FFF2-40B4-BE49-F238E27FC236}">
                <a16:creationId xmlns:a16="http://schemas.microsoft.com/office/drawing/2014/main" id="{BDE7F645-98C7-4FD6-B5F9-50DD53303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619500"/>
            <a:ext cx="9810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335C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layer-title-2">
            <a:extLst xmlns:a="http://schemas.openxmlformats.org/drawingml/2006/main">
              <a:ext uri="{FF2B5EF4-FFF2-40B4-BE49-F238E27FC236}">
                <a16:creationId xmlns:a16="http://schemas.microsoft.com/office/drawing/2014/main" id="{1C589CF8-07DF-467C-9E93-2943F6EC8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909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平台能力层</a:t>
            </a:r>
          </a:p>
        </p:txBody>
      </p:sp>
      <p:sp>
        <p:nvSpPr>
          <p:cNvPr id="11" name="layer-copy-2">
            <a:extLst xmlns:a="http://schemas.openxmlformats.org/drawingml/2006/main">
              <a:ext uri="{FF2B5EF4-FFF2-40B4-BE49-F238E27FC236}">
                <a16:creationId xmlns:a16="http://schemas.microsoft.com/office/drawing/2014/main" id="{49D221AC-4D9D-485B-81A0-1367F75F5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810000"/>
            <a:ext cx="638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FFFFF"/>
                </a:solidFill>
              </a:defRPr>
            </a:pPr>
            <a:r>
              <a:rPr sz="1425">
                <a:solidFill>
                  <a:srgbClr val="FFFFFF"/>
                </a:solidFill>
              </a:rPr>
              <a:t>设备接入 · 规则引擎 · 数据服务</a:t>
            </a:r>
          </a:p>
        </p:txBody>
      </p:sp>
      <p:sp>
        <p:nvSpPr>
          <p:cNvPr id="12" name="layer-3">
            <a:extLst xmlns:a="http://schemas.openxmlformats.org/drawingml/2006/main">
              <a:ext uri="{FF2B5EF4-FFF2-40B4-BE49-F238E27FC236}">
                <a16:creationId xmlns:a16="http://schemas.microsoft.com/office/drawing/2014/main" id="{CB592E17-D101-4FB0-A592-2373E37EB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619625"/>
            <a:ext cx="9810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9E1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layer-title-3">
            <a:extLst xmlns:a="http://schemas.openxmlformats.org/drawingml/2006/main">
              <a:ext uri="{FF2B5EF4-FFF2-40B4-BE49-F238E27FC236}">
                <a16:creationId xmlns:a16="http://schemas.microsoft.com/office/drawing/2014/main" id="{75D4FAD0-81ED-4B54-9962-CB7715F55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9107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A2020"/>
                </a:solidFill>
              </a:defRPr>
            </a:pPr>
            <a:r>
              <a:rPr sz="1650" b="1">
                <a:solidFill>
                  <a:srgbClr val="2A2020"/>
                </a:solidFill>
              </a:rPr>
              <a:t>现场设备层</a:t>
            </a:r>
          </a:p>
        </p:txBody>
      </p:sp>
      <p:sp>
        <p:nvSpPr>
          <p:cNvPr id="14" name="layer-copy-3">
            <a:extLst xmlns:a="http://schemas.openxmlformats.org/drawingml/2006/main">
              <a:ext uri="{FF2B5EF4-FFF2-40B4-BE49-F238E27FC236}">
                <a16:creationId xmlns:a16="http://schemas.microsoft.com/office/drawing/2014/main" id="{A0F2B1AB-DEA4-4A1D-AFCF-5D79F71A8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10125"/>
            <a:ext cx="638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A2020"/>
                </a:solidFill>
              </a:defRPr>
            </a:pPr>
            <a:r>
              <a:rPr sz="1425">
                <a:solidFill>
                  <a:srgbClr val="2A2020"/>
                </a:solidFill>
              </a:rPr>
              <a:t>摄像机 · 控制器 · 传感器 · 执行器</a:t>
            </a:r>
          </a:p>
        </p:txBody>
      </p:sp>
    </p:spTree>
    <p:extLst>
      <p:ext uri="{BB962C8B-B14F-4D97-AF65-F5344CB8AC3E}">
        <p14:creationId xmlns:p14="http://schemas.microsoft.com/office/powerpoint/2010/main" val="2622230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client-title">
            <a:extLst xmlns:a="http://schemas.openxmlformats.org/drawingml/2006/main">
              <a:ext uri="{FF2B5EF4-FFF2-40B4-BE49-F238E27FC236}">
                <a16:creationId xmlns:a16="http://schemas.microsoft.com/office/drawing/2014/main" id="{B3970326-2B4B-4E91-A38A-14E4109B4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A2020"/>
                </a:solidFill>
              </a:defRPr>
            </a:pPr>
            <a:r>
              <a:rPr sz="2700" b="1">
                <a:solidFill>
                  <a:srgbClr val="2A2020"/>
                </a:solidFill>
              </a:rPr>
              <a:t>四类风险需要在投标文件中写成可执行控制措施</a:t>
            </a:r>
          </a:p>
        </p:txBody>
      </p:sp>
      <p:sp>
        <p:nvSpPr>
          <p:cNvPr id="2" name="section-note">
            <a:extLst xmlns:a="http://schemas.openxmlformats.org/drawingml/2006/main">
              <a:ext uri="{FF2B5EF4-FFF2-40B4-BE49-F238E27FC236}">
                <a16:creationId xmlns:a16="http://schemas.microsoft.com/office/drawing/2014/main" id="{9E002C71-3B9F-436B-8D0A-B1F52D170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33475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8C7777"/>
                </a:solidFill>
              </a:defRPr>
            </a:pPr>
            <a:r>
              <a:rPr sz="975">
                <a:solidFill>
                  <a:srgbClr val="8C7777"/>
                </a:solidFill>
              </a:rPr>
              <a:t>风险、触发信号和前置动作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742950" y="1600200"/>
          <a:ext xmlns:a="http://schemas.openxmlformats.org/drawingml/2006/main" cx="10687050" cy="3714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671763"/>
                <a:gridCol w="2671763"/>
                <a:gridCol w="2671763"/>
                <a:gridCol w="2671763"/>
              </a:tblGrid>
              <a:tr h="7429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风险</a:t>
                      </a:r>
                    </a:p>
                  </a:txBody>
                  <a:tcPr marL="91440" marR="91440" marT="45720" marB="45720">
                    <a:solidFill>
                      <a:srgbClr val="2A20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触发信号</a:t>
                      </a:r>
                    </a:p>
                  </a:txBody>
                  <a:tcPr marL="91440" marR="91440" marT="45720" marB="45720">
                    <a:solidFill>
                      <a:srgbClr val="2A20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控制措施</a:t>
                      </a:r>
                    </a:p>
                  </a:txBody>
                  <a:tcPr marL="91440" marR="91440" marT="45720" marB="45720">
                    <a:solidFill>
                      <a:srgbClr val="2A20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责任角色</a:t>
                      </a:r>
                    </a:p>
                  </a:txBody>
                  <a:tcPr marL="91440" marR="91440" marT="45720" marB="45720">
                    <a:solidFill>
                      <a:srgbClr val="2A2020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3333"/>
                          </a:solidFill>
                        </a:rPr>
                        <a:t>项目经理证据未锁定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3333"/>
                          </a:solidFill>
                        </a:rPr>
                        <a:t>证书/业绩材料不完整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3333"/>
                          </a:solidFill>
                        </a:rPr>
                        <a:t>投标前完成一人一档核验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3333"/>
                          </a:solidFill>
                        </a:rPr>
                        <a:t>投标经理</a:t>
                      </a:r>
                    </a:p>
                  </a:txBody>
                  <a:tcPr marL="91440" marR="91440" marT="45720" marB="45720"/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3333"/>
                          </a:solidFill>
                        </a:rPr>
                        <a:t>多系统接口边界模糊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3333"/>
                          </a:solidFill>
                        </a:rPr>
                        <a:t>清单与图纸不一致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3333"/>
                          </a:solidFill>
                        </a:rPr>
                        <a:t>设计阶段建立接口矩阵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3333"/>
                          </a:solidFill>
                        </a:rPr>
                        <a:t>技术负责人</a:t>
                      </a:r>
                    </a:p>
                  </a:txBody>
                  <a:tcPr marL="91440" marR="91440" marT="45720" marB="45720"/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3333"/>
                          </a:solidFill>
                        </a:rPr>
                        <a:t>180 天工期压缩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3333"/>
                          </a:solidFill>
                        </a:rPr>
                        <a:t>关键设备交期波动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3333"/>
                          </a:solidFill>
                        </a:rPr>
                        <a:t>长周期设备提前锁单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3333"/>
                          </a:solidFill>
                        </a:rPr>
                        <a:t>采购负责人</a:t>
                      </a:r>
                    </a:p>
                  </a:txBody>
                  <a:tcPr marL="91440" marR="91440" marT="45720" marB="45720"/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3333"/>
                          </a:solidFill>
                        </a:rPr>
                        <a:t>价格竞争过度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3333"/>
                          </a:solidFill>
                        </a:rPr>
                        <a:t>报价低于交付底线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3333"/>
                          </a:solidFill>
                        </a:rPr>
                        <a:t>设置成本红线和审批门槛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3333"/>
                          </a:solidFill>
                        </a:rPr>
                        <a:t>商务负责人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0972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lient-title">
            <a:extLst xmlns:a="http://schemas.openxmlformats.org/drawingml/2006/main">
              <a:ext uri="{FF2B5EF4-FFF2-40B4-BE49-F238E27FC236}">
                <a16:creationId xmlns:a16="http://schemas.microsoft.com/office/drawing/2014/main" id="{A48D288D-D6E9-49C6-95CD-F9B423292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A2020"/>
                </a:solidFill>
              </a:defRPr>
            </a:pPr>
            <a:r>
              <a:rPr sz="2700" b="1">
                <a:solidFill>
                  <a:srgbClr val="2A2020"/>
                </a:solidFill>
              </a:rPr>
              <a:t>需要管理层确认三项投标决策</a:t>
            </a:r>
          </a:p>
        </p:txBody>
      </p:sp>
      <p:sp>
        <p:nvSpPr>
          <p:cNvPr id="2" name="ask-1">
            <a:extLst xmlns:a="http://schemas.openxmlformats.org/drawingml/2006/main">
              <a:ext uri="{FF2B5EF4-FFF2-40B4-BE49-F238E27FC236}">
                <a16:creationId xmlns:a16="http://schemas.microsoft.com/office/drawing/2014/main" id="{C16C6024-CBB6-45C9-BE80-BD3C001B2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52625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9D2C2C"/>
                </a:solidFill>
              </a:defRPr>
            </a:pPr>
            <a:r>
              <a:rPr sz="2250" b="1">
                <a:solidFill>
                  <a:srgbClr val="9D2C2C"/>
                </a:solidFill>
              </a:rPr>
              <a:t>01  批准正式投标</a:t>
            </a:r>
          </a:p>
        </p:txBody>
      </p:sp>
      <p:sp>
        <p:nvSpPr>
          <p:cNvPr id="3" name="ask-1-copy">
            <a:extLst xmlns:a="http://schemas.openxmlformats.org/drawingml/2006/main">
              <a:ext uri="{FF2B5EF4-FFF2-40B4-BE49-F238E27FC236}">
                <a16:creationId xmlns:a16="http://schemas.microsoft.com/office/drawing/2014/main" id="{7239CF81-11E0-4E2A-B481-F80C4715D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33650"/>
            <a:ext cx="571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B4141"/>
                </a:solidFill>
              </a:defRPr>
            </a:pPr>
            <a:r>
              <a:rPr sz="1425">
                <a:solidFill>
                  <a:srgbClr val="4B4141"/>
                </a:solidFill>
              </a:rPr>
              <a:t>基于核心资格满足和技术得分空间进入投标阶段</a:t>
            </a:r>
          </a:p>
        </p:txBody>
      </p:sp>
      <p:sp>
        <p:nvSpPr>
          <p:cNvPr id="4" name="ask-2">
            <a:extLst xmlns:a="http://schemas.openxmlformats.org/drawingml/2006/main">
              <a:ext uri="{FF2B5EF4-FFF2-40B4-BE49-F238E27FC236}">
                <a16:creationId xmlns:a16="http://schemas.microsoft.com/office/drawing/2014/main" id="{598C85EC-DDF2-4171-8712-0CF01ED74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052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9D2C2C"/>
                </a:solidFill>
              </a:defRPr>
            </a:pPr>
            <a:r>
              <a:rPr sz="2250" b="1">
                <a:solidFill>
                  <a:srgbClr val="9D2C2C"/>
                </a:solidFill>
              </a:rPr>
              <a:t>02  锁定项目经理</a:t>
            </a:r>
          </a:p>
        </p:txBody>
      </p:sp>
      <p:sp>
        <p:nvSpPr>
          <p:cNvPr id="5" name="ask-2-copy">
            <a:extLst xmlns:a="http://schemas.openxmlformats.org/drawingml/2006/main">
              <a:ext uri="{FF2B5EF4-FFF2-40B4-BE49-F238E27FC236}">
                <a16:creationId xmlns:a16="http://schemas.microsoft.com/office/drawing/2014/main" id="{C4B185EA-250A-4267-8AA4-C007D78C4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86225"/>
            <a:ext cx="571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B4141"/>
                </a:solidFill>
              </a:defRPr>
            </a:pPr>
            <a:r>
              <a:rPr sz="1425">
                <a:solidFill>
                  <a:srgbClr val="4B4141"/>
                </a:solidFill>
              </a:rPr>
              <a:t>在提交前完成证书、社保与同类业绩一人一档</a:t>
            </a:r>
          </a:p>
        </p:txBody>
      </p:sp>
      <p:sp>
        <p:nvSpPr>
          <p:cNvPr id="6" name="ask-3">
            <a:extLst xmlns:a="http://schemas.openxmlformats.org/drawingml/2006/main">
              <a:ext uri="{FF2B5EF4-FFF2-40B4-BE49-F238E27FC236}">
                <a16:creationId xmlns:a16="http://schemas.microsoft.com/office/drawing/2014/main" id="{BE7637C7-1193-446F-B8BB-0A6871ED4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526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9D2C2C"/>
                </a:solidFill>
              </a:defRPr>
            </a:pPr>
            <a:r>
              <a:rPr sz="2250" b="1">
                <a:solidFill>
                  <a:srgbClr val="9D2C2C"/>
                </a:solidFill>
              </a:rPr>
              <a:t>03  批准价格红线</a:t>
            </a:r>
          </a:p>
        </p:txBody>
      </p:sp>
      <p:sp>
        <p:nvSpPr>
          <p:cNvPr id="7" name="ask-3-copy">
            <a:extLst xmlns:a="http://schemas.openxmlformats.org/drawingml/2006/main">
              <a:ext uri="{FF2B5EF4-FFF2-40B4-BE49-F238E27FC236}">
                <a16:creationId xmlns:a16="http://schemas.microsoft.com/office/drawing/2014/main" id="{9BF6F9EC-1762-48AB-A2E2-866B199DA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33650"/>
            <a:ext cx="4476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B4141"/>
                </a:solidFill>
              </a:defRPr>
            </a:pPr>
            <a:r>
              <a:rPr sz="1425">
                <a:solidFill>
                  <a:srgbClr val="4B4141"/>
                </a:solidFill>
              </a:rPr>
              <a:t>价格策略不得突破 180 天交付和关键设备成本底线</a:t>
            </a:r>
          </a:p>
        </p:txBody>
      </p:sp>
      <p:sp>
        <p:nvSpPr>
          <p:cNvPr id="8" name="closing-mark">
            <a:extLst xmlns:a="http://schemas.openxmlformats.org/drawingml/2006/main">
              <a:ext uri="{FF2B5EF4-FFF2-40B4-BE49-F238E27FC236}">
                <a16:creationId xmlns:a16="http://schemas.microsoft.com/office/drawing/2014/main" id="{9F9504BB-EE2E-42A8-8C59-F347FE5DC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90950"/>
            <a:ext cx="4476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9D2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losing-mark-copy">
            <a:extLst xmlns:a="http://schemas.openxmlformats.org/drawingml/2006/main">
              <a:ext uri="{FF2B5EF4-FFF2-40B4-BE49-F238E27FC236}">
                <a16:creationId xmlns:a16="http://schemas.microsoft.com/office/drawing/2014/main" id="{5EE0F0DF-B5F9-4172-BB17-19FF5DFAA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57650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决策通过后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48 小时内完成投标任务书</a:t>
            </a:r>
          </a:p>
        </p:txBody>
      </p:sp>
    </p:spTree>
    <p:extLst>
      <p:ext uri="{BB962C8B-B14F-4D97-AF65-F5344CB8AC3E}">
        <p14:creationId xmlns:p14="http://schemas.microsoft.com/office/powerpoint/2010/main" val="1431025205"/>
      </p:ext>
    </p:extLst>
  </p:cSld>
</p:sld>
</file>

<file path=ppt/theme/theme1.xml><?xml version="1.0" encoding="utf-8"?>
<a:theme xmlns:a="http://schemas.openxmlformats.org/drawingml/2006/main" name="ChatGPT">
  <a:themeElements>
    <a:clrScheme name="Lingyun Smart Building">
      <a:dk1>
        <a:srgbClr val="171212"/>
      </a:dk1>
      <a:lt1>
        <a:srgbClr val="FFFFFF"/>
      </a:lt1>
      <a:dk2>
        <a:srgbClr val="382D2D"/>
      </a:dk2>
      <a:lt2>
        <a:srgbClr val="EFE8DE"/>
      </a:lt2>
      <a:accent1>
        <a:srgbClr val="9D2C2C"/>
      </a:accent1>
      <a:accent2>
        <a:srgbClr val="D8B46A"/>
      </a:accent2>
      <a:accent3>
        <a:srgbClr val="335C81"/>
      </a:accent3>
      <a:accent4>
        <a:srgbClr val="5A7D68"/>
      </a:accent4>
      <a:accent5>
        <a:srgbClr val="7B5D87"/>
      </a:accent5>
      <a:accent6>
        <a:srgbClr val="8B6F47"/>
      </a:accent6>
      <a:hlink>
        <a:srgbClr val="9D2C2C"/>
      </a:hlink>
      <a:folHlink>
        <a:srgbClr val="7B5D87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Lingyun Smart Building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2026-08-20T12:58:29.8300000Z</dcterms:created>
  <dcterms:modified xsi:type="dcterms:W3CDTF">2026-08-20T12:58:29.8300000Z</dcterms:modified>
</coreProperties>
</file>