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科室局部优化</c:v>
                </c:pt>
              </c:strCache>
            </c:strRef>
          </c:tx>
          <c:spPr>
            <a:solidFill>
              <a:srgbClr val="24749A"/>
            </a:solidFill>
          </c:spPr>
          <c:cat>
            <c:strRef>
              <c:f>Sheet1!$A$2:$A$5</c:f>
              <c:strCache>
                <c:ptCount val="4"/>
                <c:pt idx="0">
                  <c:v>急诊等待</c:v>
                </c:pt>
                <c:pt idx="1">
                  <c:v>检查等待</c:v>
                </c:pt>
                <c:pt idx="2">
                  <c:v>床位等待</c:v>
                </c:pt>
                <c:pt idx="3">
                  <c:v>出院准备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72.0</c:v>
                </c:pt>
                <c:pt idx="1">
                  <c:v>64.0</c:v>
                </c:pt>
                <c:pt idx="2">
                  <c:v>58.0</c:v>
                </c:pt>
                <c:pt idx="3">
                  <c:v>46.0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全流程优化</c:v>
                </c:pt>
              </c:strCache>
            </c:strRef>
          </c:tx>
          <c:spPr>
            <a:solidFill>
              <a:srgbClr val="45A88B"/>
            </a:solidFill>
          </c:spPr>
          <c:cat>
            <c:strRef>
              <c:f>Sheet1!$A$2:$A$5</c:f>
              <c:strCache>
                <c:ptCount val="4"/>
                <c:pt idx="0">
                  <c:v>急诊等待</c:v>
                </c:pt>
                <c:pt idx="1">
                  <c:v>检查等待</c:v>
                </c:pt>
                <c:pt idx="2">
                  <c:v>床位等待</c:v>
                </c:pt>
                <c:pt idx="3">
                  <c:v>出院准备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39.0</c:v>
                </c:pt>
                <c:pt idx="1">
                  <c:v>42.0</c:v>
                </c:pt>
                <c:pt idx="2">
                  <c:v>31.0</c:v>
                </c:pt>
                <c:pt idx="3">
                  <c:v>28.0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CDE0E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150607" y="658368"/>
            <a:ext cx="4343399" cy="5532120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C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87967" y="1828800"/>
            <a:ext cx="438911" cy="1874519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65591" y="2542032"/>
            <a:ext cx="1874519" cy="438912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3" y="1353312"/>
            <a:ext cx="47548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24749A"/>
                </a:solidFill>
                <a:latin typeface="Microsoft YaHei"/>
              </a:rPr>
              <a:t>医疗洁净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" y="1901952"/>
            <a:ext cx="6080759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193540"/>
                </a:solidFill>
                <a:latin typeface="Microsoft YaHei UI"/>
              </a:rPr>
              <a:t>区域医疗中心运营提升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3" y="4078224"/>
            <a:ext cx="594359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B727B"/>
                </a:solidFill>
                <a:latin typeface="Microsoft YaHei"/>
              </a:rPr>
              <a:t>质量、效率、患者体验和人才能力的季度复盘（演示数据）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727B"/>
                </a:solidFill>
                <a:latin typeface="Microsoft YaHei"/>
              </a:rPr>
              <a:t>企业 AI 工作平台 · 高质量模板库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66927" y="219456"/>
            <a:ext cx="118871" cy="475488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3191" y="393192"/>
            <a:ext cx="475487" cy="118872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1" y="329184"/>
            <a:ext cx="274319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749A"/>
                </a:solidFill>
                <a:latin typeface="Microsoft YaHei"/>
              </a:rPr>
              <a:t>关键指标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7" y="804672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93540"/>
                </a:solidFill>
                <a:latin typeface="Microsoft YaHei UI"/>
              </a:rPr>
              <a:t>四项指标界定当前状态与决策空间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5" y="121615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749A"/>
                </a:solidFill>
                <a:latin typeface="Microsoft YaHei"/>
              </a:rPr>
              <a:t>围绕急危重症和日间诊疗重构关键流程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01 / 12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1" y="2020824"/>
            <a:ext cx="5230367" cy="175564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C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1" y="2313432"/>
            <a:ext cx="2057399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24749A"/>
                </a:solidFill>
                <a:latin typeface="Microsoft YaHei UI"/>
              </a:rPr>
              <a:t>38分钟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59" y="2331720"/>
            <a:ext cx="2331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3540"/>
                </a:solidFill>
                <a:latin typeface="Microsoft YaHei"/>
              </a:rPr>
              <a:t>门球时间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59" y="2862072"/>
            <a:ext cx="2395727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727B"/>
                </a:solidFill>
                <a:latin typeface="Microsoft YaHei"/>
              </a:rPr>
              <a:t>急性卒中平均救治时间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08191" y="2020824"/>
            <a:ext cx="5230367" cy="175564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C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1" y="2313432"/>
            <a:ext cx="2057399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45A88B"/>
                </a:solidFill>
                <a:latin typeface="Microsoft YaHei UI"/>
              </a:rPr>
              <a:t>3.6天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59" y="2331720"/>
            <a:ext cx="2331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3540"/>
                </a:solidFill>
                <a:latin typeface="Microsoft YaHei"/>
              </a:rPr>
              <a:t>平均住院日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59" y="2862072"/>
            <a:ext cx="2395727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727B"/>
                </a:solidFill>
                <a:latin typeface="Microsoft YaHei"/>
              </a:rPr>
              <a:t>病例组合调整后下降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1" y="4014216"/>
            <a:ext cx="5230367" cy="175564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C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1831" y="4306824"/>
            <a:ext cx="2057399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24749A"/>
                </a:solidFill>
                <a:latin typeface="Microsoft YaHei UI"/>
              </a:rPr>
              <a:t>71%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08959" y="4325112"/>
            <a:ext cx="2331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3540"/>
                </a:solidFill>
                <a:latin typeface="Microsoft YaHei"/>
              </a:rPr>
              <a:t>日间手术占比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59" y="4855464"/>
            <a:ext cx="2395727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727B"/>
                </a:solidFill>
                <a:latin typeface="Microsoft YaHei"/>
              </a:rPr>
              <a:t>适宜术种流程标准化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08191" y="4014216"/>
            <a:ext cx="5230367" cy="175564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C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28231" y="4306824"/>
            <a:ext cx="2057399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45A88B"/>
                </a:solidFill>
                <a:latin typeface="Microsoft YaHei UI"/>
              </a:rPr>
              <a:t>92分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59" y="4325112"/>
            <a:ext cx="2331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3540"/>
                </a:solidFill>
                <a:latin typeface="Microsoft YaHei"/>
              </a:rPr>
              <a:t>患者体验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59" y="4855464"/>
            <a:ext cx="2395727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727B"/>
                </a:solidFill>
                <a:latin typeface="Microsoft YaHei"/>
              </a:rPr>
              <a:t>沟通和等待体验改善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66927" y="219456"/>
            <a:ext cx="118871" cy="475488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3191" y="393192"/>
            <a:ext cx="475487" cy="118872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1" y="329184"/>
            <a:ext cx="274319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749A"/>
                </a:solidFill>
                <a:latin typeface="Microsoft YaHei"/>
              </a:rPr>
              <a:t>路径选择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7" y="804672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93540"/>
                </a:solidFill>
                <a:latin typeface="Microsoft YaHei UI"/>
              </a:rPr>
              <a:t>两种路径的价值与代价必须同时看清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02 / 12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1" y="1463040"/>
            <a:ext cx="5358383" cy="4462272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C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5231" y="1719072"/>
            <a:ext cx="91439" cy="438912"/>
          </a:xfrm>
          <a:prstGeom prst="rect">
            <a:avLst/>
          </a:prstGeom>
          <a:solidFill>
            <a:srgbClr val="24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111495" y="1892808"/>
            <a:ext cx="438911" cy="91440"/>
          </a:xfrm>
          <a:prstGeom prst="rect">
            <a:avLst/>
          </a:prstGeom>
          <a:solidFill>
            <a:srgbClr val="24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1" y="1463040"/>
            <a:ext cx="5358383" cy="91440"/>
          </a:xfrm>
          <a:prstGeom prst="rect">
            <a:avLst/>
          </a:prstGeom>
          <a:solidFill>
            <a:srgbClr val="24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4749A"/>
                </a:solidFill>
                <a:latin typeface="Microsoft YaHei"/>
              </a:rPr>
              <a:t>科室局部优化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4749A"/>
                </a:solidFill>
                <a:latin typeface="Microsoft YaHe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59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93540"/>
                </a:solidFill>
                <a:latin typeface="Microsoft YaHei"/>
              </a:rPr>
              <a:t>启动容易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4749A"/>
                </a:solidFill>
                <a:latin typeface="Microsoft YaHe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59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93540"/>
                </a:solidFill>
                <a:latin typeface="Microsoft YaHei"/>
              </a:rPr>
              <a:t>责任集中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4749A"/>
                </a:solidFill>
                <a:latin typeface="Microsoft YaHe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59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93540"/>
                </a:solidFill>
                <a:latin typeface="Microsoft YaHei"/>
              </a:rPr>
              <a:t>跨环节等待仍在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4749A"/>
                </a:solidFill>
                <a:latin typeface="Microsoft YaHe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59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93540"/>
                </a:solidFill>
                <a:latin typeface="Microsoft YaHei"/>
              </a:rPr>
              <a:t>患者体验割裂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9631" y="1463040"/>
            <a:ext cx="5358383" cy="4462272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C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863071" y="1719072"/>
            <a:ext cx="91439" cy="438912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689335" y="1892808"/>
            <a:ext cx="438911" cy="91440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99631" y="1463040"/>
            <a:ext cx="5358383" cy="91440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2881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5A88B"/>
                </a:solidFill>
                <a:latin typeface="Microsoft YaHei"/>
              </a:rPr>
              <a:t>全流程优化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4710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5A88B"/>
                </a:solidFill>
                <a:latin typeface="Microsoft YaHe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3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93540"/>
                </a:solidFill>
                <a:latin typeface="Microsoft YaHei"/>
              </a:rPr>
              <a:t>总时长下降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4710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5A88B"/>
                </a:solidFill>
                <a:latin typeface="Microsoft YaHe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3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93540"/>
                </a:solidFill>
                <a:latin typeface="Microsoft YaHei"/>
              </a:rPr>
              <a:t>体验连续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4710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5A88B"/>
                </a:solidFill>
                <a:latin typeface="Microsoft YaHei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3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93540"/>
                </a:solidFill>
                <a:latin typeface="Microsoft YaHei"/>
              </a:rPr>
              <a:t>协调复杂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4710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5A88B"/>
                </a:solidFill>
                <a:latin typeface="Microsoft YaHei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3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93540"/>
                </a:solidFill>
                <a:latin typeface="Microsoft YaHei"/>
              </a:rPr>
              <a:t>需要共同治理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66927" y="219456"/>
            <a:ext cx="118871" cy="475488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3191" y="393192"/>
            <a:ext cx="475487" cy="118872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1" y="329184"/>
            <a:ext cx="274319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749A"/>
                </a:solidFill>
                <a:latin typeface="Microsoft YaHei"/>
              </a:rPr>
              <a:t>证据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7" y="804672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93540"/>
                </a:solidFill>
                <a:latin typeface="Microsoft YaHei UI"/>
              </a:rPr>
              <a:t>数据表明差异集中在少数关键维度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03 / 12</a:t>
            </a:r>
          </a:p>
        </p:txBody>
      </p:sp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658367" y="1463040"/>
          <a:ext cx="7635239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8595359" y="1554480"/>
            <a:ext cx="22402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749A"/>
                </a:solidFill>
                <a:latin typeface="Microsoft YaHei"/>
              </a:rPr>
              <a:t>核心洞察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071" y="2121408"/>
            <a:ext cx="2514599" cy="2148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93540"/>
                </a:solidFill>
                <a:latin typeface="Microsoft YaHei"/>
              </a:rPr>
              <a:t>跨部门流程重构使四类主要等待均明显下降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59" y="4864608"/>
            <a:ext cx="2331719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727B"/>
                </a:solidFill>
                <a:latin typeface="Microsoft YaHei"/>
              </a:rPr>
              <a:t>来源：模板演示数据，仅用于版式验证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66927" y="219456"/>
            <a:ext cx="118871" cy="475488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3191" y="393192"/>
            <a:ext cx="475487" cy="118872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1" y="329184"/>
            <a:ext cx="274319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749A"/>
                </a:solidFill>
                <a:latin typeface="Microsoft YaHei"/>
              </a:rPr>
              <a:t>交付计划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7" y="804672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93540"/>
                </a:solidFill>
                <a:latin typeface="Microsoft YaHei UI"/>
              </a:rPr>
              <a:t>工作包、责任人与时间窗口已经对齐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04 / 12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79" y="1463040"/>
          <a:ext cx="109270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077"/>
                <a:gridCol w="3213847"/>
                <a:gridCol w="2571077"/>
                <a:gridCol w="2571077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1F7FA"/>
                          </a:solidFill>
                          <a:latin typeface="Microsoft YaHei"/>
                        </a:rPr>
                        <a:t>工作包</a:t>
                      </a:r>
                    </a:p>
                  </a:txBody>
                  <a:tcPr marL="91440" marR="91440" marT="54864" marB="54864" anchor="ctr">
                    <a:solidFill>
                      <a:srgbClr val="2474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1F7FA"/>
                          </a:solidFill>
                          <a:latin typeface="Microsoft YaHei"/>
                        </a:rPr>
                        <a:t>核心交付</a:t>
                      </a:r>
                    </a:p>
                  </a:txBody>
                  <a:tcPr marL="91440" marR="91440" marT="54864" marB="54864" anchor="ctr">
                    <a:solidFill>
                      <a:srgbClr val="2474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1F7FA"/>
                          </a:solidFill>
                          <a:latin typeface="Microsoft YaHei"/>
                        </a:rPr>
                        <a:t>责任角色</a:t>
                      </a:r>
                    </a:p>
                  </a:txBody>
                  <a:tcPr marL="91440" marR="91440" marT="54864" marB="54864" anchor="ctr">
                    <a:solidFill>
                      <a:srgbClr val="2474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1F7FA"/>
                          </a:solidFill>
                          <a:latin typeface="Microsoft YaHei"/>
                        </a:rPr>
                        <a:t>完成窗口</a:t>
                      </a:r>
                    </a:p>
                  </a:txBody>
                  <a:tcPr marL="91440" marR="91440" marT="54864" marB="54864" anchor="ctr">
                    <a:solidFill>
                      <a:srgbClr val="24749A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93540"/>
                          </a:solidFill>
                          <a:latin typeface="Microsoft YaHei"/>
                        </a:rPr>
                        <a:t>诊断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3540"/>
                          </a:solidFill>
                          <a:latin typeface="Microsoft YaHei"/>
                        </a:rPr>
                        <a:t>识别高影响流程断点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3540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3540"/>
                          </a:solidFill>
                          <a:latin typeface="Microsoft YaHei"/>
                        </a:rPr>
                        <a:t>T+2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93540"/>
                          </a:solidFill>
                          <a:latin typeface="Microsoft YaHei"/>
                        </a:rPr>
                        <a:t>试点</a:t>
                      </a:r>
                    </a:p>
                  </a:txBody>
                  <a:tcPr marL="91440" marR="91440" marT="54864" marB="54864" anchor="ctr"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3540"/>
                          </a:solidFill>
                          <a:latin typeface="Microsoft YaHei"/>
                        </a:rPr>
                        <a:t>选择卒中与日间手术</a:t>
                      </a:r>
                    </a:p>
                  </a:txBody>
                  <a:tcPr marL="91440" marR="91440" marT="54864" marB="54864" anchor="ctr"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3540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3540"/>
                          </a:solidFill>
                          <a:latin typeface="Microsoft YaHei"/>
                        </a:rPr>
                        <a:t>T+4 周</a:t>
                      </a:r>
                    </a:p>
                  </a:txBody>
                  <a:tcPr marL="91440" marR="91440" marT="54864" marB="54864" anchor="ctr">
                    <a:solidFill>
                      <a:srgbClr val="F1F7FA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93540"/>
                          </a:solidFill>
                          <a:latin typeface="Microsoft YaHei"/>
                        </a:rPr>
                        <a:t>标准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3540"/>
                          </a:solidFill>
                          <a:latin typeface="Microsoft YaHei"/>
                        </a:rPr>
                        <a:t>固化路径和责任界面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3540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3540"/>
                          </a:solidFill>
                          <a:latin typeface="Microsoft YaHei"/>
                        </a:rPr>
                        <a:t>T+6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93540"/>
                          </a:solidFill>
                          <a:latin typeface="Microsoft YaHei"/>
                        </a:rPr>
                        <a:t>扩展</a:t>
                      </a:r>
                    </a:p>
                  </a:txBody>
                  <a:tcPr marL="91440" marR="91440" marT="54864" marB="54864" anchor="ctr"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3540"/>
                          </a:solidFill>
                          <a:latin typeface="Microsoft YaHei"/>
                        </a:rPr>
                        <a:t>复制到更多病种和院区</a:t>
                      </a:r>
                    </a:p>
                  </a:txBody>
                  <a:tcPr marL="91440" marR="91440" marT="54864" marB="54864" anchor="ctr"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3540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3540"/>
                          </a:solidFill>
                          <a:latin typeface="Microsoft YaHei"/>
                        </a:rPr>
                        <a:t>T+8 周</a:t>
                      </a:r>
                    </a:p>
                  </a:txBody>
                  <a:tcPr marL="91440" marR="91440" marT="54864" marB="54864" anchor="ctr">
                    <a:solidFill>
                      <a:srgbClr val="F1F7FA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93540"/>
                          </a:solidFill>
                          <a:latin typeface="Microsoft YaHei"/>
                        </a:rPr>
                        <a:t>评价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3540"/>
                          </a:solidFill>
                          <a:latin typeface="Microsoft YaHei"/>
                        </a:rPr>
                        <a:t>持续跟踪质量与体验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3540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93540"/>
                          </a:solidFill>
                          <a:latin typeface="Microsoft YaHei"/>
                        </a:rPr>
                        <a:t>T+10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66927" y="219456"/>
            <a:ext cx="118871" cy="475488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3191" y="393192"/>
            <a:ext cx="475487" cy="118872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1" y="329184"/>
            <a:ext cx="274319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749A"/>
                </a:solidFill>
                <a:latin typeface="Microsoft YaHei"/>
              </a:rPr>
              <a:t>关键抓手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7" y="804672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93540"/>
                </a:solidFill>
                <a:latin typeface="Microsoft YaHei UI"/>
              </a:rPr>
              <a:t>形成结果需要同时推进四个抓手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05 / 12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5215" y="1463040"/>
            <a:ext cx="5381243" cy="212140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C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5215" y="1463040"/>
            <a:ext cx="82295" cy="2121408"/>
          </a:xfrm>
          <a:prstGeom prst="rect">
            <a:avLst/>
          </a:prstGeom>
          <a:solidFill>
            <a:srgbClr val="24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3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93540"/>
                </a:solidFill>
                <a:latin typeface="Microsoft YaHei"/>
              </a:rPr>
              <a:t>急诊协同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3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B727B"/>
                </a:solidFill>
                <a:latin typeface="Microsoft YaHei"/>
              </a:rPr>
              <a:t>院前、急诊、影像和专科同步启动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22491" y="1463040"/>
            <a:ext cx="5381243" cy="212140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C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22491" y="1463040"/>
            <a:ext cx="82295" cy="2121408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5099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93540"/>
                </a:solidFill>
                <a:latin typeface="Microsoft YaHei"/>
              </a:rPr>
              <a:t>日间诊疗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5099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B727B"/>
                </a:solidFill>
                <a:latin typeface="Microsoft YaHei"/>
              </a:rPr>
              <a:t>术前评估和床位资源集中管理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5215" y="3840479"/>
            <a:ext cx="5381243" cy="212140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C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5215" y="3840479"/>
            <a:ext cx="82295" cy="2121408"/>
          </a:xfrm>
          <a:prstGeom prst="rect">
            <a:avLst/>
          </a:prstGeom>
          <a:solidFill>
            <a:srgbClr val="24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3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93540"/>
                </a:solidFill>
                <a:latin typeface="Microsoft YaHei"/>
              </a:rPr>
              <a:t>临床路径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3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B727B"/>
                </a:solidFill>
                <a:latin typeface="Microsoft YaHei"/>
              </a:rPr>
              <a:t>重点病种按证据减少无效差异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22491" y="3840479"/>
            <a:ext cx="5381243" cy="212140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C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22491" y="3840479"/>
            <a:ext cx="82295" cy="2121408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15099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93540"/>
                </a:solidFill>
                <a:latin typeface="Microsoft YaHei"/>
              </a:rPr>
              <a:t>患者沟通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5099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B727B"/>
                </a:solidFill>
                <a:latin typeface="Microsoft YaHei"/>
              </a:rPr>
              <a:t>在关键节点提供清晰解释和预期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66927" y="219456"/>
            <a:ext cx="118871" cy="475488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3191" y="393192"/>
            <a:ext cx="475487" cy="118872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1" y="329184"/>
            <a:ext cx="274319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749A"/>
                </a:solidFill>
                <a:latin typeface="Microsoft YaHei"/>
              </a:rPr>
              <a:t>核心判断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7" y="804672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93540"/>
                </a:solidFill>
                <a:latin typeface="Microsoft YaHei UI"/>
              </a:rPr>
              <a:t>围绕急危重症和日间诊疗重构关键流程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06 / 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24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93540"/>
                </a:solidFill>
                <a:latin typeface="Microsoft YaHei UI"/>
              </a:rPr>
              <a:t>围绕急危重症和日间诊疗重构关键流程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B727B"/>
                </a:solidFill>
                <a:latin typeface="Microsoft YaHei"/>
              </a:rPr>
              <a:t>平均住院日  ·  日间手术占比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66927" y="219456"/>
            <a:ext cx="118871" cy="475488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3191" y="393192"/>
            <a:ext cx="475487" cy="118872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1" y="329184"/>
            <a:ext cx="274319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749A"/>
                </a:solidFill>
                <a:latin typeface="Microsoft YaHei"/>
              </a:rPr>
              <a:t>实施路径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7" y="804672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93540"/>
                </a:solidFill>
                <a:latin typeface="Microsoft YaHei UI"/>
              </a:rPr>
              <a:t>五个阶段把方向转化为可验收成果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07 / 12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687" y="2962656"/>
            <a:ext cx="10177272" cy="0"/>
          </a:xfrm>
          <a:prstGeom prst="line">
            <a:avLst/>
          </a:prstGeom>
          <a:ln w="25400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31519" y="2761488"/>
            <a:ext cx="402335" cy="402336"/>
          </a:xfrm>
          <a:prstGeom prst="ellipse">
            <a:avLst/>
          </a:prstGeom>
          <a:solidFill>
            <a:srgbClr val="24749A"/>
          </a:solidFill>
          <a:ln w="7315">
            <a:solidFill>
              <a:srgbClr val="247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5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1F7FA"/>
                </a:solidFill>
                <a:latin typeface="Microsoft YaHe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5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3540"/>
                </a:solidFill>
                <a:latin typeface="Microsoft YaHei"/>
              </a:rPr>
              <a:t>诊断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39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727B"/>
                </a:solidFill>
                <a:latin typeface="Microsoft YaHei"/>
              </a:rPr>
              <a:t>识别高影响流程断点</a:t>
            </a:r>
          </a:p>
        </p:txBody>
      </p:sp>
      <p:sp>
        <p:nvSpPr>
          <p:cNvPr id="38" name="Oval 37"/>
          <p:cNvSpPr/>
          <p:nvPr/>
        </p:nvSpPr>
        <p:spPr>
          <a:xfrm>
            <a:off x="3275837" y="2761488"/>
            <a:ext cx="402335" cy="402336"/>
          </a:xfrm>
          <a:prstGeom prst="ellipse">
            <a:avLst/>
          </a:prstGeom>
          <a:solidFill>
            <a:srgbClr val="FFFFFF"/>
          </a:solidFill>
          <a:ln w="7315">
            <a:solidFill>
              <a:srgbClr val="247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12413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749A"/>
                </a:solidFill>
                <a:latin typeface="Microsoft YaHe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72333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3540"/>
                </a:solidFill>
                <a:latin typeface="Microsoft YaHei"/>
              </a:rPr>
              <a:t>试点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35757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727B"/>
                </a:solidFill>
                <a:latin typeface="Microsoft YaHei"/>
              </a:rPr>
              <a:t>选择卒中与日间手术</a:t>
            </a:r>
          </a:p>
        </p:txBody>
      </p:sp>
      <p:sp>
        <p:nvSpPr>
          <p:cNvPr id="42" name="Oval 41"/>
          <p:cNvSpPr/>
          <p:nvPr/>
        </p:nvSpPr>
        <p:spPr>
          <a:xfrm>
            <a:off x="5820155" y="2761488"/>
            <a:ext cx="402335" cy="402336"/>
          </a:xfrm>
          <a:prstGeom prst="ellipse">
            <a:avLst/>
          </a:prstGeom>
          <a:solidFill>
            <a:srgbClr val="FFFFFF"/>
          </a:solidFill>
          <a:ln w="7315">
            <a:solidFill>
              <a:srgbClr val="247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6731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749A"/>
                </a:solidFill>
                <a:latin typeface="Microsoft YaHe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6651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3540"/>
                </a:solidFill>
                <a:latin typeface="Microsoft YaHei"/>
              </a:rPr>
              <a:t>标准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80075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727B"/>
                </a:solidFill>
                <a:latin typeface="Microsoft YaHei"/>
              </a:rPr>
              <a:t>固化路径和责任界面</a:t>
            </a:r>
          </a:p>
        </p:txBody>
      </p:sp>
      <p:sp>
        <p:nvSpPr>
          <p:cNvPr id="46" name="Oval 45"/>
          <p:cNvSpPr/>
          <p:nvPr/>
        </p:nvSpPr>
        <p:spPr>
          <a:xfrm>
            <a:off x="8364473" y="2761488"/>
            <a:ext cx="402335" cy="402336"/>
          </a:xfrm>
          <a:prstGeom prst="ellipse">
            <a:avLst/>
          </a:prstGeom>
          <a:solidFill>
            <a:srgbClr val="FFFFFF"/>
          </a:solidFill>
          <a:ln w="7315">
            <a:solidFill>
              <a:srgbClr val="247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01049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749A"/>
                </a:solidFill>
                <a:latin typeface="Microsoft YaHe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60969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3540"/>
                </a:solidFill>
                <a:latin typeface="Microsoft YaHei"/>
              </a:rPr>
              <a:t>扩展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24393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727B"/>
                </a:solidFill>
                <a:latin typeface="Microsoft YaHei"/>
              </a:rPr>
              <a:t>复制到更多病种和院区</a:t>
            </a:r>
          </a:p>
        </p:txBody>
      </p:sp>
      <p:sp>
        <p:nvSpPr>
          <p:cNvPr id="50" name="Oval 49"/>
          <p:cNvSpPr/>
          <p:nvPr/>
        </p:nvSpPr>
        <p:spPr>
          <a:xfrm>
            <a:off x="10908791" y="2761488"/>
            <a:ext cx="402335" cy="402336"/>
          </a:xfrm>
          <a:prstGeom prst="ellipse">
            <a:avLst/>
          </a:prstGeom>
          <a:solidFill>
            <a:srgbClr val="FFFFFF"/>
          </a:solidFill>
          <a:ln w="7315">
            <a:solidFill>
              <a:srgbClr val="247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45367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749A"/>
                </a:solidFill>
                <a:latin typeface="Microsoft YaHei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05287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3540"/>
                </a:solidFill>
                <a:latin typeface="Microsoft YaHei"/>
              </a:rPr>
              <a:t>评价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68711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727B"/>
                </a:solidFill>
                <a:latin typeface="Microsoft YaHei"/>
              </a:rPr>
              <a:t>持续跟踪质量与体验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66927" y="219456"/>
            <a:ext cx="118871" cy="475488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3191" y="393192"/>
            <a:ext cx="475487" cy="118872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1" y="329184"/>
            <a:ext cx="274319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749A"/>
                </a:solidFill>
                <a:latin typeface="Microsoft YaHei"/>
              </a:rPr>
              <a:t>风险管理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7" y="804672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93540"/>
                </a:solidFill>
                <a:latin typeface="Microsoft YaHei UI"/>
              </a:rPr>
              <a:t>四类风险均已设置前置缓释动作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08 / 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7" y="1463040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C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3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749A"/>
                </a:solidFill>
                <a:latin typeface="Microsoft YaHei"/>
              </a:rPr>
              <a:t>质量风险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3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727B"/>
                </a:solidFill>
                <a:latin typeface="Microsoft YaHei"/>
              </a:rPr>
              <a:t>所有效率改进以临床安全为前提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44767" y="1463040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C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7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93540"/>
                </a:solidFill>
                <a:latin typeface="Microsoft YaHei"/>
              </a:rPr>
              <a:t>科室壁垒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7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727B"/>
                </a:solidFill>
                <a:latin typeface="Microsoft YaHei"/>
              </a:rPr>
              <a:t>建立跨科室共同指标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7" y="3675887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C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3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93540"/>
                </a:solidFill>
                <a:latin typeface="Microsoft YaHei"/>
              </a:rPr>
              <a:t>人员负荷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3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727B"/>
                </a:solidFill>
                <a:latin typeface="Microsoft YaHei"/>
              </a:rPr>
              <a:t>同步优化排班和支持岗位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44767" y="3675887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C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7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749A"/>
                </a:solidFill>
                <a:latin typeface="Microsoft YaHei"/>
              </a:rPr>
              <a:t>数据偏差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7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727B"/>
                </a:solidFill>
                <a:latin typeface="Microsoft YaHei"/>
              </a:rPr>
              <a:t>按病例组合校正比较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66927" y="219456"/>
            <a:ext cx="118871" cy="475488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3191" y="393192"/>
            <a:ext cx="475487" cy="118872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1" y="329184"/>
            <a:ext cx="274319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749A"/>
                </a:solidFill>
                <a:latin typeface="Microsoft YaHei"/>
              </a:rPr>
              <a:t>能力组合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7" y="804672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93540"/>
                </a:solidFill>
                <a:latin typeface="Microsoft YaHei UI"/>
              </a:rPr>
              <a:t>业务结果与能力建设必须同步发生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09 / 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1" y="1572768"/>
            <a:ext cx="5230367" cy="73152"/>
          </a:xfrm>
          <a:prstGeom prst="rect">
            <a:avLst/>
          </a:prstGeom>
          <a:solidFill>
            <a:srgbClr val="24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1" y="1792224"/>
            <a:ext cx="5047487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749A"/>
                </a:solidFill>
                <a:latin typeface="Microsoft YaHei"/>
              </a:rPr>
              <a:t>业务侧负责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79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4749A"/>
                </a:solidFill>
                <a:latin typeface="Microsoft YaHe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3" y="2414016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540"/>
                </a:solidFill>
                <a:latin typeface="Microsoft YaHei"/>
              </a:rPr>
              <a:t>急诊协同：院前、急诊、影像和专科同步启动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4749A"/>
                </a:solidFill>
                <a:latin typeface="Microsoft YaHe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3" y="3163824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540"/>
                </a:solidFill>
                <a:latin typeface="Microsoft YaHei"/>
              </a:rPr>
              <a:t>日间诊疗：术前评估和床位资源集中管理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79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4749A"/>
                </a:solidFill>
                <a:latin typeface="Microsoft YaHe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3" y="3913632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540"/>
                </a:solidFill>
                <a:latin typeface="Microsoft YaHei"/>
              </a:rPr>
              <a:t>临床路径：重点病种按证据减少无效差异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79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4749A"/>
                </a:solidFill>
                <a:latin typeface="Microsoft YaHe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3" y="4663440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540"/>
                </a:solidFill>
                <a:latin typeface="Microsoft YaHei"/>
              </a:rPr>
              <a:t>患者沟通：在关键节点提供清晰解释和预期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7" y="1572768"/>
            <a:ext cx="5303519" cy="73152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36207" y="1792224"/>
            <a:ext cx="51206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5A88B"/>
                </a:solidFill>
                <a:latin typeface="Microsoft YaHei"/>
              </a:rPr>
              <a:t>平台与职能侧负责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4495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5A88B"/>
                </a:solidFill>
                <a:latin typeface="Microsoft YaHei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79" y="2414016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540"/>
                </a:solidFill>
                <a:latin typeface="Microsoft YaHei"/>
              </a:rPr>
              <a:t>质量风险：所有效率改进以临床安全为前提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54495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5A88B"/>
                </a:solidFill>
                <a:latin typeface="Microsoft YaHei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79" y="3163824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540"/>
                </a:solidFill>
                <a:latin typeface="Microsoft YaHei"/>
              </a:rPr>
              <a:t>科室壁垒：建立跨科室共同指标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54495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5A88B"/>
                </a:solidFill>
                <a:latin typeface="Microsoft YaHei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79" y="3913632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540"/>
                </a:solidFill>
                <a:latin typeface="Microsoft YaHei"/>
              </a:rPr>
              <a:t>人员负荷：同步优化排班和支持岗位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54495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5A88B"/>
                </a:solidFill>
                <a:latin typeface="Microsoft YaHei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79" y="4663440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540"/>
                </a:solidFill>
                <a:latin typeface="Microsoft YaHei"/>
              </a:rPr>
              <a:t>数据偏差：按病例组合校正比较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66927" y="219456"/>
            <a:ext cx="118871" cy="475488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3191" y="393192"/>
            <a:ext cx="475487" cy="118872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1" y="329184"/>
            <a:ext cx="274319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749A"/>
                </a:solidFill>
                <a:latin typeface="Microsoft YaHei"/>
              </a:rPr>
              <a:t>行动清单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7" y="804672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93540"/>
                </a:solidFill>
                <a:latin typeface="Microsoft YaHei UI"/>
              </a:rPr>
              <a:t>未来八周的行动已拆解到责任和验收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10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1" y="148132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749A"/>
                </a:solidFill>
                <a:latin typeface="Microsoft YaHei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53311" y="14630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540"/>
                </a:solidFill>
                <a:latin typeface="Microsoft YaHei"/>
              </a:rPr>
              <a:t>确认急诊协同的负责人、交付物和完成标准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353311" y="1984248"/>
            <a:ext cx="9573768" cy="0"/>
          </a:xfrm>
          <a:prstGeom prst="line">
            <a:avLst/>
          </a:prstGeom>
          <a:ln w="952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13231" y="20756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749A"/>
                </a:solidFill>
                <a:latin typeface="Microsoft YaHe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53311" y="20574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540"/>
                </a:solidFill>
                <a:latin typeface="Microsoft YaHei"/>
              </a:rPr>
              <a:t>确认日间诊疗的负责人、交付物和完成标准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353311" y="2578608"/>
            <a:ext cx="9573768" cy="0"/>
          </a:xfrm>
          <a:prstGeom prst="line">
            <a:avLst/>
          </a:prstGeom>
          <a:ln w="952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13231" y="26700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749A"/>
                </a:solidFill>
                <a:latin typeface="Microsoft YaHei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53311" y="26517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540"/>
                </a:solidFill>
                <a:latin typeface="Microsoft YaHei"/>
              </a:rPr>
              <a:t>确认临床路径的负责人、交付物和完成标准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353311" y="3172968"/>
            <a:ext cx="9573768" cy="0"/>
          </a:xfrm>
          <a:prstGeom prst="line">
            <a:avLst/>
          </a:prstGeom>
          <a:ln w="952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13231" y="326440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749A"/>
                </a:solidFill>
                <a:latin typeface="Microsoft YaHei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53311" y="324612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540"/>
                </a:solidFill>
                <a:latin typeface="Microsoft YaHei"/>
              </a:rPr>
              <a:t>确认患者沟通的负责人、交付物和完成标准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353311" y="3767328"/>
            <a:ext cx="9573768" cy="0"/>
          </a:xfrm>
          <a:prstGeom prst="line">
            <a:avLst/>
          </a:prstGeom>
          <a:ln w="952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13231" y="385876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749A"/>
                </a:solidFill>
                <a:latin typeface="Microsoft YaHei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53311" y="384048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540"/>
                </a:solidFill>
                <a:latin typeface="Microsoft YaHei"/>
              </a:rPr>
              <a:t>完成诊断并关闭阶段评审问题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353311" y="4361688"/>
            <a:ext cx="9573768" cy="0"/>
          </a:xfrm>
          <a:prstGeom prst="line">
            <a:avLst/>
          </a:prstGeom>
          <a:ln w="952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13231" y="4453127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749A"/>
                </a:solidFill>
                <a:latin typeface="Microsoft YaHei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53311" y="44348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540"/>
                </a:solidFill>
                <a:latin typeface="Microsoft YaHei"/>
              </a:rPr>
              <a:t>完成试点并关闭阶段评审问题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353311" y="4956048"/>
            <a:ext cx="9573768" cy="0"/>
          </a:xfrm>
          <a:prstGeom prst="line">
            <a:avLst/>
          </a:prstGeom>
          <a:ln w="952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13231" y="50474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749A"/>
                </a:solidFill>
                <a:latin typeface="Microsoft YaHei"/>
              </a:rPr>
              <a:t>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53311" y="50292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540"/>
                </a:solidFill>
                <a:latin typeface="Microsoft YaHei"/>
              </a:rPr>
              <a:t>完成标准并关闭阶段评审问题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353311" y="5550408"/>
            <a:ext cx="9573768" cy="0"/>
          </a:xfrm>
          <a:prstGeom prst="line">
            <a:avLst/>
          </a:prstGeom>
          <a:ln w="952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13231" y="56418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749A"/>
                </a:solidFill>
                <a:latin typeface="Microsoft YaHei"/>
              </a:rPr>
              <a:t>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53311" y="56235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540"/>
                </a:solidFill>
                <a:latin typeface="Microsoft YaHei"/>
              </a:rPr>
              <a:t>完成扩展并关闭阶段评审问题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66927" y="219456"/>
            <a:ext cx="118871" cy="475488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3191" y="393192"/>
            <a:ext cx="475487" cy="118872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1" y="329184"/>
            <a:ext cx="274319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749A"/>
                </a:solidFill>
                <a:latin typeface="Microsoft YaHei"/>
              </a:rPr>
              <a:t>共同原则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7" y="804672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93540"/>
                </a:solidFill>
                <a:latin typeface="Microsoft YaHei UI"/>
              </a:rPr>
              <a:t>团队需要坚持一条简单原则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11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7" y="1572768"/>
            <a:ext cx="91439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24749A"/>
                </a:solidFill>
                <a:latin typeface="Microsoft YaHei UI"/>
              </a:rPr>
              <a:t>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87" y="1901952"/>
            <a:ext cx="9006839" cy="2240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93540"/>
                </a:solidFill>
                <a:latin typeface="Microsoft YaHei UI"/>
              </a:rPr>
              <a:t>医疗效率的终点不是更快完成流程，而是更早给患者正确的照护。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417319" y="4617720"/>
            <a:ext cx="1371600" cy="0"/>
          </a:xfrm>
          <a:prstGeom prst="line">
            <a:avLst/>
          </a:prstGeom>
          <a:ln w="38100">
            <a:solidFill>
              <a:srgbClr val="2474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99231" y="4443984"/>
            <a:ext cx="47548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B727B"/>
                </a:solidFill>
                <a:latin typeface="Microsoft YaHei"/>
              </a:rPr>
              <a:t>— 项目核心团队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66927" y="219456"/>
            <a:ext cx="118871" cy="475488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3191" y="393192"/>
            <a:ext cx="475487" cy="118872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1" y="329184"/>
            <a:ext cx="274319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749A"/>
                </a:solidFill>
                <a:latin typeface="Microsoft YaHei"/>
              </a:rPr>
              <a:t>导航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7" y="804672"/>
            <a:ext cx="102412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93540"/>
                </a:solidFill>
                <a:latin typeface="Microsoft YaHei UI"/>
              </a:rPr>
              <a:t>本次汇报回答四个关键问题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27B"/>
                </a:solidFill>
                <a:latin typeface="Microsoft YaHei"/>
              </a:rPr>
              <a:t>12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4749A"/>
                </a:solidFill>
                <a:latin typeface="Microsoft YaHei UI"/>
              </a:rPr>
              <a:t>01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408175" y="1865376"/>
            <a:ext cx="4325112" cy="0"/>
          </a:xfrm>
          <a:prstGeom prst="line">
            <a:avLst/>
          </a:prstGeom>
          <a:ln w="12700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40817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540"/>
                </a:solidFill>
                <a:latin typeface="Microsoft YaHei"/>
              </a:rPr>
              <a:t>为什么现在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0817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727B"/>
                </a:solidFill>
                <a:latin typeface="Microsoft YaHei"/>
              </a:rPr>
              <a:t>背景、变化和机会窗口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4749A"/>
                </a:solidFill>
                <a:latin typeface="Microsoft YaHei UI"/>
              </a:rPr>
              <a:t>02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08175" y="2990088"/>
            <a:ext cx="4325112" cy="0"/>
          </a:xfrm>
          <a:prstGeom prst="line">
            <a:avLst/>
          </a:prstGeom>
          <a:ln w="12700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40817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540"/>
                </a:solidFill>
                <a:latin typeface="Microsoft YaHei"/>
              </a:rPr>
              <a:t>事实说明什么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0817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727B"/>
                </a:solidFill>
                <a:latin typeface="Microsoft YaHei"/>
              </a:rPr>
              <a:t>指标、证据和关键差异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192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4749A"/>
                </a:solidFill>
                <a:latin typeface="Microsoft YaHei UI"/>
              </a:rPr>
              <a:t>03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031735" y="1865376"/>
            <a:ext cx="4325112" cy="0"/>
          </a:xfrm>
          <a:prstGeom prst="line">
            <a:avLst/>
          </a:prstGeom>
          <a:ln w="12700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03173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540"/>
                </a:solidFill>
                <a:latin typeface="Microsoft YaHei"/>
              </a:rPr>
              <a:t>应该如何选择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3173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727B"/>
                </a:solidFill>
                <a:latin typeface="Microsoft YaHei"/>
              </a:rPr>
              <a:t>方案取舍和风险边界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8192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4749A"/>
                </a:solidFill>
                <a:latin typeface="Microsoft YaHei UI"/>
              </a:rPr>
              <a:t>04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031735" y="2990088"/>
            <a:ext cx="4325112" cy="0"/>
          </a:xfrm>
          <a:prstGeom prst="line">
            <a:avLst/>
          </a:prstGeom>
          <a:ln w="12700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03173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540"/>
                </a:solidFill>
                <a:latin typeface="Microsoft YaHei"/>
              </a:rPr>
              <a:t>怎样落地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3173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727B"/>
                </a:solidFill>
                <a:latin typeface="Microsoft YaHei"/>
              </a:rPr>
              <a:t>路径、责任和验收标准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CD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150607" y="658368"/>
            <a:ext cx="4343399" cy="5532120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C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87967" y="1828800"/>
            <a:ext cx="438911" cy="1874519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65591" y="2542032"/>
            <a:ext cx="1874519" cy="438912"/>
          </a:xfrm>
          <a:prstGeom prst="rect">
            <a:avLst/>
          </a:prstGeom>
          <a:solidFill>
            <a:srgbClr val="45A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" y="1901952"/>
            <a:ext cx="6080759" cy="1325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93540"/>
                </a:solidFill>
                <a:latin typeface="Microsoft YaHei UI"/>
              </a:rPr>
              <a:t>围绕急危重症和日间诊疗重构关键流程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3" y="4078224"/>
            <a:ext cx="594359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B727B"/>
                </a:solidFill>
                <a:latin typeface="Microsoft YaHei"/>
              </a:rPr>
              <a:t>下一步：确认责任人、启动首个阶段并按周复盘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727B"/>
                </a:solidFill>
                <a:latin typeface="Microsoft YaHei"/>
              </a:rPr>
              <a:t>医疗洁净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区域医疗中心运营提升</dc:title>
  <dc:subject>由企业 AI 工作平台基于语义页面角色与自适应模板生成</dc:subject>
  <dc:creator/>
  <cp:keywords>template=clinical-blue;layout_family=premium;schema=presentation_spec.v2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