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自持重资产</c:v>
                </c:pt>
              </c:strCache>
            </c:strRef>
          </c:tx>
          <c:spPr>
            <a:solidFill>
              <a:srgbClr val="C9A45D"/>
            </a:solidFill>
          </c:spPr>
          <c:cat>
            <c:strRef>
              <c:f>Sheet1!$A$2:$A$5</c:f>
              <c:strCache>
                <c:ptCount val="4"/>
                <c:pt idx="0">
                  <c:v>房费</c:v>
                </c:pt>
                <c:pt idx="1">
                  <c:v>餐饮</c:v>
                </c:pt>
                <c:pt idx="2">
                  <c:v>活动</c:v>
                </c:pt>
                <c:pt idx="3">
                  <c:v>零售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68.0</c:v>
                </c:pt>
                <c:pt idx="1">
                  <c:v>19.0</c:v>
                </c:pt>
                <c:pt idx="2">
                  <c:v>8.0</c:v>
                </c:pt>
                <c:pt idx="3">
                  <c:v>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轻资产运营</c:v>
                </c:pt>
              </c:strCache>
            </c:strRef>
          </c:tx>
          <c:spPr>
            <a:solidFill>
              <a:srgbClr val="8E6C35"/>
            </a:solidFill>
          </c:spPr>
          <c:cat>
            <c:strRef>
              <c:f>Sheet1!$A$2:$A$5</c:f>
              <c:strCache>
                <c:ptCount val="4"/>
                <c:pt idx="0">
                  <c:v>房费</c:v>
                </c:pt>
                <c:pt idx="1">
                  <c:v>餐饮</c:v>
                </c:pt>
                <c:pt idx="2">
                  <c:v>活动</c:v>
                </c:pt>
                <c:pt idx="3">
                  <c:v>零售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57.0</c:v>
                </c:pt>
                <c:pt idx="1">
                  <c:v>24.0</c:v>
                </c:pt>
                <c:pt idx="2">
                  <c:v>12.0</c:v>
                </c:pt>
                <c:pt idx="3">
                  <c:v>7.0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>
          <c:spPr>
            <a:ln>
              <a:solidFill>
                <a:srgbClr val="35312B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226939960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1" y="347472"/>
            <a:ext cx="11494007" cy="6163056"/>
          </a:xfrm>
          <a:prstGeom prst="rect">
            <a:avLst/>
          </a:prstGeom>
          <a:solidFill>
            <a:srgbClr val="0C0C0D"/>
          </a:solidFill>
          <a:ln w="7315">
            <a:solidFill>
              <a:srgbClr val="353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1" y="530352"/>
            <a:ext cx="11128247" cy="5797296"/>
          </a:xfrm>
          <a:prstGeom prst="rect">
            <a:avLst/>
          </a:prstGeom>
          <a:solidFill>
            <a:srgbClr val="0C0C0D"/>
          </a:solidFill>
          <a:ln w="7315">
            <a:solidFill>
              <a:srgbClr val="C9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3977639" y="1444752"/>
            <a:ext cx="4233672" cy="0"/>
          </a:xfrm>
          <a:prstGeom prst="line">
            <a:avLst/>
          </a:prstGeom>
          <a:ln w="12700">
            <a:solidFill>
              <a:srgbClr val="C9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840479" y="1627632"/>
            <a:ext cx="4526279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40">
                <a:solidFill>
                  <a:srgbClr val="C9A45D"/>
                </a:solidFill>
                <a:latin typeface="Microsoft YaHei"/>
              </a:rPr>
              <a:t>黑金典藏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99" y="2331720"/>
            <a:ext cx="8531351" cy="187451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7F2E8"/>
                </a:solidFill>
                <a:latin typeface="SimSun"/>
              </a:rPr>
              <a:t>精品酒店投资推介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59" y="4224528"/>
            <a:ext cx="7799831" cy="914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AAA397"/>
                </a:solidFill>
                <a:latin typeface="Microsoft YaHei"/>
              </a:rPr>
              <a:t>稀缺区位、体验溢价与稳健现金流的投资逻辑（演示数据）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79" y="5715000"/>
            <a:ext cx="452627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AA397"/>
                </a:solidFill>
                <a:latin typeface="Microsoft YaHei"/>
              </a:rPr>
              <a:t>企业 AI 工作平台 · 高质量模板库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1" y="347472"/>
            <a:ext cx="11494007" cy="6163056"/>
          </a:xfrm>
          <a:prstGeom prst="rect">
            <a:avLst/>
          </a:prstGeom>
          <a:solidFill>
            <a:srgbClr val="0C0C0D"/>
          </a:solidFill>
          <a:ln w="7315">
            <a:solidFill>
              <a:srgbClr val="353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21791" y="438912"/>
            <a:ext cx="10917936" cy="0"/>
          </a:xfrm>
          <a:prstGeom prst="line">
            <a:avLst/>
          </a:prstGeom>
          <a:ln w="12700">
            <a:solidFill>
              <a:srgbClr val="C9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7" y="164592"/>
            <a:ext cx="2743199" cy="2103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30">
                <a:solidFill>
                  <a:srgbClr val="C9A45D"/>
                </a:solidFill>
                <a:latin typeface="Microsoft YaHei"/>
              </a:rPr>
              <a:t>核心判断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7" y="749808"/>
            <a:ext cx="106984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7F2E8"/>
                </a:solidFill>
                <a:latin typeface="SimSun"/>
              </a:rPr>
              <a:t>以轻资产运营进入三个高潜目的地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C9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397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397"/>
                </a:solidFill>
                <a:latin typeface="Microsoft YaHei"/>
              </a:rPr>
              <a:t>01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5" y="1828800"/>
            <a:ext cx="100583" cy="3429000"/>
          </a:xfrm>
          <a:prstGeom prst="rect">
            <a:avLst/>
          </a:prstGeom>
          <a:solidFill>
            <a:srgbClr val="C9A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19" y="1874519"/>
            <a:ext cx="9601199" cy="22860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7F2E8"/>
                </a:solidFill>
                <a:latin typeface="SimSun"/>
              </a:rPr>
              <a:t>以轻资产运营进入三个高潜目的地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1" y="4553712"/>
            <a:ext cx="8778239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AAA397"/>
                </a:solidFill>
                <a:latin typeface="Microsoft YaHei"/>
              </a:rPr>
              <a:t>目标 ADR  ·  稳定入住率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1" y="347472"/>
            <a:ext cx="11494007" cy="6163056"/>
          </a:xfrm>
          <a:prstGeom prst="rect">
            <a:avLst/>
          </a:prstGeom>
          <a:solidFill>
            <a:srgbClr val="0C0C0D"/>
          </a:solidFill>
          <a:ln w="7315">
            <a:solidFill>
              <a:srgbClr val="353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21791" y="438912"/>
            <a:ext cx="10917936" cy="0"/>
          </a:xfrm>
          <a:prstGeom prst="line">
            <a:avLst/>
          </a:prstGeom>
          <a:ln w="12700">
            <a:solidFill>
              <a:srgbClr val="C9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7" y="164592"/>
            <a:ext cx="2743199" cy="2103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30">
                <a:solidFill>
                  <a:srgbClr val="C9A45D"/>
                </a:solidFill>
                <a:latin typeface="Microsoft YaHei"/>
              </a:rPr>
              <a:t>路径选择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7" y="749808"/>
            <a:ext cx="106984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7F2E8"/>
                </a:solidFill>
                <a:latin typeface="SimSun"/>
              </a:rPr>
              <a:t>两种路径的价值与代价必须同时看清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C9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397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397"/>
                </a:solidFill>
                <a:latin typeface="Microsoft YaHei"/>
              </a:rPr>
              <a:t>02 / 12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9903" y="1463040"/>
            <a:ext cx="0" cy="4434839"/>
          </a:xfrm>
          <a:prstGeom prst="line">
            <a:avLst/>
          </a:prstGeom>
          <a:ln w="19050">
            <a:solidFill>
              <a:srgbClr val="3531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21791" y="1463040"/>
            <a:ext cx="5358383" cy="91440"/>
          </a:xfrm>
          <a:prstGeom prst="rect">
            <a:avLst/>
          </a:prstGeom>
          <a:solidFill>
            <a:srgbClr val="C9A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5" y="1828800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C9A45D"/>
                </a:solidFill>
                <a:latin typeface="Microsoft YaHei"/>
              </a:rPr>
              <a:t>自持重资产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3" y="2578608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9A45D"/>
                </a:solidFill>
                <a:latin typeface="Microsoft YaHe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599" y="2487168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7F2E8"/>
                </a:solidFill>
                <a:latin typeface="Microsoft YaHei"/>
              </a:rPr>
              <a:t>资产增值可享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3" y="3182112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9A45D"/>
                </a:solidFill>
                <a:latin typeface="Microsoft YaHe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599" y="309067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7F2E8"/>
                </a:solidFill>
                <a:latin typeface="Microsoft YaHei"/>
              </a:rPr>
              <a:t>控制权完整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3" y="378561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9A45D"/>
                </a:solidFill>
                <a:latin typeface="Microsoft YaHe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599" y="369417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7F2E8"/>
                </a:solidFill>
                <a:latin typeface="Microsoft YaHei"/>
              </a:rPr>
              <a:t>资本占用高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3" y="438912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9A45D"/>
                </a:solidFill>
                <a:latin typeface="Microsoft YaHe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599" y="429768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7F2E8"/>
                </a:solidFill>
                <a:latin typeface="Microsoft YaHei"/>
              </a:rPr>
              <a:t>扩张速度慢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9631" y="1463040"/>
            <a:ext cx="5358383" cy="91440"/>
          </a:xfrm>
          <a:prstGeom prst="rect">
            <a:avLst/>
          </a:prstGeom>
          <a:solidFill>
            <a:srgbClr val="8E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28815" y="1828800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8E6C35"/>
                </a:solidFill>
                <a:latin typeface="Microsoft YaHei"/>
              </a:rPr>
              <a:t>轻资产运营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2578608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E6C35"/>
                </a:solidFill>
                <a:latin typeface="Microsoft YaHe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39" y="2487168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7F2E8"/>
                </a:solidFill>
                <a:latin typeface="Microsoft YaHei"/>
              </a:rPr>
              <a:t>资本效率高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3" y="3182112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E6C35"/>
                </a:solidFill>
                <a:latin typeface="Microsoft YaHe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39" y="309067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7F2E8"/>
                </a:solidFill>
                <a:latin typeface="Microsoft YaHei"/>
              </a:rPr>
              <a:t>复制速度快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3" y="378561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E6C35"/>
                </a:solidFill>
                <a:latin typeface="Microsoft YaHe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39" y="369417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7F2E8"/>
                </a:solidFill>
                <a:latin typeface="Microsoft YaHei"/>
              </a:rPr>
              <a:t>依赖业主协同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7103" y="438912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E6C35"/>
                </a:solidFill>
                <a:latin typeface="Microsoft YaHe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39" y="429768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7F2E8"/>
                </a:solidFill>
                <a:latin typeface="Microsoft YaHei"/>
              </a:rPr>
              <a:t>品牌管理要求高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1" y="347472"/>
            <a:ext cx="11494007" cy="6163056"/>
          </a:xfrm>
          <a:prstGeom prst="rect">
            <a:avLst/>
          </a:prstGeom>
          <a:solidFill>
            <a:srgbClr val="0C0C0D"/>
          </a:solidFill>
          <a:ln w="7315">
            <a:solidFill>
              <a:srgbClr val="353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21791" y="438912"/>
            <a:ext cx="10917936" cy="0"/>
          </a:xfrm>
          <a:prstGeom prst="line">
            <a:avLst/>
          </a:prstGeom>
          <a:ln w="12700">
            <a:solidFill>
              <a:srgbClr val="C9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7" y="164592"/>
            <a:ext cx="2743199" cy="2103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30">
                <a:solidFill>
                  <a:srgbClr val="C9A45D"/>
                </a:solidFill>
                <a:latin typeface="Microsoft YaHei"/>
              </a:rPr>
              <a:t>关键指标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7" y="749808"/>
            <a:ext cx="106984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7F2E8"/>
                </a:solidFill>
                <a:latin typeface="SimSun"/>
              </a:rPr>
              <a:t>四项指标界定当前状态与决策空间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5" y="121615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9A45D"/>
                </a:solidFill>
                <a:latin typeface="Microsoft YaHei"/>
              </a:rPr>
              <a:t>以轻资产运营进入三个高潜目的地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C9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397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397"/>
                </a:solidFill>
                <a:latin typeface="Microsoft YaHei"/>
              </a:rPr>
              <a:t>03 /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523744"/>
            <a:ext cx="2320289" cy="10058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C9A45D"/>
                </a:solidFill>
                <a:latin typeface="SimSun"/>
              </a:rPr>
              <a:t>72间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685032"/>
            <a:ext cx="2311145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7F2E8"/>
                </a:solidFill>
                <a:latin typeface="Microsoft YaHei"/>
              </a:rPr>
              <a:t>单店客房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325112"/>
            <a:ext cx="227456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AA397"/>
                </a:solidFill>
                <a:latin typeface="Microsoft YaHei"/>
              </a:rPr>
              <a:t>控制规模并保持体验密度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35273" y="2203704"/>
            <a:ext cx="0" cy="3246120"/>
          </a:xfrm>
          <a:prstGeom prst="line">
            <a:avLst/>
          </a:prstGeom>
          <a:ln w="12700">
            <a:solidFill>
              <a:srgbClr val="3531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536441" y="2523744"/>
            <a:ext cx="2320289" cy="10058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7F2E8"/>
                </a:solidFill>
                <a:latin typeface="SimSun"/>
              </a:rPr>
              <a:t>¥1,680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4729" y="3685032"/>
            <a:ext cx="2311145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7F2E8"/>
                </a:solidFill>
                <a:latin typeface="Microsoft YaHei"/>
              </a:rPr>
              <a:t>目标 ADR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4729" y="4325112"/>
            <a:ext cx="227456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AA397"/>
                </a:solidFill>
                <a:latin typeface="Microsoft YaHei"/>
              </a:rPr>
              <a:t>由设计与本地体验支撑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67043" y="2203704"/>
            <a:ext cx="0" cy="3246120"/>
          </a:xfrm>
          <a:prstGeom prst="line">
            <a:avLst/>
          </a:prstGeom>
          <a:ln w="12700">
            <a:solidFill>
              <a:srgbClr val="3531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68211" y="2523744"/>
            <a:ext cx="2320289" cy="10058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7F2E8"/>
                </a:solidFill>
                <a:latin typeface="SimSun"/>
              </a:rPr>
              <a:t>78%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6499" y="3685032"/>
            <a:ext cx="2311145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7F2E8"/>
                </a:solidFill>
                <a:latin typeface="Microsoft YaHei"/>
              </a:rPr>
              <a:t>稳定入住率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6499" y="4325112"/>
            <a:ext cx="227456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AA397"/>
                </a:solidFill>
                <a:latin typeface="Microsoft YaHei"/>
              </a:rPr>
              <a:t>会员和目的地客群组合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98813" y="2203704"/>
            <a:ext cx="0" cy="3246120"/>
          </a:xfrm>
          <a:prstGeom prst="line">
            <a:avLst/>
          </a:prstGeom>
          <a:ln w="12700">
            <a:solidFill>
              <a:srgbClr val="3531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999981" y="2523744"/>
            <a:ext cx="2320289" cy="10058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7F2E8"/>
                </a:solidFill>
                <a:latin typeface="SimSun"/>
              </a:rPr>
              <a:t>26%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18269" y="3685032"/>
            <a:ext cx="2311145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7F2E8"/>
                </a:solidFill>
                <a:latin typeface="Microsoft YaHei"/>
              </a:rPr>
              <a:t>项目 IRR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8269" y="4325112"/>
            <a:ext cx="227456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AA397"/>
                </a:solidFill>
                <a:latin typeface="Microsoft YaHei"/>
              </a:rPr>
              <a:t>轻资产模型提升资本效率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1" y="347472"/>
            <a:ext cx="11494007" cy="6163056"/>
          </a:xfrm>
          <a:prstGeom prst="rect">
            <a:avLst/>
          </a:prstGeom>
          <a:solidFill>
            <a:srgbClr val="0C0C0D"/>
          </a:solidFill>
          <a:ln w="7315">
            <a:solidFill>
              <a:srgbClr val="353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21791" y="438912"/>
            <a:ext cx="10917936" cy="0"/>
          </a:xfrm>
          <a:prstGeom prst="line">
            <a:avLst/>
          </a:prstGeom>
          <a:ln w="12700">
            <a:solidFill>
              <a:srgbClr val="C9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7" y="164592"/>
            <a:ext cx="2743199" cy="2103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30">
                <a:solidFill>
                  <a:srgbClr val="C9A45D"/>
                </a:solidFill>
                <a:latin typeface="Microsoft YaHei"/>
              </a:rPr>
              <a:t>共同原则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7" y="749808"/>
            <a:ext cx="106984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7F2E8"/>
                </a:solidFill>
                <a:latin typeface="SimSun"/>
              </a:rPr>
              <a:t>团队需要坚持一条简单原则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C9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397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397"/>
                </a:solidFill>
                <a:latin typeface="Microsoft YaHei"/>
              </a:rPr>
              <a:t>04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7" y="1572768"/>
            <a:ext cx="914399" cy="914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300" b="1">
                <a:solidFill>
                  <a:srgbClr val="C9A45D"/>
                </a:solidFill>
                <a:latin typeface="SimSun"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7" y="1901952"/>
            <a:ext cx="9006839" cy="22402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7F2E8"/>
                </a:solidFill>
                <a:latin typeface="SimSun"/>
              </a:rPr>
              <a:t>真正的高端不是堆叠昂贵元素，而是让每一个细节都值得被记住。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17319" y="4617720"/>
            <a:ext cx="1371600" cy="0"/>
          </a:xfrm>
          <a:prstGeom prst="line">
            <a:avLst/>
          </a:prstGeom>
          <a:ln w="38100">
            <a:solidFill>
              <a:srgbClr val="C9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999231" y="4443984"/>
            <a:ext cx="4754879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AA397"/>
                </a:solidFill>
                <a:latin typeface="Microsoft YaHei"/>
              </a:rPr>
              <a:t>— 项目核心团队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1" y="347472"/>
            <a:ext cx="11494007" cy="6163056"/>
          </a:xfrm>
          <a:prstGeom prst="rect">
            <a:avLst/>
          </a:prstGeom>
          <a:solidFill>
            <a:srgbClr val="0C0C0D"/>
          </a:solidFill>
          <a:ln w="7315">
            <a:solidFill>
              <a:srgbClr val="353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21791" y="438912"/>
            <a:ext cx="10917936" cy="0"/>
          </a:xfrm>
          <a:prstGeom prst="line">
            <a:avLst/>
          </a:prstGeom>
          <a:ln w="12700">
            <a:solidFill>
              <a:srgbClr val="C9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7" y="164592"/>
            <a:ext cx="2743199" cy="2103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30">
                <a:solidFill>
                  <a:srgbClr val="C9A45D"/>
                </a:solidFill>
                <a:latin typeface="Microsoft YaHei"/>
              </a:rPr>
              <a:t>关键抓手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7" y="749808"/>
            <a:ext cx="106984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7F2E8"/>
                </a:solidFill>
                <a:latin typeface="SimSun"/>
              </a:rPr>
              <a:t>形成结果需要同时推进四个抓手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C9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397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397"/>
                </a:solidFill>
                <a:latin typeface="Microsoft YaHei"/>
              </a:rPr>
              <a:t>05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5" y="1463040"/>
            <a:ext cx="5381243" cy="2121408"/>
          </a:xfrm>
          <a:prstGeom prst="rect">
            <a:avLst/>
          </a:prstGeom>
          <a:solidFill>
            <a:srgbClr val="171719"/>
          </a:solidFill>
          <a:ln w="7315">
            <a:solidFill>
              <a:srgbClr val="353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841247" y="1783080"/>
            <a:ext cx="4869180" cy="0"/>
          </a:xfrm>
          <a:prstGeom prst="line">
            <a:avLst/>
          </a:prstGeom>
          <a:ln w="12700">
            <a:solidFill>
              <a:srgbClr val="C9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7823" y="1737360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7F2E8"/>
                </a:solidFill>
                <a:latin typeface="Microsoft YaHei"/>
              </a:rPr>
              <a:t>稀缺物业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3" y="2331720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AA397"/>
                </a:solidFill>
                <a:latin typeface="Microsoft YaHei"/>
              </a:rPr>
              <a:t>选择具有历史、自然或城市故事的资产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2491" y="1463040"/>
            <a:ext cx="5381243" cy="2121408"/>
          </a:xfrm>
          <a:prstGeom prst="rect">
            <a:avLst/>
          </a:prstGeom>
          <a:solidFill>
            <a:srgbClr val="171719"/>
          </a:solidFill>
          <a:ln w="7315">
            <a:solidFill>
              <a:srgbClr val="353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6478523" y="1783080"/>
            <a:ext cx="4869180" cy="0"/>
          </a:xfrm>
          <a:prstGeom prst="line">
            <a:avLst/>
          </a:prstGeom>
          <a:ln w="12700">
            <a:solidFill>
              <a:srgbClr val="C9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15099" y="1737360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7F2E8"/>
                </a:solidFill>
                <a:latin typeface="Microsoft YaHei"/>
              </a:rPr>
              <a:t>体验溢价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5099" y="2331720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AA397"/>
                </a:solidFill>
                <a:latin typeface="Microsoft YaHei"/>
              </a:rPr>
              <a:t>用设计、餐饮和在地内容形成差异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5" y="3840479"/>
            <a:ext cx="5381243" cy="2121408"/>
          </a:xfrm>
          <a:prstGeom prst="rect">
            <a:avLst/>
          </a:prstGeom>
          <a:solidFill>
            <a:srgbClr val="171719"/>
          </a:solidFill>
          <a:ln w="7315">
            <a:solidFill>
              <a:srgbClr val="353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841247" y="4160519"/>
            <a:ext cx="4869180" cy="0"/>
          </a:xfrm>
          <a:prstGeom prst="line">
            <a:avLst/>
          </a:prstGeom>
          <a:ln w="12700">
            <a:solidFill>
              <a:srgbClr val="C9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77823" y="4114799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7F2E8"/>
                </a:solidFill>
                <a:latin typeface="Microsoft YaHei"/>
              </a:rPr>
              <a:t>会员直销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3" y="4709159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AA397"/>
                </a:solidFill>
                <a:latin typeface="Microsoft YaHei"/>
              </a:rPr>
              <a:t>降低渠道成本并提高复购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22491" y="3840479"/>
            <a:ext cx="5381243" cy="2121408"/>
          </a:xfrm>
          <a:prstGeom prst="rect">
            <a:avLst/>
          </a:prstGeom>
          <a:solidFill>
            <a:srgbClr val="171719"/>
          </a:solidFill>
          <a:ln w="7315">
            <a:solidFill>
              <a:srgbClr val="353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6478523" y="4160519"/>
            <a:ext cx="4869180" cy="0"/>
          </a:xfrm>
          <a:prstGeom prst="line">
            <a:avLst/>
          </a:prstGeom>
          <a:ln w="12700">
            <a:solidFill>
              <a:srgbClr val="C9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15099" y="4114799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7F2E8"/>
                </a:solidFill>
                <a:latin typeface="Microsoft YaHei"/>
              </a:rPr>
              <a:t>轻资产运营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5099" y="4709159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AA397"/>
                </a:solidFill>
                <a:latin typeface="Microsoft YaHei"/>
              </a:rPr>
              <a:t>输出品牌、标准和收益管理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1" y="347472"/>
            <a:ext cx="11494007" cy="6163056"/>
          </a:xfrm>
          <a:prstGeom prst="rect">
            <a:avLst/>
          </a:prstGeom>
          <a:solidFill>
            <a:srgbClr val="0C0C0D"/>
          </a:solidFill>
          <a:ln w="7315">
            <a:solidFill>
              <a:srgbClr val="353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21791" y="438912"/>
            <a:ext cx="10917936" cy="0"/>
          </a:xfrm>
          <a:prstGeom prst="line">
            <a:avLst/>
          </a:prstGeom>
          <a:ln w="12700">
            <a:solidFill>
              <a:srgbClr val="C9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7" y="164592"/>
            <a:ext cx="2743199" cy="2103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30">
                <a:solidFill>
                  <a:srgbClr val="C9A45D"/>
                </a:solidFill>
                <a:latin typeface="Microsoft YaHei"/>
              </a:rPr>
              <a:t>证据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7" y="749808"/>
            <a:ext cx="106984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7F2E8"/>
                </a:solidFill>
                <a:latin typeface="SimSun"/>
              </a:rPr>
              <a:t>数据表明差异集中在少数关键维度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C9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397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397"/>
                </a:solidFill>
                <a:latin typeface="Microsoft YaHei"/>
              </a:rPr>
              <a:t>06 / 12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58367" y="1463040"/>
          <a:ext cx="7635239" cy="43159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595359" y="1554480"/>
            <a:ext cx="2240279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9A45D"/>
                </a:solidFill>
                <a:latin typeface="Microsoft YaHei"/>
              </a:rPr>
              <a:t>核心洞察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7071" y="2121408"/>
            <a:ext cx="2514599" cy="21488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7F2E8"/>
                </a:solidFill>
                <a:latin typeface="Microsoft YaHei"/>
              </a:rPr>
              <a:t>体验型酒店的非房收入贡献更高，增强淡季韧性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59" y="4864608"/>
            <a:ext cx="2331719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AA397"/>
                </a:solidFill>
                <a:latin typeface="Microsoft YaHei"/>
              </a:rPr>
              <a:t>来源：模板演示数据，仅用于版式验证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1" y="347472"/>
            <a:ext cx="11494007" cy="6163056"/>
          </a:xfrm>
          <a:prstGeom prst="rect">
            <a:avLst/>
          </a:prstGeom>
          <a:solidFill>
            <a:srgbClr val="0C0C0D"/>
          </a:solidFill>
          <a:ln w="7315">
            <a:solidFill>
              <a:srgbClr val="353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21791" y="438912"/>
            <a:ext cx="10917936" cy="0"/>
          </a:xfrm>
          <a:prstGeom prst="line">
            <a:avLst/>
          </a:prstGeom>
          <a:ln w="12700">
            <a:solidFill>
              <a:srgbClr val="C9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7" y="164592"/>
            <a:ext cx="2743199" cy="2103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30">
                <a:solidFill>
                  <a:srgbClr val="C9A45D"/>
                </a:solidFill>
                <a:latin typeface="Microsoft YaHei"/>
              </a:rPr>
              <a:t>交付计划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7" y="749808"/>
            <a:ext cx="106984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7F2E8"/>
                </a:solidFill>
                <a:latin typeface="SimSun"/>
              </a:rPr>
              <a:t>工作包、责任人与时间窗口已经对齐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C9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397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397"/>
                </a:solidFill>
                <a:latin typeface="Microsoft YaHei"/>
              </a:rPr>
              <a:t>07 / 12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79" y="1463040"/>
          <a:ext cx="10927079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7618"/>
                <a:gridCol w="3434225"/>
                <a:gridCol w="2497618"/>
                <a:gridCol w="2497618"/>
              </a:tblGrid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C0C0D"/>
                          </a:solidFill>
                          <a:latin typeface="Microsoft YaHei"/>
                        </a:rPr>
                        <a:t>工作包</a:t>
                      </a:r>
                    </a:p>
                  </a:txBody>
                  <a:tcPr marL="91440" marR="91440" marT="54864" marB="54864" anchor="ctr">
                    <a:solidFill>
                      <a:srgbClr val="C9A4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C0C0D"/>
                          </a:solidFill>
                          <a:latin typeface="Microsoft YaHei"/>
                        </a:rPr>
                        <a:t>核心交付</a:t>
                      </a:r>
                    </a:p>
                  </a:txBody>
                  <a:tcPr marL="91440" marR="91440" marT="54864" marB="54864" anchor="ctr">
                    <a:solidFill>
                      <a:srgbClr val="C9A4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C0C0D"/>
                          </a:solidFill>
                          <a:latin typeface="Microsoft YaHei"/>
                        </a:rPr>
                        <a:t>责任角色</a:t>
                      </a:r>
                    </a:p>
                  </a:txBody>
                  <a:tcPr marL="91440" marR="91440" marT="54864" marB="54864" anchor="ctr">
                    <a:solidFill>
                      <a:srgbClr val="C9A4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C0C0D"/>
                          </a:solidFill>
                          <a:latin typeface="Microsoft YaHei"/>
                        </a:rPr>
                        <a:t>完成窗口</a:t>
                      </a:r>
                    </a:p>
                  </a:txBody>
                  <a:tcPr marL="91440" marR="91440" marT="54864" marB="54864" anchor="ctr">
                    <a:solidFill>
                      <a:srgbClr val="C9A45D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7F2E8"/>
                          </a:solidFill>
                          <a:latin typeface="Microsoft YaHei"/>
                        </a:rPr>
                        <a:t>选址</a:t>
                      </a:r>
                    </a:p>
                  </a:txBody>
                  <a:tcPr marL="91440" marR="91440" marT="54864" marB="54864" anchor="ctr">
                    <a:solidFill>
                      <a:srgbClr val="1717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7F2E8"/>
                          </a:solidFill>
                          <a:latin typeface="Microsoft YaHei"/>
                        </a:rPr>
                        <a:t>筛选三个高潜目的地</a:t>
                      </a:r>
                    </a:p>
                  </a:txBody>
                  <a:tcPr marL="91440" marR="91440" marT="54864" marB="54864" anchor="ctr">
                    <a:solidFill>
                      <a:srgbClr val="1717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7F2E8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1717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7F2E8"/>
                          </a:solidFill>
                          <a:latin typeface="Microsoft YaHei"/>
                        </a:rPr>
                        <a:t>T+2 周</a:t>
                      </a:r>
                    </a:p>
                  </a:txBody>
                  <a:tcPr marL="91440" marR="91440" marT="54864" marB="54864" anchor="ctr">
                    <a:solidFill>
                      <a:srgbClr val="171719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7F2E8"/>
                          </a:solidFill>
                          <a:latin typeface="Microsoft YaHei"/>
                        </a:rPr>
                        <a:t>签约</a:t>
                      </a:r>
                    </a:p>
                  </a:txBody>
                  <a:tcPr marL="91440" marR="91440" marT="54864" marB="54864" anchor="ctr">
                    <a:solidFill>
                      <a:srgbClr val="0C0C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7F2E8"/>
                          </a:solidFill>
                          <a:latin typeface="Microsoft YaHei"/>
                        </a:rPr>
                        <a:t>锁定长期运营与改造边界</a:t>
                      </a:r>
                    </a:p>
                  </a:txBody>
                  <a:tcPr marL="91440" marR="91440" marT="54864" marB="54864" anchor="ctr">
                    <a:solidFill>
                      <a:srgbClr val="0C0C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7F2E8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0C0C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7F2E8"/>
                          </a:solidFill>
                          <a:latin typeface="Microsoft YaHei"/>
                        </a:rPr>
                        <a:t>T+4 周</a:t>
                      </a:r>
                    </a:p>
                  </a:txBody>
                  <a:tcPr marL="91440" marR="91440" marT="54864" marB="54864" anchor="ctr">
                    <a:solidFill>
                      <a:srgbClr val="0C0C0D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7F2E8"/>
                          </a:solidFill>
                          <a:latin typeface="Microsoft YaHei"/>
                        </a:rPr>
                        <a:t>设计</a:t>
                      </a:r>
                    </a:p>
                  </a:txBody>
                  <a:tcPr marL="91440" marR="91440" marT="54864" marB="54864" anchor="ctr">
                    <a:solidFill>
                      <a:srgbClr val="1717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7F2E8"/>
                          </a:solidFill>
                          <a:latin typeface="Microsoft YaHei"/>
                        </a:rPr>
                        <a:t>形成品牌与空间体验</a:t>
                      </a:r>
                    </a:p>
                  </a:txBody>
                  <a:tcPr marL="91440" marR="91440" marT="54864" marB="54864" anchor="ctr">
                    <a:solidFill>
                      <a:srgbClr val="1717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7F2E8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1717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7F2E8"/>
                          </a:solidFill>
                          <a:latin typeface="Microsoft YaHei"/>
                        </a:rPr>
                        <a:t>T+6 周</a:t>
                      </a:r>
                    </a:p>
                  </a:txBody>
                  <a:tcPr marL="91440" marR="91440" marT="54864" marB="54864" anchor="ctr">
                    <a:solidFill>
                      <a:srgbClr val="171719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7F2E8"/>
                          </a:solidFill>
                          <a:latin typeface="Microsoft YaHei"/>
                        </a:rPr>
                        <a:t>筹开</a:t>
                      </a:r>
                    </a:p>
                  </a:txBody>
                  <a:tcPr marL="91440" marR="91440" marT="54864" marB="54864" anchor="ctr">
                    <a:solidFill>
                      <a:srgbClr val="0C0C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7F2E8"/>
                          </a:solidFill>
                          <a:latin typeface="Microsoft YaHei"/>
                        </a:rPr>
                        <a:t>完成团队、渠道和试运营</a:t>
                      </a:r>
                    </a:p>
                  </a:txBody>
                  <a:tcPr marL="91440" marR="91440" marT="54864" marB="54864" anchor="ctr">
                    <a:solidFill>
                      <a:srgbClr val="0C0C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7F2E8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0C0C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7F2E8"/>
                          </a:solidFill>
                          <a:latin typeface="Microsoft YaHei"/>
                        </a:rPr>
                        <a:t>T+8 周</a:t>
                      </a:r>
                    </a:p>
                  </a:txBody>
                  <a:tcPr marL="91440" marR="91440" marT="54864" marB="54864" anchor="ctr">
                    <a:solidFill>
                      <a:srgbClr val="0C0C0D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7F2E8"/>
                          </a:solidFill>
                          <a:latin typeface="Microsoft YaHei"/>
                        </a:rPr>
                        <a:t>爬坡</a:t>
                      </a:r>
                    </a:p>
                  </a:txBody>
                  <a:tcPr marL="91440" marR="91440" marT="54864" marB="54864" anchor="ctr">
                    <a:solidFill>
                      <a:srgbClr val="1717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7F2E8"/>
                          </a:solidFill>
                          <a:latin typeface="Microsoft YaHei"/>
                        </a:rPr>
                        <a:t>十二个月达到稳定经营</a:t>
                      </a:r>
                    </a:p>
                  </a:txBody>
                  <a:tcPr marL="91440" marR="91440" marT="54864" marB="54864" anchor="ctr">
                    <a:solidFill>
                      <a:srgbClr val="1717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7F2E8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1717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7F2E8"/>
                          </a:solidFill>
                          <a:latin typeface="Microsoft YaHei"/>
                        </a:rPr>
                        <a:t>T+10 周</a:t>
                      </a:r>
                    </a:p>
                  </a:txBody>
                  <a:tcPr marL="91440" marR="91440" marT="54864" marB="54864" anchor="ctr">
                    <a:solidFill>
                      <a:srgbClr val="17171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1" y="347472"/>
            <a:ext cx="11494007" cy="6163056"/>
          </a:xfrm>
          <a:prstGeom prst="rect">
            <a:avLst/>
          </a:prstGeom>
          <a:solidFill>
            <a:srgbClr val="0C0C0D"/>
          </a:solidFill>
          <a:ln w="7315">
            <a:solidFill>
              <a:srgbClr val="353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21791" y="438912"/>
            <a:ext cx="10917936" cy="0"/>
          </a:xfrm>
          <a:prstGeom prst="line">
            <a:avLst/>
          </a:prstGeom>
          <a:ln w="12700">
            <a:solidFill>
              <a:srgbClr val="C9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7" y="164592"/>
            <a:ext cx="2743199" cy="2103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30">
                <a:solidFill>
                  <a:srgbClr val="C9A45D"/>
                </a:solidFill>
                <a:latin typeface="Microsoft YaHei"/>
              </a:rPr>
              <a:t>导航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7" y="749808"/>
            <a:ext cx="106984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7F2E8"/>
                </a:solidFill>
                <a:latin typeface="SimSun"/>
              </a:rPr>
              <a:t>本次汇报回答四个关键问题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C9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397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397"/>
                </a:solidFill>
                <a:latin typeface="Microsoft YaHei"/>
              </a:rPr>
              <a:t>08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7" y="1463040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C9A45D"/>
                </a:solidFill>
                <a:latin typeface="SimSun"/>
              </a:rPr>
              <a:t>01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08175" y="1865376"/>
            <a:ext cx="4325112" cy="0"/>
          </a:xfrm>
          <a:prstGeom prst="line">
            <a:avLst/>
          </a:prstGeom>
          <a:ln w="12700">
            <a:solidFill>
              <a:srgbClr val="3531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408175" y="1444752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7F2E8"/>
                </a:solidFill>
                <a:latin typeface="Microsoft YaHei"/>
              </a:rPr>
              <a:t>为什么现在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5" y="1901952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AA397"/>
                </a:solidFill>
                <a:latin typeface="Microsoft YaHei"/>
              </a:rPr>
              <a:t>背景、变化和机会窗口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" y="2587752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C9A45D"/>
                </a:solidFill>
                <a:latin typeface="SimSun"/>
              </a:rPr>
              <a:t>02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08175" y="2990088"/>
            <a:ext cx="4325112" cy="0"/>
          </a:xfrm>
          <a:prstGeom prst="line">
            <a:avLst/>
          </a:prstGeom>
          <a:ln w="12700">
            <a:solidFill>
              <a:srgbClr val="3531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408175" y="2569464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7F2E8"/>
                </a:solidFill>
                <a:latin typeface="Microsoft YaHei"/>
              </a:rPr>
              <a:t>事实说明什么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8175" y="3026664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AA397"/>
                </a:solidFill>
                <a:latin typeface="Microsoft YaHei"/>
              </a:rPr>
              <a:t>指标、证据和关键差异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7" y="1463040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C9A45D"/>
                </a:solidFill>
                <a:latin typeface="SimSun"/>
              </a:rPr>
              <a:t>03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31735" y="1865376"/>
            <a:ext cx="4325112" cy="0"/>
          </a:xfrm>
          <a:prstGeom prst="line">
            <a:avLst/>
          </a:prstGeom>
          <a:ln w="12700">
            <a:solidFill>
              <a:srgbClr val="3531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031735" y="1444752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7F2E8"/>
                </a:solidFill>
                <a:latin typeface="Microsoft YaHei"/>
              </a:rPr>
              <a:t>应该如何选择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1735" y="1901952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AA397"/>
                </a:solidFill>
                <a:latin typeface="Microsoft YaHei"/>
              </a:rPr>
              <a:t>方案取舍和风险边界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7" y="2587752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C9A45D"/>
                </a:solidFill>
                <a:latin typeface="SimSun"/>
              </a:rPr>
              <a:t>04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031735" y="2990088"/>
            <a:ext cx="4325112" cy="0"/>
          </a:xfrm>
          <a:prstGeom prst="line">
            <a:avLst/>
          </a:prstGeom>
          <a:ln w="12700">
            <a:solidFill>
              <a:srgbClr val="3531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031735" y="2569464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7F2E8"/>
                </a:solidFill>
                <a:latin typeface="Microsoft YaHei"/>
              </a:rPr>
              <a:t>怎样落地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31735" y="3026664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AA397"/>
                </a:solidFill>
                <a:latin typeface="Microsoft YaHei"/>
              </a:rPr>
              <a:t>路径、责任和验收标准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1" y="347472"/>
            <a:ext cx="11494007" cy="6163056"/>
          </a:xfrm>
          <a:prstGeom prst="rect">
            <a:avLst/>
          </a:prstGeom>
          <a:solidFill>
            <a:srgbClr val="0C0C0D"/>
          </a:solidFill>
          <a:ln w="7315">
            <a:solidFill>
              <a:srgbClr val="353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21791" y="438912"/>
            <a:ext cx="10917936" cy="0"/>
          </a:xfrm>
          <a:prstGeom prst="line">
            <a:avLst/>
          </a:prstGeom>
          <a:ln w="12700">
            <a:solidFill>
              <a:srgbClr val="C9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7" y="164592"/>
            <a:ext cx="2743199" cy="2103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30">
                <a:solidFill>
                  <a:srgbClr val="C9A45D"/>
                </a:solidFill>
                <a:latin typeface="Microsoft YaHei"/>
              </a:rPr>
              <a:t>实施路径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7" y="749808"/>
            <a:ext cx="106984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7F2E8"/>
                </a:solidFill>
                <a:latin typeface="SimSun"/>
              </a:rPr>
              <a:t>五个阶段把方向转化为可验收成果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C9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397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397"/>
                </a:solidFill>
                <a:latin typeface="Microsoft YaHei"/>
              </a:rPr>
              <a:t>09 / 12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32687" y="2962656"/>
            <a:ext cx="10177272" cy="0"/>
          </a:xfrm>
          <a:prstGeom prst="line">
            <a:avLst/>
          </a:prstGeom>
          <a:ln w="25400">
            <a:solidFill>
              <a:srgbClr val="3531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iamond 9"/>
          <p:cNvSpPr/>
          <p:nvPr/>
        </p:nvSpPr>
        <p:spPr>
          <a:xfrm>
            <a:off x="731519" y="2761488"/>
            <a:ext cx="402335" cy="402336"/>
          </a:xfrm>
          <a:prstGeom prst="diamond">
            <a:avLst/>
          </a:prstGeom>
          <a:solidFill>
            <a:srgbClr val="C9A45D"/>
          </a:solidFill>
          <a:ln w="7315">
            <a:solidFill>
              <a:srgbClr val="C9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5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C0C0D"/>
                </a:solidFill>
                <a:latin typeface="Microsoft Ya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5" y="2048256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7F2E8"/>
                </a:solidFill>
                <a:latin typeface="Microsoft YaHei"/>
              </a:rPr>
              <a:t>选址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39" y="1463040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AA397"/>
                </a:solidFill>
                <a:latin typeface="Microsoft YaHei"/>
              </a:rPr>
              <a:t>筛选三个高潜目的地</a:t>
            </a:r>
          </a:p>
        </p:txBody>
      </p:sp>
      <p:sp>
        <p:nvSpPr>
          <p:cNvPr id="14" name="Diamond 13"/>
          <p:cNvSpPr/>
          <p:nvPr/>
        </p:nvSpPr>
        <p:spPr>
          <a:xfrm>
            <a:off x="3275837" y="2761488"/>
            <a:ext cx="402335" cy="402336"/>
          </a:xfrm>
          <a:prstGeom prst="diamond">
            <a:avLst/>
          </a:prstGeom>
          <a:solidFill>
            <a:srgbClr val="171719"/>
          </a:solidFill>
          <a:ln w="7315">
            <a:solidFill>
              <a:srgbClr val="C9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2413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9A45D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2333" y="3346704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7F2E8"/>
                </a:solidFill>
                <a:latin typeface="Microsoft YaHei"/>
              </a:rPr>
              <a:t>签约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35757" y="3895344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AA397"/>
                </a:solidFill>
                <a:latin typeface="Microsoft YaHei"/>
              </a:rPr>
              <a:t>锁定长期运营与改造边界</a:t>
            </a:r>
          </a:p>
        </p:txBody>
      </p:sp>
      <p:sp>
        <p:nvSpPr>
          <p:cNvPr id="18" name="Diamond 17"/>
          <p:cNvSpPr/>
          <p:nvPr/>
        </p:nvSpPr>
        <p:spPr>
          <a:xfrm>
            <a:off x="5820155" y="2761488"/>
            <a:ext cx="402335" cy="402336"/>
          </a:xfrm>
          <a:prstGeom prst="diamond">
            <a:avLst/>
          </a:prstGeom>
          <a:solidFill>
            <a:srgbClr val="171719"/>
          </a:solidFill>
          <a:ln w="7315">
            <a:solidFill>
              <a:srgbClr val="C9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6731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9A45D"/>
                </a:solidFill>
                <a:latin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6651" y="2048256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7F2E8"/>
                </a:solidFill>
                <a:latin typeface="Microsoft YaHei"/>
              </a:rPr>
              <a:t>设计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0075" y="1463040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AA397"/>
                </a:solidFill>
                <a:latin typeface="Microsoft YaHei"/>
              </a:rPr>
              <a:t>形成品牌与空间体验</a:t>
            </a:r>
          </a:p>
        </p:txBody>
      </p:sp>
      <p:sp>
        <p:nvSpPr>
          <p:cNvPr id="22" name="Diamond 21"/>
          <p:cNvSpPr/>
          <p:nvPr/>
        </p:nvSpPr>
        <p:spPr>
          <a:xfrm>
            <a:off x="8364473" y="2761488"/>
            <a:ext cx="402335" cy="402336"/>
          </a:xfrm>
          <a:prstGeom prst="diamond">
            <a:avLst/>
          </a:prstGeom>
          <a:solidFill>
            <a:srgbClr val="171719"/>
          </a:solidFill>
          <a:ln w="7315">
            <a:solidFill>
              <a:srgbClr val="C9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01049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9A45D"/>
                </a:solidFill>
                <a:latin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60969" y="3346704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7F2E8"/>
                </a:solidFill>
                <a:latin typeface="Microsoft YaHei"/>
              </a:rPr>
              <a:t>筹开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4393" y="3895344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AA397"/>
                </a:solidFill>
                <a:latin typeface="Microsoft YaHei"/>
              </a:rPr>
              <a:t>完成团队、渠道和试运营</a:t>
            </a:r>
          </a:p>
        </p:txBody>
      </p:sp>
      <p:sp>
        <p:nvSpPr>
          <p:cNvPr id="26" name="Diamond 25"/>
          <p:cNvSpPr/>
          <p:nvPr/>
        </p:nvSpPr>
        <p:spPr>
          <a:xfrm>
            <a:off x="10908791" y="2761488"/>
            <a:ext cx="402335" cy="402336"/>
          </a:xfrm>
          <a:prstGeom prst="diamond">
            <a:avLst/>
          </a:prstGeom>
          <a:solidFill>
            <a:srgbClr val="171719"/>
          </a:solidFill>
          <a:ln w="7315">
            <a:solidFill>
              <a:srgbClr val="C9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45367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9A45D"/>
                </a:solidFill>
                <a:latin typeface="Microsoft YaHe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05287" y="2048256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7F2E8"/>
                </a:solidFill>
                <a:latin typeface="Microsoft YaHei"/>
              </a:rPr>
              <a:t>爬坡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68711" y="1463040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AA397"/>
                </a:solidFill>
                <a:latin typeface="Microsoft YaHei"/>
              </a:rPr>
              <a:t>十二个月达到稳定经营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1" y="347472"/>
            <a:ext cx="11494007" cy="6163056"/>
          </a:xfrm>
          <a:prstGeom prst="rect">
            <a:avLst/>
          </a:prstGeom>
          <a:solidFill>
            <a:srgbClr val="0C0C0D"/>
          </a:solidFill>
          <a:ln w="7315">
            <a:solidFill>
              <a:srgbClr val="353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21791" y="438912"/>
            <a:ext cx="10917936" cy="0"/>
          </a:xfrm>
          <a:prstGeom prst="line">
            <a:avLst/>
          </a:prstGeom>
          <a:ln w="12700">
            <a:solidFill>
              <a:srgbClr val="C9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7" y="164592"/>
            <a:ext cx="2743199" cy="2103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30">
                <a:solidFill>
                  <a:srgbClr val="C9A45D"/>
                </a:solidFill>
                <a:latin typeface="Microsoft YaHei"/>
              </a:rPr>
              <a:t>风险管理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7" y="749808"/>
            <a:ext cx="106984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7F2E8"/>
                </a:solidFill>
                <a:latin typeface="SimSun"/>
              </a:rPr>
              <a:t>四类风险均已设置前置缓释动作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C9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397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397"/>
                </a:solidFill>
                <a:latin typeface="Microsoft YaHei"/>
              </a:rPr>
              <a:t>10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7" y="1463040"/>
            <a:ext cx="5230367" cy="1938528"/>
          </a:xfrm>
          <a:prstGeom prst="rect">
            <a:avLst/>
          </a:prstGeom>
          <a:solidFill>
            <a:srgbClr val="171719"/>
          </a:solidFill>
          <a:ln w="7315">
            <a:solidFill>
              <a:srgbClr val="353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399" y="1700784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9A45D"/>
                </a:solidFill>
                <a:latin typeface="Microsoft YaHei"/>
              </a:rPr>
              <a:t>改造超支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399" y="2249424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AA397"/>
                </a:solidFill>
                <a:latin typeface="Microsoft YaHei"/>
              </a:rPr>
              <a:t>前置勘察和成本上限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4767" y="1463040"/>
            <a:ext cx="5230367" cy="1938528"/>
          </a:xfrm>
          <a:prstGeom prst="rect">
            <a:avLst/>
          </a:prstGeom>
          <a:solidFill>
            <a:srgbClr val="171719"/>
          </a:solidFill>
          <a:ln w="7315">
            <a:solidFill>
              <a:srgbClr val="353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799" y="1700784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F2E8"/>
                </a:solidFill>
                <a:latin typeface="Microsoft YaHei"/>
              </a:rPr>
              <a:t>淡旺季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799" y="2249424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AA397"/>
                </a:solidFill>
                <a:latin typeface="Microsoft YaHei"/>
              </a:rPr>
              <a:t>组合会议、度假和本地客群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7" y="3675887"/>
            <a:ext cx="5230367" cy="1938528"/>
          </a:xfrm>
          <a:prstGeom prst="rect">
            <a:avLst/>
          </a:prstGeom>
          <a:solidFill>
            <a:srgbClr val="171719"/>
          </a:solidFill>
          <a:ln w="7315">
            <a:solidFill>
              <a:srgbClr val="353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399" y="3913631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F2E8"/>
                </a:solidFill>
                <a:latin typeface="Microsoft YaHei"/>
              </a:rPr>
              <a:t>体验不一致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399" y="4462272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AA397"/>
                </a:solidFill>
                <a:latin typeface="Microsoft YaHei"/>
              </a:rPr>
              <a:t>强化开业前训练和审计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7" y="3675887"/>
            <a:ext cx="5230367" cy="1938528"/>
          </a:xfrm>
          <a:prstGeom prst="rect">
            <a:avLst/>
          </a:prstGeom>
          <a:solidFill>
            <a:srgbClr val="171719"/>
          </a:solidFill>
          <a:ln w="7315">
            <a:solidFill>
              <a:srgbClr val="353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799" y="3913631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9A45D"/>
                </a:solidFill>
                <a:latin typeface="Microsoft YaHei"/>
              </a:rPr>
              <a:t>渠道依赖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799" y="4462272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AA397"/>
                </a:solidFill>
                <a:latin typeface="Microsoft YaHei"/>
              </a:rPr>
              <a:t>建立会员与内容直销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1" y="347472"/>
            <a:ext cx="11494007" cy="6163056"/>
          </a:xfrm>
          <a:prstGeom prst="rect">
            <a:avLst/>
          </a:prstGeom>
          <a:solidFill>
            <a:srgbClr val="0C0C0D"/>
          </a:solidFill>
          <a:ln w="7315">
            <a:solidFill>
              <a:srgbClr val="353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21791" y="438912"/>
            <a:ext cx="10917936" cy="0"/>
          </a:xfrm>
          <a:prstGeom prst="line">
            <a:avLst/>
          </a:prstGeom>
          <a:ln w="12700">
            <a:solidFill>
              <a:srgbClr val="C9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7" y="164592"/>
            <a:ext cx="2743199" cy="2103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30">
                <a:solidFill>
                  <a:srgbClr val="C9A45D"/>
                </a:solidFill>
                <a:latin typeface="Microsoft YaHei"/>
              </a:rPr>
              <a:t>能力组合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7" y="749808"/>
            <a:ext cx="106984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7F2E8"/>
                </a:solidFill>
                <a:latin typeface="SimSun"/>
              </a:rPr>
              <a:t>业务结果与能力建设必须同步发生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C9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397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397"/>
                </a:solidFill>
                <a:latin typeface="Microsoft YaHei"/>
              </a:rPr>
              <a:t>11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1" y="1572768"/>
            <a:ext cx="5230367" cy="73152"/>
          </a:xfrm>
          <a:prstGeom prst="rect">
            <a:avLst/>
          </a:prstGeom>
          <a:solidFill>
            <a:srgbClr val="C9A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1" y="1792224"/>
            <a:ext cx="5047487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9A45D"/>
                </a:solidFill>
                <a:latin typeface="Microsoft YaHei"/>
              </a:rPr>
              <a:t>业务侧负责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79" y="2505456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C9A45D"/>
                </a:solidFill>
                <a:latin typeface="Microsoft YaHe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3" y="2414016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7F2E8"/>
                </a:solidFill>
                <a:latin typeface="Microsoft YaHei"/>
              </a:rPr>
              <a:t>稀缺物业：选择具有历史、自然或城市故事的资产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79" y="3255264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C9A45D"/>
                </a:solidFill>
                <a:latin typeface="Microsoft YaHe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3" y="3163824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7F2E8"/>
                </a:solidFill>
                <a:latin typeface="Microsoft YaHei"/>
              </a:rPr>
              <a:t>体验溢价：用设计、餐饮和在地内容形成差异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79" y="4005072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C9A45D"/>
                </a:solidFill>
                <a:latin typeface="Microsoft YaHe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3" y="3913632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7F2E8"/>
                </a:solidFill>
                <a:latin typeface="Microsoft YaHei"/>
              </a:rPr>
              <a:t>会员直销：降低渠道成本并提高复购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79" y="4754880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C9A45D"/>
                </a:solidFill>
                <a:latin typeface="Microsoft YaHe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3" y="4663440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7F2E8"/>
                </a:solidFill>
                <a:latin typeface="Microsoft YaHei"/>
              </a:rPr>
              <a:t>轻资产运营：输出品牌、标准和收益管理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6207" y="1572768"/>
            <a:ext cx="5303519" cy="73152"/>
          </a:xfrm>
          <a:prstGeom prst="rect">
            <a:avLst/>
          </a:prstGeom>
          <a:solidFill>
            <a:srgbClr val="8E6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7" y="1792224"/>
            <a:ext cx="51206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8E6C35"/>
                </a:solidFill>
                <a:latin typeface="Microsoft YaHei"/>
              </a:rPr>
              <a:t>平台与职能侧负责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4495" y="2505456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8E6C35"/>
                </a:solidFill>
                <a:latin typeface="Microsoft YaHe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79" y="2414016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7F2E8"/>
                </a:solidFill>
                <a:latin typeface="Microsoft YaHei"/>
              </a:rPr>
              <a:t>改造超支：前置勘察和成本上限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4495" y="3255264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8E6C35"/>
                </a:solidFill>
                <a:latin typeface="Microsoft YaHe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79" y="3163824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7F2E8"/>
                </a:solidFill>
                <a:latin typeface="Microsoft YaHei"/>
              </a:rPr>
              <a:t>淡旺季：组合会议、度假和本地客群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4495" y="4005072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8E6C35"/>
                </a:solidFill>
                <a:latin typeface="Microsoft YaHe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79" y="3913632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7F2E8"/>
                </a:solidFill>
                <a:latin typeface="Microsoft YaHei"/>
              </a:rPr>
              <a:t>体验不一致：强化开业前训练和审计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4495" y="4754880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8E6C35"/>
                </a:solidFill>
                <a:latin typeface="Microsoft YaHe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4663440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7F2E8"/>
                </a:solidFill>
                <a:latin typeface="Microsoft YaHei"/>
              </a:rPr>
              <a:t>渠道依赖：建立会员与内容直销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1" y="347472"/>
            <a:ext cx="11494007" cy="6163056"/>
          </a:xfrm>
          <a:prstGeom prst="rect">
            <a:avLst/>
          </a:prstGeom>
          <a:solidFill>
            <a:srgbClr val="0C0C0D"/>
          </a:solidFill>
          <a:ln w="7315">
            <a:solidFill>
              <a:srgbClr val="353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21791" y="438912"/>
            <a:ext cx="10917936" cy="0"/>
          </a:xfrm>
          <a:prstGeom prst="line">
            <a:avLst/>
          </a:prstGeom>
          <a:ln w="12700">
            <a:solidFill>
              <a:srgbClr val="C9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7" y="164592"/>
            <a:ext cx="2743199" cy="2103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130">
                <a:solidFill>
                  <a:srgbClr val="C9A45D"/>
                </a:solidFill>
                <a:latin typeface="Microsoft YaHei"/>
              </a:rPr>
              <a:t>行动清单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7" y="749808"/>
            <a:ext cx="1069847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7F2E8"/>
                </a:solidFill>
                <a:latin typeface="SimSun"/>
              </a:rPr>
              <a:t>未来八周的行动已拆解到责任和验收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C9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397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A397"/>
                </a:solidFill>
                <a:latin typeface="Microsoft YaHei"/>
              </a:rPr>
              <a:t>12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1" y="148132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9A45D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1" y="146304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7F2E8"/>
                </a:solidFill>
                <a:latin typeface="Microsoft YaHei"/>
              </a:rPr>
              <a:t>确认稀缺物业的负责人、交付物和完成标准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53311" y="1984248"/>
            <a:ext cx="9573768" cy="0"/>
          </a:xfrm>
          <a:prstGeom prst="line">
            <a:avLst/>
          </a:prstGeom>
          <a:ln w="9525">
            <a:solidFill>
              <a:srgbClr val="3531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1" y="207568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9A45D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1" y="205740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7F2E8"/>
                </a:solidFill>
                <a:latin typeface="Microsoft YaHei"/>
              </a:rPr>
              <a:t>确认体验溢价的负责人、交付物和完成标准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353311" y="2578608"/>
            <a:ext cx="9573768" cy="0"/>
          </a:xfrm>
          <a:prstGeom prst="line">
            <a:avLst/>
          </a:prstGeom>
          <a:ln w="9525">
            <a:solidFill>
              <a:srgbClr val="3531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13231" y="267004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9A45D"/>
                </a:solidFill>
                <a:latin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1" y="265176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7F2E8"/>
                </a:solidFill>
                <a:latin typeface="Microsoft YaHei"/>
              </a:rPr>
              <a:t>确认会员直销的负责人、交付物和完成标准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353311" y="3172968"/>
            <a:ext cx="9573768" cy="0"/>
          </a:xfrm>
          <a:prstGeom prst="line">
            <a:avLst/>
          </a:prstGeom>
          <a:ln w="9525">
            <a:solidFill>
              <a:srgbClr val="3531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13231" y="326440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9A45D"/>
                </a:solidFill>
                <a:latin typeface="Microsoft Ya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1" y="324612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7F2E8"/>
                </a:solidFill>
                <a:latin typeface="Microsoft YaHei"/>
              </a:rPr>
              <a:t>确认轻资产运营的负责人、交付物和完成标准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353311" y="3767328"/>
            <a:ext cx="9573768" cy="0"/>
          </a:xfrm>
          <a:prstGeom prst="line">
            <a:avLst/>
          </a:prstGeom>
          <a:ln w="9525">
            <a:solidFill>
              <a:srgbClr val="3531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13231" y="385876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9A45D"/>
                </a:solidFill>
                <a:latin typeface="Microsoft YaHe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1" y="384048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7F2E8"/>
                </a:solidFill>
                <a:latin typeface="Microsoft YaHei"/>
              </a:rPr>
              <a:t>完成选址并关闭阶段评审问题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353311" y="4361688"/>
            <a:ext cx="9573768" cy="0"/>
          </a:xfrm>
          <a:prstGeom prst="line">
            <a:avLst/>
          </a:prstGeom>
          <a:ln w="9525">
            <a:solidFill>
              <a:srgbClr val="3531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13231" y="4453127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9A45D"/>
                </a:solidFill>
                <a:latin typeface="Microsoft YaHei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3311" y="443484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7F2E8"/>
                </a:solidFill>
                <a:latin typeface="Microsoft YaHei"/>
              </a:rPr>
              <a:t>完成签约并关闭阶段评审问题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353311" y="4956048"/>
            <a:ext cx="9573768" cy="0"/>
          </a:xfrm>
          <a:prstGeom prst="line">
            <a:avLst/>
          </a:prstGeom>
          <a:ln w="9525">
            <a:solidFill>
              <a:srgbClr val="3531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13231" y="504748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9A45D"/>
                </a:solidFill>
                <a:latin typeface="Microsoft YaHei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3311" y="502920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7F2E8"/>
                </a:solidFill>
                <a:latin typeface="Microsoft YaHei"/>
              </a:rPr>
              <a:t>完成设计并关闭阶段评审问题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353311" y="5550408"/>
            <a:ext cx="9573768" cy="0"/>
          </a:xfrm>
          <a:prstGeom prst="line">
            <a:avLst/>
          </a:prstGeom>
          <a:ln w="9525">
            <a:solidFill>
              <a:srgbClr val="3531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13231" y="564184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9A45D"/>
                </a:solidFill>
                <a:latin typeface="Microsoft YaHei"/>
              </a:rP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53311" y="562356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7F2E8"/>
                </a:solidFill>
                <a:latin typeface="Microsoft YaHei"/>
              </a:rPr>
              <a:t>完成筹开并关闭阶段评审问题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1" y="347472"/>
            <a:ext cx="11494007" cy="6163056"/>
          </a:xfrm>
          <a:prstGeom prst="rect">
            <a:avLst/>
          </a:prstGeom>
          <a:solidFill>
            <a:srgbClr val="0C0C0D"/>
          </a:solidFill>
          <a:ln w="7315">
            <a:solidFill>
              <a:srgbClr val="353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1" y="530352"/>
            <a:ext cx="11128247" cy="5797296"/>
          </a:xfrm>
          <a:prstGeom prst="rect">
            <a:avLst/>
          </a:prstGeom>
          <a:solidFill>
            <a:srgbClr val="0C0C0D"/>
          </a:solidFill>
          <a:ln w="7315">
            <a:solidFill>
              <a:srgbClr val="C9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3977639" y="1444752"/>
            <a:ext cx="4233672" cy="0"/>
          </a:xfrm>
          <a:prstGeom prst="line">
            <a:avLst/>
          </a:prstGeom>
          <a:ln w="12700">
            <a:solidFill>
              <a:srgbClr val="C9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828799" y="2331720"/>
            <a:ext cx="8531351" cy="1325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7F2E8"/>
                </a:solidFill>
                <a:latin typeface="SimSun"/>
              </a:rPr>
              <a:t>以轻资产运营进入三个高潜目的地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59" y="4224528"/>
            <a:ext cx="7799831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AAA397"/>
                </a:solidFill>
                <a:latin typeface="Microsoft YaHei"/>
              </a:rPr>
              <a:t>下一步：确认责任人、启动首个阶段并按周复盘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79" y="5715000"/>
            <a:ext cx="452627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AA397"/>
                </a:solidFill>
                <a:latin typeface="Microsoft YaHei"/>
              </a:rPr>
              <a:t>黑金典藏  ·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精品酒店投资推介</dc:title>
  <dc:subject>由企业 AI 工作平台基于语义页面角色与自适应模板生成</dc:subject>
  <dc:creator/>
  <cp:keywords>template=noir-gold;layout_family=premium;schema=presentation_spec.v2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