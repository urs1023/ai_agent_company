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边界防护</c:v>
                </c:pt>
              </c:strCache>
            </c:strRef>
          </c:tx>
          <c:spPr>
            <a:solidFill>
              <a:srgbClr val="2FF3E0"/>
            </a:solidFill>
          </c:spPr>
          <c:cat>
            <c:strRef>
              <c:f>Sheet1!$A$2:$A$5</c:f>
              <c:strCache>
                <c:ptCount val="4"/>
                <c:pt idx="0">
                  <c:v>身份</c:v>
                </c:pt>
                <c:pt idx="1">
                  <c:v>设备</c:v>
                </c:pt>
                <c:pt idx="2">
                  <c:v>应用</c:v>
                </c:pt>
                <c:pt idx="3">
                  <c:v>数据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94.0</c:v>
                </c:pt>
                <c:pt idx="1">
                  <c:v>73.0</c:v>
                </c:pt>
                <c:pt idx="2">
                  <c:v>61.0</c:v>
                </c:pt>
                <c:pt idx="3">
                  <c:v>48.0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零信任</c:v>
                </c:pt>
              </c:strCache>
            </c:strRef>
          </c:tx>
          <c:spPr>
            <a:solidFill>
              <a:srgbClr val="9C6CFF"/>
            </a:solidFill>
          </c:spPr>
          <c:cat>
            <c:strRef>
              <c:f>Sheet1!$A$2:$A$5</c:f>
              <c:strCache>
                <c:ptCount val="4"/>
                <c:pt idx="0">
                  <c:v>身份</c:v>
                </c:pt>
                <c:pt idx="1">
                  <c:v>设备</c:v>
                </c:pt>
                <c:pt idx="2">
                  <c:v>应用</c:v>
                </c:pt>
                <c:pt idx="3">
                  <c:v>数据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71.0</c:v>
                </c:pt>
                <c:pt idx="1">
                  <c:v>46.0</c:v>
                </c:pt>
                <c:pt idx="2">
                  <c:v>42.0</c:v>
                </c:pt>
                <c:pt idx="3">
                  <c:v>35.0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24324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19" y="457200"/>
            <a:ext cx="11155679" cy="5943600"/>
          </a:xfrm>
          <a:prstGeom prst="rect">
            <a:avLst/>
          </a:prstGeom>
          <a:solidFill>
            <a:srgbClr val="070B14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19" y="1234440"/>
            <a:ext cx="201167" cy="201168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19" y="2606040"/>
            <a:ext cx="201167" cy="201168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59" y="5074920"/>
            <a:ext cx="201167" cy="201168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052559" y="1335024"/>
            <a:ext cx="1371600" cy="1371600"/>
          </a:xfrm>
          <a:prstGeom prst="line">
            <a:avLst/>
          </a:prstGeom>
          <a:ln w="127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686799" y="2706624"/>
            <a:ext cx="1737360" cy="2468880"/>
          </a:xfrm>
          <a:prstGeom prst="line">
            <a:avLst/>
          </a:prstGeom>
          <a:ln w="12700">
            <a:solidFill>
              <a:srgbClr val="9C6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3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2FF3E0"/>
                </a:solidFill>
                <a:latin typeface="Microsoft YaHei"/>
              </a:rPr>
              <a:t>赛博霓虹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" y="1901952"/>
            <a:ext cx="731519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5F7FF"/>
                </a:solidFill>
                <a:latin typeface="Consolas"/>
              </a:rPr>
              <a:t>零信任安全体系升级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3" y="4078224"/>
            <a:ext cx="676655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AA8BC"/>
                </a:solidFill>
                <a:latin typeface="Microsoft YaHei"/>
              </a:rPr>
              <a:t>身份、设备、应用和数据的持续验证路线图（演示数据）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8BC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风险管理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四类风险均已设置前置缓释动作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01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111827"/>
          </a:solidFill>
          <a:ln w="7315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F3E0"/>
                </a:solidFill>
                <a:latin typeface="Microsoft YaHei"/>
              </a:rPr>
              <a:t>业务中断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A8BC"/>
                </a:solidFill>
                <a:latin typeface="Microsoft YaHei"/>
              </a:rPr>
              <a:t>灰度策略和快速回退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111827"/>
          </a:solidFill>
          <a:ln w="7315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F"/>
                </a:solidFill>
                <a:latin typeface="Microsoft YaHei"/>
              </a:rPr>
              <a:t>遗留系统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A8BC"/>
                </a:solidFill>
                <a:latin typeface="Microsoft YaHei"/>
              </a:rPr>
              <a:t>代理与网关双路径接入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111827"/>
          </a:solidFill>
          <a:ln w="7315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F"/>
                </a:solidFill>
                <a:latin typeface="Microsoft YaHei"/>
              </a:rPr>
              <a:t>策略膨胀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A8BC"/>
                </a:solidFill>
                <a:latin typeface="Microsoft YaHei"/>
              </a:rPr>
              <a:t>统一命名和生命周期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111827"/>
          </a:solidFill>
          <a:ln w="7315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F3E0"/>
                </a:solidFill>
                <a:latin typeface="Microsoft YaHei"/>
              </a:rPr>
              <a:t>告警疲劳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A8BC"/>
                </a:solidFill>
                <a:latin typeface="Microsoft YaHei"/>
              </a:rPr>
              <a:t>按风险和业务影响分级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数据表明差异集中在少数关键维度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02 / 12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F3E0"/>
                </a:solidFill>
                <a:latin typeface="Microsoft YaHei"/>
              </a:rPr>
              <a:t>核心洞察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F"/>
                </a:solidFill>
                <a:latin typeface="Microsoft YaHei"/>
              </a:rPr>
              <a:t>身份建设领先，数据级策略是下一阶段最大缺口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核心判断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先统一身份与策略，再分批收敛高风险访问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03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5F7FF"/>
                </a:solidFill>
                <a:latin typeface="Consolas"/>
              </a:rPr>
              <a:t>先统一身份与策略，再分批收敛高风险访问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AA8BC"/>
                </a:solidFill>
                <a:latin typeface="Microsoft YaHei"/>
              </a:rPr>
              <a:t>受管设备  ·  横向移动风险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能力组合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业务结果与能力建设必须同步发生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04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F3E0"/>
                </a:solidFill>
                <a:latin typeface="Microsoft YaHei"/>
              </a:rPr>
              <a:t>业务侧负责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FF3E0"/>
                </a:solidFill>
                <a:latin typeface="Microsoft YaHe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F"/>
                </a:solidFill>
                <a:latin typeface="Microsoft YaHei"/>
              </a:rPr>
              <a:t>统一身份：整合目录、认证与特权账号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FF3E0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F"/>
                </a:solidFill>
                <a:latin typeface="Microsoft YaHei"/>
              </a:rPr>
              <a:t>设备信任：持续评估健康状态和风险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FF3E0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F"/>
                </a:solidFill>
                <a:latin typeface="Microsoft YaHei"/>
              </a:rPr>
              <a:t>策略中心：按用户、设备和资源动态授权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FF3E0"/>
                </a:solidFill>
                <a:latin typeface="Microsoft YaHe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F"/>
                </a:solidFill>
                <a:latin typeface="Microsoft YaHei"/>
              </a:rPr>
              <a:t>数据保护：分类分级并控制敏感操作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C6CFF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9C6CFF"/>
                </a:solidFill>
                <a:latin typeface="Microsoft YaHe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F"/>
                </a:solidFill>
                <a:latin typeface="Microsoft YaHei"/>
              </a:rPr>
              <a:t>业务中断：灰度策略和快速回退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9C6CFF"/>
                </a:solidFill>
                <a:latin typeface="Microsoft YaHe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F"/>
                </a:solidFill>
                <a:latin typeface="Microsoft YaHei"/>
              </a:rPr>
              <a:t>遗留系统：代理与网关双路径接入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9C6CFF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F"/>
                </a:solidFill>
                <a:latin typeface="Microsoft YaHei"/>
              </a:rPr>
              <a:t>策略膨胀：统一命名和生命周期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9C6CFF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F"/>
                </a:solidFill>
                <a:latin typeface="Microsoft YaHei"/>
              </a:rPr>
              <a:t>告警疲劳：按风险和业务影响分级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关键指标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四项指标界定当前状态与决策空间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F3E0"/>
                </a:solidFill>
                <a:latin typeface="Microsoft YaHei"/>
              </a:rPr>
              <a:t>先统一身份与策略，再分批收敛高风险访问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05 / 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1" y="2020824"/>
            <a:ext cx="5532119" cy="4069080"/>
          </a:xfrm>
          <a:prstGeom prst="roundRect">
            <a:avLst/>
          </a:prstGeom>
          <a:solidFill>
            <a:srgbClr val="111827"/>
          </a:solidFill>
          <a:ln w="7315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7" y="2679191"/>
            <a:ext cx="4846319" cy="1234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FF3E0"/>
                </a:solidFill>
                <a:latin typeface="Consolas"/>
              </a:rPr>
              <a:t>98.4%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" y="4078224"/>
            <a:ext cx="470915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7FF"/>
                </a:solidFill>
                <a:latin typeface="Microsoft YaHei"/>
              </a:rPr>
              <a:t>强认证覆盖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" y="4791456"/>
            <a:ext cx="470915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A8BC"/>
                </a:solidFill>
                <a:latin typeface="Microsoft YaHei"/>
              </a:rPr>
              <a:t>核心人员和高风险应用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1" y="2249424"/>
            <a:ext cx="1920239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7FF"/>
                </a:solidFill>
                <a:latin typeface="Consolas"/>
              </a:rPr>
              <a:t>73%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79" y="2295144"/>
            <a:ext cx="242315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7FF"/>
                </a:solidFill>
                <a:latin typeface="Microsoft YaHei"/>
              </a:rPr>
              <a:t>受管设备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79" y="2752344"/>
            <a:ext cx="251459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8BC"/>
                </a:solidFill>
                <a:latin typeface="Microsoft YaHei"/>
              </a:rPr>
              <a:t>持续验证安全基线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56831" y="3319272"/>
            <a:ext cx="4517136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56831" y="3605784"/>
            <a:ext cx="1920239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9C6CFF"/>
                </a:solidFill>
                <a:latin typeface="Consolas"/>
              </a:rPr>
              <a:t>-46%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79" y="3651504"/>
            <a:ext cx="242315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7FF"/>
                </a:solidFill>
                <a:latin typeface="Microsoft YaHei"/>
              </a:rPr>
              <a:t>横向移动风险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79" y="4108704"/>
            <a:ext cx="251459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8BC"/>
                </a:solidFill>
                <a:latin typeface="Microsoft YaHei"/>
              </a:rPr>
              <a:t>微隔离覆盖关键区域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656831" y="4675632"/>
            <a:ext cx="4517136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56831" y="4962144"/>
            <a:ext cx="1920239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7FF"/>
                </a:solidFill>
                <a:latin typeface="Consolas"/>
              </a:rPr>
              <a:t>12分钟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79" y="5007864"/>
            <a:ext cx="242315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7FF"/>
                </a:solidFill>
                <a:latin typeface="Microsoft YaHei"/>
              </a:rPr>
              <a:t>异常处置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79" y="5465064"/>
            <a:ext cx="251459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8BC"/>
                </a:solidFill>
                <a:latin typeface="Microsoft YaHei"/>
              </a:rPr>
              <a:t>自动化策略缩短响应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实施路径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五个阶段把方向转化为可验收成果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06 / 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519" y="2761488"/>
            <a:ext cx="402335" cy="402336"/>
          </a:xfrm>
          <a:prstGeom prst="ellipse">
            <a:avLst/>
          </a:prstGeom>
          <a:solidFill>
            <a:srgbClr val="2FF3E0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70B14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F"/>
                </a:solidFill>
                <a:latin typeface="Microsoft YaHei"/>
              </a:rPr>
              <a:t>发现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盘点身份、设备和应用</a:t>
            </a:r>
          </a:p>
        </p:txBody>
      </p:sp>
      <p:sp>
        <p:nvSpPr>
          <p:cNvPr id="25" name="Oval 24"/>
          <p:cNvSpPr/>
          <p:nvPr/>
        </p:nvSpPr>
        <p:spPr>
          <a:xfrm>
            <a:off x="3275837" y="2761488"/>
            <a:ext cx="402335" cy="402336"/>
          </a:xfrm>
          <a:prstGeom prst="ellipse">
            <a:avLst/>
          </a:prstGeom>
          <a:solidFill>
            <a:srgbClr val="111827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F"/>
                </a:solidFill>
                <a:latin typeface="Microsoft YaHei"/>
              </a:rPr>
              <a:t>统一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部署认证和策略中心</a:t>
            </a:r>
          </a:p>
        </p:txBody>
      </p:sp>
      <p:sp>
        <p:nvSpPr>
          <p:cNvPr id="29" name="Oval 28"/>
          <p:cNvSpPr/>
          <p:nvPr/>
        </p:nvSpPr>
        <p:spPr>
          <a:xfrm>
            <a:off x="5820155" y="2761488"/>
            <a:ext cx="402335" cy="402336"/>
          </a:xfrm>
          <a:prstGeom prst="ellipse">
            <a:avLst/>
          </a:prstGeom>
          <a:solidFill>
            <a:srgbClr val="111827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F"/>
                </a:solidFill>
                <a:latin typeface="Microsoft YaHei"/>
              </a:rPr>
              <a:t>收敛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关闭高风险永久权限</a:t>
            </a:r>
          </a:p>
        </p:txBody>
      </p:sp>
      <p:sp>
        <p:nvSpPr>
          <p:cNvPr id="33" name="Oval 32"/>
          <p:cNvSpPr/>
          <p:nvPr/>
        </p:nvSpPr>
        <p:spPr>
          <a:xfrm>
            <a:off x="8364473" y="2761488"/>
            <a:ext cx="402335" cy="402336"/>
          </a:xfrm>
          <a:prstGeom prst="ellipse">
            <a:avLst/>
          </a:prstGeom>
          <a:solidFill>
            <a:srgbClr val="111827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F"/>
                </a:solidFill>
                <a:latin typeface="Microsoft YaHei"/>
              </a:rPr>
              <a:t>隔离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分区控制横向访问</a:t>
            </a:r>
          </a:p>
        </p:txBody>
      </p:sp>
      <p:sp>
        <p:nvSpPr>
          <p:cNvPr id="37" name="Oval 36"/>
          <p:cNvSpPr/>
          <p:nvPr/>
        </p:nvSpPr>
        <p:spPr>
          <a:xfrm>
            <a:off x="10908791" y="2761488"/>
            <a:ext cx="402335" cy="402336"/>
          </a:xfrm>
          <a:prstGeom prst="ellipse">
            <a:avLst/>
          </a:prstGeom>
          <a:solidFill>
            <a:srgbClr val="111827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F"/>
                </a:solidFill>
                <a:latin typeface="Microsoft YaHei"/>
              </a:rPr>
              <a:t>运营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持续分析和自动处置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关键抓手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形成结果需要同时推进四个抓手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07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111827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7FF"/>
                </a:solidFill>
                <a:latin typeface="Microsoft YaHei"/>
              </a:rPr>
              <a:t>统一身份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8BC"/>
                </a:solidFill>
                <a:latin typeface="Microsoft YaHei"/>
              </a:rPr>
              <a:t>整合目录、认证与特权账号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111827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7FF"/>
                </a:solidFill>
                <a:latin typeface="Microsoft YaHei"/>
              </a:rPr>
              <a:t>设备信任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8BC"/>
                </a:solidFill>
                <a:latin typeface="Microsoft YaHei"/>
              </a:rPr>
              <a:t>持续评估健康状态和风险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111827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7FF"/>
                </a:solidFill>
                <a:latin typeface="Microsoft YaHei"/>
              </a:rPr>
              <a:t>策略中心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8BC"/>
                </a:solidFill>
                <a:latin typeface="Microsoft YaHei"/>
              </a:rPr>
              <a:t>按用户、设备和资源动态授权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111827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7FF"/>
                </a:solidFill>
                <a:latin typeface="Microsoft YaHei"/>
              </a:rPr>
              <a:t>数据保护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8BC"/>
                </a:solidFill>
                <a:latin typeface="Microsoft YaHei"/>
              </a:rPr>
              <a:t>分类分级并控制敏感操作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路径选择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两种路径的价值与代价必须同时看清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08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" y="1463040"/>
            <a:ext cx="5358383" cy="4462272"/>
          </a:xfrm>
          <a:prstGeom prst="rect">
            <a:avLst/>
          </a:prstGeom>
          <a:solidFill>
            <a:srgbClr val="111827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1" y="1719072"/>
            <a:ext cx="11429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FF3E0"/>
                </a:solidFill>
                <a:latin typeface="Microsoft YaHei"/>
              </a:rPr>
              <a:t>PATH-01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FF3E0"/>
                </a:solidFill>
                <a:latin typeface="Microsoft YaHei"/>
              </a:rPr>
              <a:t>边界防护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F3E0"/>
                </a:solidFill>
                <a:latin typeface="Microsoft Ya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7FF"/>
                </a:solidFill>
                <a:latin typeface="Microsoft YaHei"/>
              </a:rPr>
              <a:t>部署成熟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F3E0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7FF"/>
                </a:solidFill>
                <a:latin typeface="Microsoft YaHei"/>
              </a:rPr>
              <a:t>外部防御清晰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F3E0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7FF"/>
                </a:solidFill>
                <a:latin typeface="Microsoft YaHei"/>
              </a:rPr>
              <a:t>内部默认信任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F3E0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7FF"/>
                </a:solidFill>
                <a:latin typeface="Microsoft YaHei"/>
              </a:rPr>
              <a:t>云环境覆盖弱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1" y="1463040"/>
            <a:ext cx="5358383" cy="4462272"/>
          </a:xfrm>
          <a:prstGeom prst="rect">
            <a:avLst/>
          </a:prstGeom>
          <a:solidFill>
            <a:srgbClr val="111827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94391" y="1719072"/>
            <a:ext cx="11429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6CFF"/>
                </a:solidFill>
                <a:latin typeface="Microsoft YaHei"/>
              </a:rPr>
              <a:t>PATH-02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C6CFF"/>
                </a:solidFill>
                <a:latin typeface="Microsoft YaHei"/>
              </a:rPr>
              <a:t>零信任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C6CFF"/>
                </a:solidFill>
                <a:latin typeface="Microsoft YaHe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7FF"/>
                </a:solidFill>
                <a:latin typeface="Microsoft YaHei"/>
              </a:rPr>
              <a:t>持续验证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C6CFF"/>
                </a:solidFill>
                <a:latin typeface="Microsoft YaHe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7FF"/>
                </a:solidFill>
                <a:latin typeface="Microsoft YaHei"/>
              </a:rPr>
              <a:t>细粒度授权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C6CFF"/>
                </a:solidFill>
                <a:latin typeface="Microsoft YaHe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7FF"/>
                </a:solidFill>
                <a:latin typeface="Microsoft YaHei"/>
              </a:rPr>
              <a:t>改造复杂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C6CFF"/>
                </a:solidFill>
                <a:latin typeface="Microsoft YaHe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7FF"/>
                </a:solidFill>
                <a:latin typeface="Microsoft YaHei"/>
              </a:rPr>
              <a:t>运营能力要求高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交付计划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工作包、责任人与时间窗口已经对齐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09 / 12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79" y="146304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077"/>
                <a:gridCol w="3213847"/>
                <a:gridCol w="2571077"/>
                <a:gridCol w="2571077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70B14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2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70B14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2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70B14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2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70B14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2FF3E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发现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盘点身份、设备和应用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统一</a:t>
                      </a:r>
                    </a:p>
                  </a:txBody>
                  <a:tcPr marL="91440" marR="91440" marT="54864" marB="54864" anchor="ctr"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部署认证和策略中心</a:t>
                      </a:r>
                    </a:p>
                  </a:txBody>
                  <a:tcPr marL="91440" marR="91440" marT="54864" marB="54864" anchor="ctr"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070B14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收敛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关闭高风险永久权限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隔离</a:t>
                      </a:r>
                    </a:p>
                  </a:txBody>
                  <a:tcPr marL="91440" marR="91440" marT="54864" marB="54864" anchor="ctr"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分区控制横向访问</a:t>
                      </a:r>
                    </a:p>
                  </a:txBody>
                  <a:tcPr marL="91440" marR="91440" marT="54864" marB="54864" anchor="ctr"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070B14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运营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持续分析和自动处置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F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共同原则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团队需要坚持一条简单原则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10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2FF3E0"/>
                </a:solidFill>
                <a:latin typeface="Consolas"/>
              </a:rPr>
              <a:t>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不要因为访问来自内部网络，就默认它值得信任。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8BC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行动清单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未来八周的行动已拆解到责任和验收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11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F3E0"/>
                </a:solidFill>
                <a:latin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7FF"/>
                </a:solidFill>
                <a:latin typeface="Microsoft YaHei"/>
              </a:rPr>
              <a:t>确认统一身份的负责人、交付物和完成标准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F3E0"/>
                </a:solidFill>
                <a:latin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7FF"/>
                </a:solidFill>
                <a:latin typeface="Microsoft YaHei"/>
              </a:rPr>
              <a:t>确认设备信任的负责人、交付物和完成标准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F3E0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7FF"/>
                </a:solidFill>
                <a:latin typeface="Microsoft YaHei"/>
              </a:rPr>
              <a:t>确认策略中心的负责人、交付物和完成标准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F3E0"/>
                </a:solidFill>
                <a:latin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7FF"/>
                </a:solidFill>
                <a:latin typeface="Microsoft YaHei"/>
              </a:rPr>
              <a:t>确认数据保护的负责人、交付物和完成标准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F3E0"/>
                </a:solidFill>
                <a:latin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7FF"/>
                </a:solidFill>
                <a:latin typeface="Microsoft YaHei"/>
              </a:rPr>
              <a:t>完成发现并关闭阶段评审问题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F3E0"/>
                </a:solidFill>
                <a:latin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7FF"/>
                </a:solidFill>
                <a:latin typeface="Microsoft YaHei"/>
              </a:rPr>
              <a:t>完成统一并关闭阶段评审问题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F3E0"/>
                </a:solidFill>
                <a:latin typeface="Microsoft YaHe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7FF"/>
                </a:solidFill>
                <a:latin typeface="Microsoft YaHei"/>
              </a:rPr>
              <a:t>完成收敛并关闭阶段评审问题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F3E0"/>
                </a:solidFill>
                <a:latin typeface="Microsoft YaHe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7FF"/>
                </a:solidFill>
                <a:latin typeface="Microsoft YaHei"/>
              </a:rPr>
              <a:t>完成隔离并关闭阶段评审问题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F3E0"/>
                </a:solidFill>
                <a:latin typeface="Microsoft YaHei"/>
              </a:rPr>
              <a:t>导航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8BC"/>
                </a:solidFill>
                <a:latin typeface="Microsoft YaHei"/>
              </a:rPr>
              <a:t>SYS-12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7FF"/>
                </a:solidFill>
                <a:latin typeface="Consolas"/>
              </a:rPr>
              <a:t>本次汇报回答四个关键问题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A8BC"/>
                </a:solidFill>
                <a:latin typeface="Microsoft YaHei"/>
              </a:rPr>
              <a:t>12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FF3E0"/>
                </a:solidFill>
                <a:latin typeface="Consolas"/>
              </a:rPr>
              <a:t>01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7FF"/>
                </a:solidFill>
                <a:latin typeface="Microsoft YaHei"/>
              </a:rPr>
              <a:t>为什么现在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8BC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FF3E0"/>
                </a:solidFill>
                <a:latin typeface="Consolas"/>
              </a:rPr>
              <a:t>02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7FF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8BC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FF3E0"/>
                </a:solidFill>
                <a:latin typeface="Consolas"/>
              </a:rPr>
              <a:t>03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7FF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8BC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FF3E0"/>
                </a:solidFill>
                <a:latin typeface="Consolas"/>
              </a:rPr>
              <a:t>04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7FF"/>
                </a:solidFill>
                <a:latin typeface="Microsoft YaHei"/>
              </a:rPr>
              <a:t>怎样落地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8BC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00999" y="914400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7882127" y="822960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00999" y="1993391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192255" y="1901951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0999" y="3072384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82127" y="2980944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0999" y="4151376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92255" y="4059936"/>
            <a:ext cx="182879" cy="182880"/>
          </a:xfrm>
          <a:prstGeom prst="ellipse">
            <a:avLst/>
          </a:prstGeom>
          <a:solidFill>
            <a:srgbClr val="9C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00999" y="5230368"/>
            <a:ext cx="3566160" cy="0"/>
          </a:xfrm>
          <a:prstGeom prst="line">
            <a:avLst/>
          </a:prstGeom>
          <a:ln w="1016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882127" y="5138928"/>
            <a:ext cx="182879" cy="182880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19" y="457200"/>
            <a:ext cx="11155679" cy="5943600"/>
          </a:xfrm>
          <a:prstGeom prst="rect">
            <a:avLst/>
          </a:prstGeom>
          <a:solidFill>
            <a:srgbClr val="070B14"/>
          </a:solidFill>
          <a:ln w="7315">
            <a:solidFill>
              <a:srgbClr val="2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19" y="1234440"/>
            <a:ext cx="201167" cy="201168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19" y="2606040"/>
            <a:ext cx="201167" cy="201168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59" y="5074920"/>
            <a:ext cx="201167" cy="201168"/>
          </a:xfrm>
          <a:prstGeom prst="ellipse">
            <a:avLst/>
          </a:prstGeom>
          <a:solidFill>
            <a:srgbClr val="2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052559" y="1335024"/>
            <a:ext cx="1371600" cy="1371600"/>
          </a:xfrm>
          <a:prstGeom prst="line">
            <a:avLst/>
          </a:prstGeom>
          <a:ln w="12700">
            <a:solidFill>
              <a:srgbClr val="2FF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686799" y="2706624"/>
            <a:ext cx="1737360" cy="2468880"/>
          </a:xfrm>
          <a:prstGeom prst="line">
            <a:avLst/>
          </a:prstGeom>
          <a:ln w="12700">
            <a:solidFill>
              <a:srgbClr val="9C6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7" y="1901952"/>
            <a:ext cx="731519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5F7FF"/>
                </a:solidFill>
                <a:latin typeface="Consolas"/>
              </a:rPr>
              <a:t>先统一身份与策略，再分批收敛高风险访问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3" y="4078224"/>
            <a:ext cx="676655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AA8BC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8BC"/>
                </a:solidFill>
                <a:latin typeface="Microsoft YaHei"/>
              </a:rPr>
              <a:t>赛博霓虹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零信任安全体系升级</dc:title>
  <dc:subject>由企业 AI 工作平台基于语义页面角色与自适应模板生成</dc:subject>
  <dc:creator/>
  <cp:keywords>template=cyber-neon;layout_family=premium;schema=presentation_spec.v2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