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创新剧场</c:v>
                </c:pt>
              </c:strCache>
            </c:strRef>
          </c:tx>
          <c:spPr>
            <a:solidFill>
              <a:srgbClr val="111111"/>
            </a:solidFill>
          </c:spPr>
          <c:cat>
            <c:strRef>
              <c:f>Sheet1!$A$2:$A$5</c:f>
              <c:strCache>
                <c:ptCount val="4"/>
                <c:pt idx="0">
                  <c:v>想法</c:v>
                </c:pt>
                <c:pt idx="1">
                  <c:v>原型</c:v>
                </c:pt>
                <c:pt idx="2">
                  <c:v>采用</c:v>
                </c:pt>
                <c:pt idx="3">
                  <c:v>价值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64.0</c:v>
                </c:pt>
                <c:pt idx="2">
                  <c:v>22.0</c:v>
                </c:pt>
                <c:pt idx="3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结果创新</c:v>
                </c:pt>
              </c:strCache>
            </c:strRef>
          </c:tx>
          <c:spPr>
            <a:solidFill>
              <a:srgbClr val="FF5A36"/>
            </a:solidFill>
          </c:spPr>
          <c:cat>
            <c:strRef>
              <c:f>Sheet1!$A$2:$A$5</c:f>
              <c:strCache>
                <c:ptCount val="4"/>
                <c:pt idx="0">
                  <c:v>想法</c:v>
                </c:pt>
                <c:pt idx="1">
                  <c:v>原型</c:v>
                </c:pt>
                <c:pt idx="2">
                  <c:v>采用</c:v>
                </c:pt>
                <c:pt idx="3">
                  <c:v>价值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60.0</c:v>
                </c:pt>
                <c:pt idx="1">
                  <c:v>48.0</c:v>
                </c:pt>
                <c:pt idx="2">
                  <c:v>34.0</c:v>
                </c:pt>
                <c:pt idx="3">
                  <c:v>26.0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11111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1" y="1115568"/>
            <a:ext cx="8961119" cy="4069080"/>
          </a:xfrm>
          <a:prstGeom prst="rect">
            <a:avLst/>
          </a:prstGeom>
          <a:solidFill>
            <a:srgbClr val="FF5A36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7" y="786384"/>
            <a:ext cx="8961119" cy="406908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85247" y="786384"/>
            <a:ext cx="1298447" cy="1298448"/>
          </a:xfrm>
          <a:prstGeom prst="rect">
            <a:avLst/>
          </a:prstGeom>
          <a:solidFill>
            <a:srgbClr val="111111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1" y="117043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111111"/>
                </a:solidFill>
                <a:latin typeface="Arial"/>
              </a:rPr>
              <a:t>黑白粗野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1828800"/>
            <a:ext cx="813815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11111"/>
                </a:solidFill>
                <a:latin typeface="Arial Black"/>
              </a:rPr>
              <a:t>组织创新的五条硬规则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1" y="3877056"/>
            <a:ext cx="749807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55555"/>
                </a:solidFill>
                <a:latin typeface="Arial"/>
              </a:rPr>
              <a:t>停止表演式创新，把资源交给真实问题和可验证结果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1" y="532180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核心判断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11111"/>
                </a:solidFill>
                <a:latin typeface="Arial Black"/>
              </a:rPr>
              <a:t>取消没有业务责任人的创新项目，把试验权交给一线小团队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01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11111"/>
                </a:solidFill>
                <a:latin typeface="Arial Black"/>
              </a:rPr>
              <a:t>取消没有业务责任人的创新项目，把试验权交给一线小团队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Arial"/>
              </a:rPr>
              <a:t>首次验证  ·  业务责任人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路径选择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两种路径的价值与代价必须同时看清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02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1" y="1554480"/>
            <a:ext cx="5266943" cy="4370832"/>
          </a:xfrm>
          <a:prstGeom prst="rect">
            <a:avLst/>
          </a:prstGeom>
          <a:solidFill>
            <a:srgbClr val="FF5A36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1" y="1463040"/>
            <a:ext cx="5358383" cy="4462272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创新剧场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项目多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发布频繁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采用率低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责任分散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1" y="1554480"/>
            <a:ext cx="5266943" cy="4370832"/>
          </a:xfrm>
          <a:prstGeom prst="rect">
            <a:avLst/>
          </a:prstGeom>
          <a:solidFill>
            <a:srgbClr val="111111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1" y="1463040"/>
            <a:ext cx="5358383" cy="4462272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5A36"/>
                </a:solidFill>
                <a:latin typeface="Arial"/>
              </a:rPr>
              <a:t>结果创新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A36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项目少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A36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问题具体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A36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采用可见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A36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责任清楚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共同原则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团队需要坚持一条简单原则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111111"/>
                </a:solidFill>
                <a:latin typeface="Arial Black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 Black"/>
              </a:rPr>
              <a:t>创新不是允许更多想法，而是更快找到值得继续的想法。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— 项目核心团队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关键抓手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形成结果需要同时推进四个抓手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04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5" y="1554480"/>
            <a:ext cx="5381243" cy="2121408"/>
          </a:xfrm>
          <a:prstGeom prst="rect">
            <a:avLst/>
          </a:prstGeom>
          <a:solidFill>
            <a:srgbClr val="FF5A36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问题先行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先定义真实损失和目标行为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13931" y="1554480"/>
            <a:ext cx="5381243" cy="2121408"/>
          </a:xfrm>
          <a:prstGeom prst="rect">
            <a:avLst/>
          </a:prstGeom>
          <a:solidFill>
            <a:srgbClr val="FF5A36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小队负责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跨职能团队拥有端到端结果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5" y="3931919"/>
            <a:ext cx="5381243" cy="2121408"/>
          </a:xfrm>
          <a:prstGeom prst="rect">
            <a:avLst/>
          </a:prstGeom>
          <a:solidFill>
            <a:srgbClr val="FF5A36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快速证伪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用最小试验尽早发现错误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13931" y="3931919"/>
            <a:ext cx="5381243" cy="2121408"/>
          </a:xfrm>
          <a:prstGeom prst="rect">
            <a:avLst/>
          </a:prstGeom>
          <a:solidFill>
            <a:srgbClr val="FF5A36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规模门槛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只有采用和价值达标才扩张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风险管理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四类风险均已设置前置缓释动作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05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过度收缩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保留少量探索预算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短期主义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区分学习指标和业务指标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责任恐惧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明确失败保护边界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资源争夺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由组合委员会做取舍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未来八周的行动已拆解到责任和验收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确认问题先行的负责人、交付物和完成标准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确认小队负责的负责人、交付物和完成标准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确认快速证伪的负责人、交付物和完成标准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确认规模门槛的负责人、交付物和完成标准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完成删并关闭阶段评审问题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完成选并关闭阶段评审问题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完成试并关闭阶段评审问题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完成证并关闭阶段评审问题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关键指标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四项指标界定当前状态与决策空间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取消没有业务责任人的创新项目，把试验权交给一线小团队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07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1" y="2157984"/>
            <a:ext cx="6583679" cy="1828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111111"/>
                </a:solidFill>
                <a:latin typeface="Arial Black"/>
              </a:rPr>
              <a:t>-40%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4050791"/>
            <a:ext cx="62179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项目数量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4690872"/>
            <a:ext cx="59435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砍掉没有明确问题的项目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9" y="2112264"/>
            <a:ext cx="16001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 Black"/>
              </a:rPr>
              <a:t>2周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1" y="2185416"/>
            <a:ext cx="1993391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首次验证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199" y="3008376"/>
            <a:ext cx="3858768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199" y="3410712"/>
            <a:ext cx="16001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 Black"/>
              </a:rPr>
              <a:t>1人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1" y="3483864"/>
            <a:ext cx="1993391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业务责任人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199" y="4306824"/>
            <a:ext cx="3858768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199" y="4709159"/>
            <a:ext cx="16001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 Black"/>
              </a:rPr>
              <a:t>3次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1" y="4782312"/>
            <a:ext cx="1993391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停止窗口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199" y="5605272"/>
            <a:ext cx="3858768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实施路径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五个阶段把方向转化为可验收成果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08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79" y="2350008"/>
            <a:ext cx="2044598" cy="233172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Arial"/>
              </a:rPr>
              <a:t>停止无责任和无指标项目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9270" y="2350008"/>
            <a:ext cx="2044598" cy="233172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2150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150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2150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Arial"/>
              </a:rPr>
              <a:t>聚焦三类高损失问题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8460" y="2350008"/>
            <a:ext cx="2044598" cy="233172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1340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1340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1340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Arial"/>
              </a:rPr>
              <a:t>两周内完成最小验证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7651" y="2350008"/>
            <a:ext cx="2044598" cy="233172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0531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0531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0531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Arial"/>
              </a:rPr>
              <a:t>用使用和结果决定增投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6841" y="2350008"/>
            <a:ext cx="2044598" cy="233172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9721" y="2551176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9721" y="3154680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9721" y="3867912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Arial"/>
              </a:rPr>
              <a:t>形成标准化复制能力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能力组合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业务结果与能力建设必须同步发生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09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业务侧负责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问题先行：先定义真实损失和目标行为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小队负责：跨职能团队拥有端到端结果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快速证伪：用最小试验尽早发现错误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规模门槛：只有采用和价值达标才扩张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5A36"/>
                </a:solidFill>
                <a:latin typeface="Arial"/>
              </a:rPr>
              <a:t>平台与职能侧负责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5A36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过度收缩：保留少量探索预算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5A36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短期主义：区分学习指标和业务指标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5A36"/>
                </a:solidFill>
                <a:latin typeface="Aria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责任恐惧：明确失败保护边界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5A36"/>
                </a:solidFill>
                <a:latin typeface="Arial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资源争夺：由组合委员会做取舍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数据表明差异集中在少数关键维度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10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核心洞察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Arial"/>
              </a:rPr>
              <a:t>减少前端项目数量后，最终形成业务价值的比例显著提升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Arial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交付计划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工作包、责任人与时间窗口已经对齐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11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79" y="1463040"/>
          <a:ext cx="109270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618"/>
                <a:gridCol w="3434225"/>
                <a:gridCol w="2497618"/>
                <a:gridCol w="2497618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6F4EF"/>
                          </a:solidFill>
                          <a:latin typeface="Arial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6F4EF"/>
                          </a:solidFill>
                          <a:latin typeface="Arial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6F4EF"/>
                          </a:solidFill>
                          <a:latin typeface="Arial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6F4EF"/>
                          </a:solidFill>
                          <a:latin typeface="Arial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11111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删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停止无责任和无指标项目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选</a:t>
                      </a:r>
                    </a:p>
                  </a:txBody>
                  <a:tcPr marL="91440" marR="91440" marT="54864" marB="54864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聚焦三类高损失问题</a:t>
                      </a:r>
                    </a:p>
                  </a:txBody>
                  <a:tcPr marL="91440" marR="91440" marT="54864" marB="54864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6F4E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试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两周内完成最小验证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证</a:t>
                      </a:r>
                    </a:p>
                  </a:txBody>
                  <a:tcPr marL="91440" marR="91440" marT="54864" marB="54864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用使用和结果决定增投</a:t>
                      </a:r>
                    </a:p>
                  </a:txBody>
                  <a:tcPr marL="91440" marR="91440" marT="54864" marB="54864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6F4E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扩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形成标准化复制能力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1" y="292608"/>
            <a:ext cx="11265407" cy="105156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7" y="402336"/>
            <a:ext cx="237743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Arial"/>
              </a:rPr>
              <a:t>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667512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 Black"/>
              </a:rPr>
              <a:t>本次汇报回答四个关键问题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 Black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为什么现在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背景、变化和机会窗口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 Black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事实说明什么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指标、证据和关键差异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 Black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应该如何选择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方案取舍和风险边界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 Black"/>
              </a:rPr>
              <a:t>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怎样落地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1" y="1115568"/>
            <a:ext cx="8961119" cy="4069080"/>
          </a:xfrm>
          <a:prstGeom prst="rect">
            <a:avLst/>
          </a:prstGeom>
          <a:solidFill>
            <a:srgbClr val="FF5A36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7" y="786384"/>
            <a:ext cx="8961119" cy="4069080"/>
          </a:xfrm>
          <a:prstGeom prst="rect">
            <a:avLst/>
          </a:prstGeom>
          <a:solidFill>
            <a:srgbClr val="FFFFFF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85247" y="786384"/>
            <a:ext cx="1298447" cy="1298448"/>
          </a:xfrm>
          <a:prstGeom prst="rect">
            <a:avLst/>
          </a:prstGeom>
          <a:solidFill>
            <a:srgbClr val="111111"/>
          </a:solidFill>
          <a:ln w="731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828800"/>
            <a:ext cx="813815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11111"/>
                </a:solidFill>
                <a:latin typeface="Arial Black"/>
              </a:rPr>
              <a:t>取消没有业务责任人的创新项目，把试验权交给一线小团队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1" y="3877056"/>
            <a:ext cx="749807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55555"/>
                </a:solidFill>
                <a:latin typeface="Arial"/>
              </a:rPr>
              <a:t>下一步：确认责任人、启动首个阶段并按周复盘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1" y="532180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5555"/>
                </a:solidFill>
                <a:latin typeface="Arial"/>
              </a:rPr>
              <a:t>黑白粗野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组织创新的五条硬规则</dc:title>
  <dc:subject>由企业 AI 工作平台基于语义页面角色与自适应模板生成</dc:subject>
  <dc:creator/>
  <cp:keywords>template=neo-brutalist;layout_family=premium;schema=presentation_spec.v2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