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单机优化</c:v>
                </c:pt>
              </c:strCache>
            </c:strRef>
          </c:tx>
          <c:spPr>
            <a:solidFill>
              <a:srgbClr val="F28C28"/>
            </a:solidFill>
          </c:spPr>
          <c:cat>
            <c:strRef>
              <c:f>Sheet1!$A$2:$A$5</c:f>
              <c:strCache>
                <c:ptCount val="4"/>
                <c:pt idx="0">
                  <c:v>冲压</c:v>
                </c:pt>
                <c:pt idx="1">
                  <c:v>焊装</c:v>
                </c:pt>
                <c:pt idx="2">
                  <c:v>涂装</c:v>
                </c:pt>
                <c:pt idx="3">
                  <c:v>总装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78.0</c:v>
                </c:pt>
                <c:pt idx="1">
                  <c:v>84.0</c:v>
                </c:pt>
                <c:pt idx="2">
                  <c:v>71.0</c:v>
                </c:pt>
                <c:pt idx="3">
                  <c:v>88.0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产线协同</c:v>
                </c:pt>
              </c:strCache>
            </c:strRef>
          </c:tx>
          <c:spPr>
            <a:solidFill>
              <a:srgbClr val="5CB8B2"/>
            </a:solidFill>
          </c:spPr>
          <c:cat>
            <c:strRef>
              <c:f>Sheet1!$A$2:$A$5</c:f>
              <c:strCache>
                <c:ptCount val="4"/>
                <c:pt idx="0">
                  <c:v>冲压</c:v>
                </c:pt>
                <c:pt idx="1">
                  <c:v>焊装</c:v>
                </c:pt>
                <c:pt idx="2">
                  <c:v>涂装</c:v>
                </c:pt>
                <c:pt idx="3">
                  <c:v>总装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72.0</c:v>
                </c:pt>
                <c:pt idx="1">
                  <c:v>76.0</c:v>
                </c:pt>
                <c:pt idx="2">
                  <c:v>68.0</c:v>
                </c:pt>
                <c:pt idx="3">
                  <c:v>81.0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414A5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7452359" y="0"/>
            <a:ext cx="4736591" cy="6858000"/>
          </a:xfrm>
          <a:prstGeom prst="chevron">
            <a:avLst/>
          </a:prstGeom>
          <a:solidFill>
            <a:srgbClr val="2A3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59" y="1024128"/>
            <a:ext cx="2057399" cy="14630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7" y="1389888"/>
            <a:ext cx="22402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Microsoft YaHei"/>
              </a:rPr>
              <a:t>OPS /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F28C28"/>
                </a:solidFill>
                <a:latin typeface="Microsoft YaHei"/>
              </a:rPr>
              <a:t>工业橙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" y="1901952"/>
            <a:ext cx="630935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5F6F7"/>
                </a:solidFill>
                <a:latin typeface="Microsoft YaHei UI"/>
              </a:rPr>
              <a:t>智能工厂年度运营复盘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3" y="4078224"/>
            <a:ext cx="61264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4BCC4"/>
                </a:solidFill>
                <a:latin typeface="Microsoft YaHei"/>
              </a:rPr>
              <a:t>产能、质量、设备、能耗和安全的综合改善（演示数据）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CC4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关键指标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8C28"/>
                </a:solidFill>
                <a:latin typeface="Microsoft YaHei"/>
              </a:rPr>
              <a:t>下一阶段从单机优化转向跨工序节拍协同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01 / 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1" y="2020824"/>
            <a:ext cx="5532119" cy="4069080"/>
          </a:xfrm>
          <a:prstGeom prst="round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7" y="2679191"/>
            <a:ext cx="4846319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28C28"/>
                </a:solidFill>
                <a:latin typeface="Microsoft YaHei UI"/>
              </a:rPr>
              <a:t>82.6%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19" y="4078224"/>
            <a:ext cx="470915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6F7"/>
                </a:solidFill>
                <a:latin typeface="Microsoft YaHei"/>
              </a:rPr>
              <a:t>综合 OEE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19" y="4791456"/>
            <a:ext cx="470915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CC4"/>
                </a:solidFill>
                <a:latin typeface="Microsoft YaHei"/>
              </a:rPr>
              <a:t>同比提升 7.8 个百分点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1" y="224942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7"/>
                </a:solidFill>
                <a:latin typeface="Microsoft YaHei UI"/>
              </a:rPr>
              <a:t>1.7%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79" y="229514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6F7"/>
                </a:solidFill>
                <a:latin typeface="Microsoft YaHei"/>
              </a:rPr>
              <a:t>一次不良率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79" y="275234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CC4"/>
                </a:solidFill>
                <a:latin typeface="Microsoft YaHei"/>
              </a:rPr>
              <a:t>关键缺陷实现在线拦截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56831" y="3319272"/>
            <a:ext cx="4517136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56831" y="360578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CB8B2"/>
                </a:solidFill>
                <a:latin typeface="Microsoft YaHei UI"/>
              </a:rPr>
              <a:t>-28%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79" y="365150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6F7"/>
                </a:solidFill>
                <a:latin typeface="Microsoft YaHei"/>
              </a:rPr>
              <a:t>非计划停机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79" y="410870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CC4"/>
                </a:solidFill>
                <a:latin typeface="Microsoft YaHei"/>
              </a:rPr>
              <a:t>预测维护覆盖瓶颈设备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56831" y="4675632"/>
            <a:ext cx="4517136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56831" y="496214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7"/>
                </a:solidFill>
                <a:latin typeface="Microsoft YaHei UI"/>
              </a:rPr>
              <a:t>-12%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79" y="500786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6F7"/>
                </a:solidFill>
                <a:latin typeface="Microsoft YaHei"/>
              </a:rPr>
              <a:t>单位能耗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79" y="546506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CC4"/>
                </a:solidFill>
                <a:latin typeface="Microsoft YaHei"/>
              </a:rPr>
              <a:t>排产与设备参数协同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风险管理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模型漂移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CC4"/>
                </a:solidFill>
                <a:latin typeface="Microsoft YaHei"/>
              </a:rPr>
              <a:t>持续监测并保留人工确认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6F7"/>
                </a:solidFill>
                <a:latin typeface="Microsoft YaHei"/>
              </a:rPr>
              <a:t>设备差异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CC4"/>
                </a:solidFill>
                <a:latin typeface="Microsoft YaHei"/>
              </a:rPr>
              <a:t>按产线建立适配层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6F7"/>
                </a:solidFill>
                <a:latin typeface="Microsoft YaHei"/>
              </a:rPr>
              <a:t>数据中断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CC4"/>
                </a:solidFill>
                <a:latin typeface="Microsoft YaHei"/>
              </a:rPr>
              <a:t>边缘缓存和补传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安全边界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CC4"/>
                </a:solidFill>
                <a:latin typeface="Microsoft YaHei"/>
              </a:rPr>
              <a:t>自动控制设置硬约束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实施路径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03 / 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77239" y="2807208"/>
            <a:ext cx="310895" cy="310896"/>
          </a:xfrm>
          <a:prstGeom prst="ellipse">
            <a:avLst/>
          </a:prstGeom>
          <a:solidFill>
            <a:srgbClr val="F28C28"/>
          </a:solidFill>
          <a:ln w="7315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932687" y="2596896"/>
            <a:ext cx="0" cy="731520"/>
          </a:xfrm>
          <a:prstGeom prst="line">
            <a:avLst/>
          </a:prstGeom>
          <a:ln w="1016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0252B"/>
                </a:solidFill>
                <a:latin typeface="Microsoft Ya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6F7"/>
                </a:solidFill>
                <a:latin typeface="Microsoft YaHei"/>
              </a:rPr>
              <a:t>透明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统一设备与生产数据</a:t>
            </a:r>
          </a:p>
        </p:txBody>
      </p:sp>
      <p:sp>
        <p:nvSpPr>
          <p:cNvPr id="40" name="Oval 39"/>
          <p:cNvSpPr/>
          <p:nvPr/>
        </p:nvSpPr>
        <p:spPr>
          <a:xfrm>
            <a:off x="3321557" y="2807208"/>
            <a:ext cx="310895" cy="310896"/>
          </a:xfrm>
          <a:prstGeom prst="ellipse">
            <a:avLst/>
          </a:prstGeom>
          <a:solidFill>
            <a:srgbClr val="2A3138"/>
          </a:solidFill>
          <a:ln w="7315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477005" y="2596896"/>
            <a:ext cx="0" cy="731520"/>
          </a:xfrm>
          <a:prstGeom prst="line">
            <a:avLst/>
          </a:prstGeom>
          <a:ln w="1016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6F7"/>
                </a:solidFill>
                <a:latin typeface="Microsoft YaHei"/>
              </a:rPr>
              <a:t>稳定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治理停机和关键缺陷</a:t>
            </a:r>
          </a:p>
        </p:txBody>
      </p:sp>
      <p:sp>
        <p:nvSpPr>
          <p:cNvPr id="45" name="Oval 44"/>
          <p:cNvSpPr/>
          <p:nvPr/>
        </p:nvSpPr>
        <p:spPr>
          <a:xfrm>
            <a:off x="5865875" y="2807208"/>
            <a:ext cx="310895" cy="310896"/>
          </a:xfrm>
          <a:prstGeom prst="ellipse">
            <a:avLst/>
          </a:prstGeom>
          <a:solidFill>
            <a:srgbClr val="2A3138"/>
          </a:solidFill>
          <a:ln w="7315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021323" y="2596896"/>
            <a:ext cx="0" cy="731520"/>
          </a:xfrm>
          <a:prstGeom prst="line">
            <a:avLst/>
          </a:prstGeom>
          <a:ln w="1016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6F7"/>
                </a:solidFill>
                <a:latin typeface="Microsoft YaHei"/>
              </a:rPr>
              <a:t>协同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优化跨工序节拍</a:t>
            </a:r>
          </a:p>
        </p:txBody>
      </p:sp>
      <p:sp>
        <p:nvSpPr>
          <p:cNvPr id="50" name="Oval 49"/>
          <p:cNvSpPr/>
          <p:nvPr/>
        </p:nvSpPr>
        <p:spPr>
          <a:xfrm>
            <a:off x="8410193" y="2807208"/>
            <a:ext cx="310895" cy="310896"/>
          </a:xfrm>
          <a:prstGeom prst="ellipse">
            <a:avLst/>
          </a:prstGeom>
          <a:solidFill>
            <a:srgbClr val="2A3138"/>
          </a:solidFill>
          <a:ln w="7315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565641" y="2596896"/>
            <a:ext cx="0" cy="731520"/>
          </a:xfrm>
          <a:prstGeom prst="line">
            <a:avLst/>
          </a:prstGeom>
          <a:ln w="1016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6F7"/>
                </a:solidFill>
                <a:latin typeface="Microsoft YaHei"/>
              </a:rPr>
              <a:t>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应用质量和维护模型</a:t>
            </a:r>
          </a:p>
        </p:txBody>
      </p:sp>
      <p:sp>
        <p:nvSpPr>
          <p:cNvPr id="55" name="Oval 54"/>
          <p:cNvSpPr/>
          <p:nvPr/>
        </p:nvSpPr>
        <p:spPr>
          <a:xfrm>
            <a:off x="10954511" y="2807208"/>
            <a:ext cx="310895" cy="310896"/>
          </a:xfrm>
          <a:prstGeom prst="ellipse">
            <a:avLst/>
          </a:prstGeom>
          <a:solidFill>
            <a:srgbClr val="2A3138"/>
          </a:solidFill>
          <a:ln w="7315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109959" y="2596896"/>
            <a:ext cx="0" cy="731520"/>
          </a:xfrm>
          <a:prstGeom prst="line">
            <a:avLst/>
          </a:prstGeom>
          <a:ln w="1016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6F7"/>
                </a:solidFill>
                <a:latin typeface="Microsoft YaHei"/>
              </a:rPr>
              <a:t>自治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在边界内自动调整参数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04 / 12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8C28"/>
                </a:solidFill>
                <a:latin typeface="Microsoft YaHei"/>
              </a:rPr>
              <a:t>核心洞察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6F7"/>
                </a:solidFill>
                <a:latin typeface="Microsoft YaHei"/>
              </a:rPr>
              <a:t>涂装仍是主要瓶颈，跨工序缓冲和维护需优先优化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交付计划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05 / 12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52B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52B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52B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52B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F28C2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透明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统一设备与生产数据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稳定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治理停机和关键缺陷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协同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优化跨工序节拍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预测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应用质量和维护模型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20252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自治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在边界内自动调整参数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6F7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2A31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核心判断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下一阶段从单机优化转向跨工序节拍协同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06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5F6F7"/>
                </a:solidFill>
                <a:latin typeface="Microsoft YaHei UI"/>
              </a:rPr>
              <a:t>下一阶段从单机优化转向跨工序节拍协同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4BCC4"/>
                </a:solidFill>
                <a:latin typeface="Microsoft YaHei"/>
              </a:rPr>
              <a:t>一次不良率  ·  非计划停机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关键抓手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07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5" y="1463040"/>
            <a:ext cx="5381243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6F7"/>
                </a:solidFill>
                <a:latin typeface="Microsoft YaHei"/>
              </a:rPr>
              <a:t>节拍协同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4BCC4"/>
                </a:solidFill>
                <a:latin typeface="Microsoft YaHei"/>
              </a:rPr>
              <a:t>围绕瓶颈工序统一上下游节拍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2491" y="1463040"/>
            <a:ext cx="5381243" cy="109728"/>
          </a:xfrm>
          <a:prstGeom prst="rect">
            <a:avLst/>
          </a:prstGeom>
          <a:solidFill>
            <a:srgbClr val="5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6F7"/>
                </a:solidFill>
                <a:latin typeface="Microsoft YaHei"/>
              </a:rPr>
              <a:t>质量闭环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4BCC4"/>
                </a:solidFill>
                <a:latin typeface="Microsoft YaHei"/>
              </a:rPr>
              <a:t>参数、缺陷和处置形成追溯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5" y="3840479"/>
            <a:ext cx="5381243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6F7"/>
                </a:solidFill>
                <a:latin typeface="Microsoft YaHei"/>
              </a:rPr>
              <a:t>预测维护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4BCC4"/>
                </a:solidFill>
                <a:latin typeface="Microsoft YaHei"/>
              </a:rPr>
              <a:t>按风险安排检修和备件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2A3138"/>
          </a:solidFill>
          <a:ln w="7315">
            <a:solidFill>
              <a:srgbClr val="41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22491" y="3840479"/>
            <a:ext cx="5381243" cy="109728"/>
          </a:xfrm>
          <a:prstGeom prst="rect">
            <a:avLst/>
          </a:prstGeom>
          <a:solidFill>
            <a:srgbClr val="5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6F7"/>
                </a:solidFill>
                <a:latin typeface="Microsoft YaHei"/>
              </a:rPr>
              <a:t>能源优化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4BCC4"/>
                </a:solidFill>
                <a:latin typeface="Microsoft YaHei"/>
              </a:rPr>
              <a:t>把能耗纳入排产与工艺决策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能力组合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08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</a:rPr>
              <a:t>业务侧负责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8C28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节拍协同：围绕瓶颈工序统一上下游节拍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8C28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质量闭环：参数、缺陷和处置形成追溯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8C28"/>
                </a:solidFill>
                <a:latin typeface="Microsoft YaHe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预测维护：按风险安排检修和备件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8C28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能源优化：把能耗纳入排产与工艺决策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5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B8B2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B2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模型漂移：持续监测并保留人工确认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B2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设备差异：按产线建立适配层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B2"/>
                </a:solidFill>
                <a:latin typeface="Microsoft YaHe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数据中断：边缘缓存和补传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B2"/>
                </a:solidFill>
                <a:latin typeface="Microsoft YaHe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6F7"/>
                </a:solidFill>
                <a:latin typeface="Microsoft YaHei"/>
              </a:rPr>
              <a:t>安全边界：自动控制设置硬约束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路径选择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09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1" y="1463040"/>
            <a:ext cx="5358383" cy="4462272"/>
          </a:xfrm>
          <a:prstGeom prst="rect">
            <a:avLst/>
          </a:prstGeom>
          <a:solidFill>
            <a:srgbClr val="2A3138"/>
          </a:solidFill>
          <a:ln w="7315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1" y="1719072"/>
            <a:ext cx="11429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8C28"/>
                </a:solidFill>
                <a:latin typeface="Microsoft YaHei"/>
              </a:rPr>
              <a:t>PATH-01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28C28"/>
                </a:solidFill>
                <a:latin typeface="Microsoft YaHei"/>
              </a:rPr>
              <a:t>单机优化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实施快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Microsoft YaHe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局部收益清楚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Microsoft YaHe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瓶颈转移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Microsoft YaHe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整体节拍不稳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1" y="1463040"/>
            <a:ext cx="5358383" cy="4462272"/>
          </a:xfrm>
          <a:prstGeom prst="rect">
            <a:avLst/>
          </a:prstGeom>
          <a:solidFill>
            <a:srgbClr val="2A3138"/>
          </a:solidFill>
          <a:ln w="7315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94391" y="1719072"/>
            <a:ext cx="11429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CB8B2"/>
                </a:solidFill>
                <a:latin typeface="Microsoft YaHei"/>
              </a:rPr>
              <a:t>PATH-02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5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CB8B2"/>
                </a:solidFill>
                <a:latin typeface="Microsoft YaHei"/>
              </a:rPr>
              <a:t>产线协同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B8B2"/>
                </a:solidFill>
                <a:latin typeface="Microsoft YaHe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整体产出提升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B8B2"/>
                </a:solidFill>
                <a:latin typeface="Microsoft YaHe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资源平衡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B8B2"/>
                </a:solidFill>
                <a:latin typeface="Microsoft YaHe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数据要求高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B8B2"/>
                </a:solidFill>
                <a:latin typeface="Microsoft YaHe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6F7"/>
                </a:solidFill>
                <a:latin typeface="Microsoft YaHei"/>
              </a:rPr>
              <a:t>组织协同复杂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行动清单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确认节拍协同的负责人、交付物和完成标准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确认质量闭环的负责人、交付物和完成标准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确认预测维护的负责人、交付物和完成标准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确认能源优化的负责人、交付物和完成标准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完成透明并关闭阶段评审问题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完成稳定并关闭阶段评审问题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完成协同并关闭阶段评审问题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6F7"/>
                </a:solidFill>
                <a:latin typeface="Microsoft YaHei"/>
              </a:rPr>
              <a:t>完成预测并关闭阶段评审问题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共同原则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28C28"/>
                </a:solidFill>
                <a:latin typeface="Microsoft YaHei UI"/>
              </a:rPr>
              <a:t>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工厂不是设备的集合，而是一条必须共同稳定的价值流。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4BCC4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</a:rPr>
              <a:t>导航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4BCC4"/>
                </a:solidFill>
                <a:latin typeface="Microsoft YaHei"/>
              </a:rPr>
              <a:t>SYS-12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F7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BCC4"/>
                </a:solidFill>
                <a:latin typeface="Microsoft YaHei"/>
              </a:rPr>
              <a:t>12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8C28"/>
                </a:solidFill>
                <a:latin typeface="Microsoft YaHei UI"/>
              </a:rPr>
              <a:t>01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6F7"/>
                </a:solidFill>
                <a:latin typeface="Microsoft YaHei"/>
              </a:rPr>
              <a:t>为什么现在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4BCC4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8C28"/>
                </a:solidFill>
                <a:latin typeface="Microsoft YaHei UI"/>
              </a:rPr>
              <a:t>02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6F7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4BCC4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8C28"/>
                </a:solidFill>
                <a:latin typeface="Microsoft YaHei UI"/>
              </a:rPr>
              <a:t>03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6F7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4BCC4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8C28"/>
                </a:solidFill>
                <a:latin typeface="Microsoft YaHei UI"/>
              </a:rPr>
              <a:t>04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6F7"/>
                </a:solidFill>
                <a:latin typeface="Microsoft YaHei"/>
              </a:rPr>
              <a:t>怎样落地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4BCC4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414A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7452359" y="0"/>
            <a:ext cx="4736591" cy="6858000"/>
          </a:xfrm>
          <a:prstGeom prst="chevron">
            <a:avLst/>
          </a:prstGeom>
          <a:solidFill>
            <a:srgbClr val="2A3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59" y="1024128"/>
            <a:ext cx="2057399" cy="14630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7" y="1389888"/>
            <a:ext cx="22402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Microsoft YaHei"/>
              </a:rPr>
              <a:t>OPS /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" y="1901952"/>
            <a:ext cx="630935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5F6F7"/>
                </a:solidFill>
                <a:latin typeface="Microsoft YaHei UI"/>
              </a:rPr>
              <a:t>下一阶段从单机优化转向跨工序节拍协同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3" y="4078224"/>
            <a:ext cx="61264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4BCC4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CC4"/>
                </a:solidFill>
                <a:latin typeface="Microsoft YaHei"/>
              </a:rPr>
              <a:t>工业橙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智能工厂年度运营复盘</dc:title>
  <dc:subject>由企业 AI 工作平台基于语义页面角色与自适应模板生成</dc:subject>
  <dc:creator/>
  <cp:keywords>template=industrial-orange;layout_family=premium;schema=presentation_spec.v2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