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集中投资</c:v>
                </c:pt>
              </c:strCache>
            </c:strRef>
          </c:tx>
          <c:spPr>
            <a:solidFill>
              <a:srgbClr val="183A5A"/>
            </a:solidFill>
          </c:spPr>
          <c:cat>
            <c:strRef>
              <c:f>Sheet1!$A$2:$A$5</c:f>
              <c:strCache>
                <c:ptCount val="4"/>
                <c:pt idx="0">
                  <c:v>效率</c:v>
                </c:pt>
                <c:pt idx="1">
                  <c:v>增长</c:v>
                </c:pt>
                <c:pt idx="2">
                  <c:v>风险</c:v>
                </c:pt>
                <c:pt idx="3">
                  <c:v>体验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56.0</c:v>
                </c:pt>
                <c:pt idx="1">
                  <c:v>82.0</c:v>
                </c:pt>
                <c:pt idx="2">
                  <c:v>44.0</c:v>
                </c:pt>
                <c:pt idx="3">
                  <c:v>68.0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平均分配</c:v>
                </c:pt>
              </c:strCache>
            </c:strRef>
          </c:tx>
          <c:spPr>
            <a:solidFill>
              <a:srgbClr val="C9963B"/>
            </a:solidFill>
          </c:spPr>
          <c:cat>
            <c:strRef>
              <c:f>Sheet1!$A$2:$A$5</c:f>
              <c:strCache>
                <c:ptCount val="4"/>
                <c:pt idx="0">
                  <c:v>效率</c:v>
                </c:pt>
                <c:pt idx="1">
                  <c:v>增长</c:v>
                </c:pt>
                <c:pt idx="2">
                  <c:v>风险</c:v>
                </c:pt>
                <c:pt idx="3">
                  <c:v>体验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42.0</c:v>
                </c:pt>
                <c:pt idx="1">
                  <c:v>55.0</c:v>
                </c:pt>
                <c:pt idx="2">
                  <c:v>38.0</c:v>
                </c:pt>
                <c:pt idx="3">
                  <c:v>47.0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8D2C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19" y="0"/>
            <a:ext cx="254203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" y="1078992"/>
            <a:ext cx="1298447" cy="82296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3" y="1353312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183A5A"/>
                </a:solidFill>
                <a:latin typeface="Microsoft YaHei"/>
              </a:rPr>
              <a:t>象牙高管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" y="1901952"/>
            <a:ext cx="777239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7191C"/>
                </a:solidFill>
                <a:latin typeface="Microsoft YaHei UI"/>
              </a:rPr>
              <a:t>集团 AI 投资组合决策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3" y="4078224"/>
            <a:ext cx="676655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2666B"/>
                </a:solidFill>
                <a:latin typeface="Microsoft YaHei"/>
              </a:rPr>
              <a:t>从战略价值、回报边界到资源配置的董事会建议（演示数据）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666B"/>
                </a:solidFill>
                <a:latin typeface="Microsoft YaHei"/>
              </a:rPr>
              <a:t>智慧云脑 Cloud Brain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7" y="384048"/>
            <a:ext cx="841247" cy="64008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72767" y="283464"/>
            <a:ext cx="310895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80">
                <a:solidFill>
                  <a:srgbClr val="183A5A"/>
                </a:solidFill>
                <a:latin typeface="Microsoft YaHei"/>
              </a:rPr>
              <a:t>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62179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91C"/>
                </a:solidFill>
                <a:latin typeface="Microsoft YaHei UI"/>
              </a:rPr>
              <a:t>本次汇报回答四个关键问题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3A5A"/>
                </a:solidFill>
                <a:latin typeface="Microsoft YaHei UI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91C"/>
                </a:solidFill>
                <a:latin typeface="Microsoft YaHei"/>
              </a:rPr>
              <a:t>为什么现在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666B"/>
                </a:solidFill>
                <a:latin typeface="Microsoft YaHei"/>
              </a:rPr>
              <a:t>背景、变化和机会窗口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3A5A"/>
                </a:solidFill>
                <a:latin typeface="Microsoft YaHei UI"/>
              </a:rPr>
              <a:t>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91C"/>
                </a:solidFill>
                <a:latin typeface="Microsoft YaHei"/>
              </a:rPr>
              <a:t>事实说明什么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666B"/>
                </a:solidFill>
                <a:latin typeface="Microsoft YaHei"/>
              </a:rPr>
              <a:t>指标、证据和关键差异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3A5A"/>
                </a:solidFill>
                <a:latin typeface="Microsoft YaHei UI"/>
              </a:rPr>
              <a:t>03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91C"/>
                </a:solidFill>
                <a:latin typeface="Microsoft YaHei"/>
              </a:rPr>
              <a:t>应该如何选择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666B"/>
                </a:solidFill>
                <a:latin typeface="Microsoft YaHei"/>
              </a:rPr>
              <a:t>方案取舍和风险边界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3A5A"/>
                </a:solidFill>
                <a:latin typeface="Microsoft YaHei UI"/>
              </a:rPr>
              <a:t>04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91C"/>
                </a:solidFill>
                <a:latin typeface="Microsoft YaHei"/>
              </a:rPr>
              <a:t>怎样落地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666B"/>
                </a:solidFill>
                <a:latin typeface="Microsoft YaHei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7" y="384048"/>
            <a:ext cx="841247" cy="64008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72767" y="283464"/>
            <a:ext cx="310895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80">
                <a:solidFill>
                  <a:srgbClr val="183A5A"/>
                </a:solidFill>
                <a:latin typeface="Microsoft YaHei"/>
              </a:rPr>
              <a:t>核心判断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62179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7191C"/>
                </a:solidFill>
                <a:latin typeface="Microsoft YaHei UI"/>
              </a:rPr>
              <a:t>建议集中投资三类可规模化场景，并设置季度退出机制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7191C"/>
                </a:solidFill>
                <a:latin typeface="Microsoft YaHei UI"/>
              </a:rPr>
              <a:t>建议集中投资三类可规模化场景，并设置季度退出机制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2666B"/>
                </a:solidFill>
                <a:latin typeface="Microsoft YaHei"/>
              </a:rPr>
              <a:t>目标 IRR  ·  回收周期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7" y="384048"/>
            <a:ext cx="841247" cy="64008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72767" y="283464"/>
            <a:ext cx="310895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80">
                <a:solidFill>
                  <a:srgbClr val="183A5A"/>
                </a:solidFill>
                <a:latin typeface="Microsoft YaHei"/>
              </a:rPr>
              <a:t>关键指标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62179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91C"/>
                </a:solidFill>
                <a:latin typeface="Microsoft YaHei UI"/>
              </a:rPr>
              <a:t>四项指标界定当前状态与决策空间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83A5A"/>
                </a:solidFill>
                <a:latin typeface="Microsoft YaHei"/>
              </a:rPr>
              <a:t>建议集中投资三类可规模化场景，并设置季度退出机制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615184"/>
            <a:ext cx="2320289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83A5A"/>
                </a:solidFill>
                <a:latin typeface="Microsoft YaHei UI"/>
              </a:rPr>
              <a:t>3.2亿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776472"/>
            <a:ext cx="2311145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91C"/>
                </a:solidFill>
                <a:latin typeface="Microsoft YaHei"/>
              </a:rPr>
              <a:t>三年价值池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416552"/>
            <a:ext cx="227456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666B"/>
                </a:solidFill>
                <a:latin typeface="Microsoft YaHei"/>
              </a:rPr>
              <a:t>来自效率、增长和风险三类收益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35273" y="2295144"/>
            <a:ext cx="0" cy="324612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36441" y="2615184"/>
            <a:ext cx="2320289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91C"/>
                </a:solidFill>
                <a:latin typeface="Microsoft YaHei UI"/>
              </a:rPr>
              <a:t>21%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4729" y="3776472"/>
            <a:ext cx="2311145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91C"/>
                </a:solidFill>
                <a:latin typeface="Microsoft YaHei"/>
              </a:rPr>
              <a:t>目标 IRR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4729" y="4416552"/>
            <a:ext cx="227456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666B"/>
                </a:solidFill>
                <a:latin typeface="Microsoft YaHei"/>
              </a:rPr>
              <a:t>高于集团资本门槛 6 个百分点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67043" y="2295144"/>
            <a:ext cx="0" cy="324612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68211" y="2615184"/>
            <a:ext cx="2320289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91C"/>
                </a:solidFill>
                <a:latin typeface="Microsoft YaHei UI"/>
              </a:rPr>
              <a:t>9个月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499" y="3776472"/>
            <a:ext cx="2311145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91C"/>
                </a:solidFill>
                <a:latin typeface="Microsoft YaHei"/>
              </a:rPr>
              <a:t>回收周期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499" y="4416552"/>
            <a:ext cx="227456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666B"/>
                </a:solidFill>
                <a:latin typeface="Microsoft YaHei"/>
              </a:rPr>
              <a:t>优先场景可在一年内形成现金回报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98813" y="2295144"/>
            <a:ext cx="0" cy="324612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999981" y="2615184"/>
            <a:ext cx="2320289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91C"/>
                </a:solidFill>
                <a:latin typeface="Microsoft YaHei UI"/>
              </a:rPr>
              <a:t>6项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8269" y="3776472"/>
            <a:ext cx="2311145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191C"/>
                </a:solidFill>
                <a:latin typeface="Microsoft YaHei"/>
              </a:rPr>
              <a:t>退出指标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8269" y="4416552"/>
            <a:ext cx="227456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666B"/>
                </a:solidFill>
                <a:latin typeface="Microsoft YaHei"/>
              </a:rPr>
              <a:t>季度复盘并停止低价值投入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7" y="384048"/>
            <a:ext cx="841247" cy="64008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72767" y="283464"/>
            <a:ext cx="310895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80">
                <a:solidFill>
                  <a:srgbClr val="183A5A"/>
                </a:solidFill>
                <a:latin typeface="Microsoft YaHei"/>
              </a:rPr>
              <a:t>路径选择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62179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91C"/>
                </a:solidFill>
                <a:latin typeface="Microsoft YaHei UI"/>
              </a:rPr>
              <a:t>两种路径的价值与代价必须同时看清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1" y="1463040"/>
            <a:ext cx="5358383" cy="4462272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3A5A"/>
                </a:solidFill>
                <a:latin typeface="Microsoft YaHei"/>
              </a:rPr>
              <a:t>集中投资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A5A"/>
                </a:solidFill>
                <a:latin typeface="Microsoft YaHe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91C"/>
                </a:solidFill>
                <a:latin typeface="Microsoft YaHei"/>
              </a:rPr>
              <a:t>资源集中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A5A"/>
                </a:solidFill>
                <a:latin typeface="Microsoft YaHe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91C"/>
                </a:solidFill>
                <a:latin typeface="Microsoft YaHei"/>
              </a:rPr>
              <a:t>复用率高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A5A"/>
                </a:solidFill>
                <a:latin typeface="Microsoft Ya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91C"/>
                </a:solidFill>
                <a:latin typeface="Microsoft YaHei"/>
              </a:rPr>
              <a:t>管理边界清楚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A5A"/>
                </a:solidFill>
                <a:latin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91C"/>
                </a:solidFill>
                <a:latin typeface="Microsoft YaHei"/>
              </a:rPr>
              <a:t>收益可审计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1" y="1463040"/>
            <a:ext cx="5358383" cy="4462272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9963B"/>
                </a:solidFill>
                <a:latin typeface="Microsoft YaHei"/>
              </a:rPr>
              <a:t>平均分配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9963B"/>
                </a:solidFill>
                <a:latin typeface="Microsoft YaHe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91C"/>
                </a:solidFill>
                <a:latin typeface="Microsoft YaHei"/>
              </a:rPr>
              <a:t>覆盖面广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9963B"/>
                </a:solidFill>
                <a:latin typeface="Microsoft YaHe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91C"/>
                </a:solidFill>
                <a:latin typeface="Microsoft YaHei"/>
              </a:rPr>
              <a:t>推进阻力小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9963B"/>
                </a:solidFill>
                <a:latin typeface="Microsoft YaHe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91C"/>
                </a:solidFill>
                <a:latin typeface="Microsoft YaHei"/>
              </a:rPr>
              <a:t>价值被稀释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9963B"/>
                </a:solidFill>
                <a:latin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91C"/>
                </a:solidFill>
                <a:latin typeface="Microsoft YaHei"/>
              </a:rPr>
              <a:t>重复建设增加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7" y="384048"/>
            <a:ext cx="841247" cy="64008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72767" y="283464"/>
            <a:ext cx="310895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80">
                <a:solidFill>
                  <a:srgbClr val="183A5A"/>
                </a:solidFill>
                <a:latin typeface="Microsoft YaHei"/>
              </a:rPr>
              <a:t>能力组合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62179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91C"/>
                </a:solidFill>
                <a:latin typeface="Microsoft YaHei UI"/>
              </a:rPr>
              <a:t>业务结果与能力建设必须同步发生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3A5A"/>
                </a:solidFill>
                <a:latin typeface="Microsoft YaHei"/>
              </a:rPr>
              <a:t>业务侧负责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3A5A"/>
                </a:solidFill>
                <a:latin typeface="Microsoft YaHe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91C"/>
                </a:solidFill>
                <a:latin typeface="Microsoft YaHei"/>
              </a:rPr>
              <a:t>聚焦价值池：只投资可量化、可复制、可持续运营的场景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3A5A"/>
                </a:solidFill>
                <a:latin typeface="Microsoft YaHe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91C"/>
                </a:solidFill>
                <a:latin typeface="Microsoft YaHei"/>
              </a:rPr>
              <a:t>平台化复用：统一模型、数据和安全底座降低边际成本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3A5A"/>
                </a:solidFill>
                <a:latin typeface="Microsoft YaHe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91C"/>
                </a:solidFill>
                <a:latin typeface="Microsoft YaHei"/>
              </a:rPr>
              <a:t>业务共担：业务负责人共同承诺收益并拥有结果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3A5A"/>
                </a:solidFill>
                <a:latin typeface="Microsoft YaHe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91C"/>
                </a:solidFill>
                <a:latin typeface="Microsoft YaHei"/>
              </a:rPr>
              <a:t>组合治理：按季度增投、纠偏或退出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C99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9963B"/>
                </a:solidFill>
                <a:latin typeface="Microsoft YaHei"/>
              </a:rPr>
              <a:t>平台与职能侧负责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9963B"/>
                </a:solidFill>
                <a:latin typeface="Microsoft YaHe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91C"/>
                </a:solidFill>
                <a:latin typeface="Microsoft YaHei"/>
              </a:rPr>
              <a:t>价值高估：采用财务与业务双签字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9963B"/>
                </a:solidFill>
                <a:latin typeface="Microsoft YaHe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91C"/>
                </a:solidFill>
                <a:latin typeface="Microsoft YaHei"/>
              </a:rPr>
              <a:t>数据受限：优先解决关键数据链路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9963B"/>
                </a:solidFill>
                <a:latin typeface="Microsoft YaHe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91C"/>
                </a:solidFill>
                <a:latin typeface="Microsoft YaHei"/>
              </a:rPr>
              <a:t>采用不足：把使用率写入业务目标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9963B"/>
                </a:solidFill>
                <a:latin typeface="Microsoft YaHe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91C"/>
                </a:solidFill>
                <a:latin typeface="Microsoft YaHei"/>
              </a:rPr>
              <a:t>成本失控：设置单场景预算上限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7" y="384048"/>
            <a:ext cx="841247" cy="64008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72767" y="283464"/>
            <a:ext cx="310895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80">
                <a:solidFill>
                  <a:srgbClr val="183A5A"/>
                </a:solidFill>
                <a:latin typeface="Microsoft YaHei"/>
              </a:rPr>
              <a:t>关键抓手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62179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91C"/>
                </a:solidFill>
                <a:latin typeface="Microsoft YaHei UI"/>
              </a:rPr>
              <a:t>形成结果需要同时推进四个抓手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06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7" y="1463040"/>
            <a:ext cx="5138928" cy="0"/>
          </a:xfrm>
          <a:prstGeom prst="line">
            <a:avLst/>
          </a:prstGeom>
          <a:ln w="25400">
            <a:solidFill>
              <a:srgbClr val="183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7" y="1737360"/>
            <a:ext cx="502919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191C"/>
                </a:solidFill>
                <a:latin typeface="Microsoft YaHei"/>
              </a:rPr>
              <a:t>聚焦价值池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" y="2395728"/>
            <a:ext cx="4983479" cy="8046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666B"/>
                </a:solidFill>
                <a:latin typeface="Microsoft YaHei"/>
              </a:rPr>
              <a:t>只投资可量化、可复制、可持续运营的场景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44767" y="1463040"/>
            <a:ext cx="5138928" cy="0"/>
          </a:xfrm>
          <a:prstGeom prst="line">
            <a:avLst/>
          </a:prstGeom>
          <a:ln w="25400">
            <a:solidFill>
              <a:srgbClr val="C99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44767" y="1737360"/>
            <a:ext cx="502919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191C"/>
                </a:solidFill>
                <a:latin typeface="Microsoft YaHei"/>
              </a:rPr>
              <a:t>平台化复用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7" y="2395728"/>
            <a:ext cx="4983479" cy="8046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666B"/>
                </a:solidFill>
                <a:latin typeface="Microsoft YaHei"/>
              </a:rPr>
              <a:t>统一模型、数据和安全底座降低边际成本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7" y="3657600"/>
            <a:ext cx="5138928" cy="0"/>
          </a:xfrm>
          <a:prstGeom prst="line">
            <a:avLst/>
          </a:prstGeom>
          <a:ln w="25400">
            <a:solidFill>
              <a:srgbClr val="183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7" y="3931920"/>
            <a:ext cx="502919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191C"/>
                </a:solidFill>
                <a:latin typeface="Microsoft YaHei"/>
              </a:rPr>
              <a:t>业务共担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" y="4590288"/>
            <a:ext cx="4983479" cy="8046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666B"/>
                </a:solidFill>
                <a:latin typeface="Microsoft YaHei"/>
              </a:rPr>
              <a:t>业务负责人共同承诺收益并拥有结果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44767" y="3657600"/>
            <a:ext cx="5138928" cy="0"/>
          </a:xfrm>
          <a:prstGeom prst="line">
            <a:avLst/>
          </a:prstGeom>
          <a:ln w="25400">
            <a:solidFill>
              <a:srgbClr val="C99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44767" y="3931920"/>
            <a:ext cx="502919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191C"/>
                </a:solidFill>
                <a:latin typeface="Microsoft YaHei"/>
              </a:rPr>
              <a:t>组合治理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7" y="4590288"/>
            <a:ext cx="4983479" cy="8046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666B"/>
                </a:solidFill>
                <a:latin typeface="Microsoft YaHei"/>
              </a:rPr>
              <a:t>按季度增投、纠偏或退出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7" y="384048"/>
            <a:ext cx="841247" cy="64008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72767" y="283464"/>
            <a:ext cx="310895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80">
                <a:solidFill>
                  <a:srgbClr val="183A5A"/>
                </a:solidFill>
                <a:latin typeface="Microsoft YaHei"/>
              </a:rPr>
              <a:t>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62179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91C"/>
                </a:solidFill>
                <a:latin typeface="Microsoft YaHei UI"/>
              </a:rPr>
              <a:t>数据表明差异集中在少数关键维度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07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3A5A"/>
                </a:solidFill>
                <a:latin typeface="Microsoft YaHei"/>
              </a:rPr>
              <a:t>核心洞察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191C"/>
                </a:solidFill>
                <a:latin typeface="Microsoft YaHei"/>
              </a:rPr>
              <a:t>高价值组合在增长与体验维度形成明显优势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66B"/>
                </a:solidFill>
                <a:latin typeface="Microsoft YaHei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7" y="384048"/>
            <a:ext cx="841247" cy="64008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72767" y="283464"/>
            <a:ext cx="310895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80">
                <a:solidFill>
                  <a:srgbClr val="183A5A"/>
                </a:solidFill>
                <a:latin typeface="Microsoft YaHei"/>
              </a:rPr>
              <a:t>交付计划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62179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91C"/>
                </a:solidFill>
                <a:latin typeface="Microsoft YaHei UI"/>
              </a:rPr>
              <a:t>工作包、责任人与时间窗口已经对齐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79" y="1463040"/>
          <a:ext cx="109270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989"/>
                <a:gridCol w="2980112"/>
                <a:gridCol w="2648989"/>
                <a:gridCol w="2648989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4F1EA"/>
                          </a:solidFill>
                          <a:latin typeface="Microsoft YaHei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18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4F1EA"/>
                          </a:solidFill>
                          <a:latin typeface="Microsoft YaHei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18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4F1EA"/>
                          </a:solidFill>
                          <a:latin typeface="Microsoft YaHei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18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4F1EA"/>
                          </a:solidFill>
                          <a:latin typeface="Microsoft YaHei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183A5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第 1 季度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验证三个高价值场景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第 2 季度</a:t>
                      </a:r>
                    </a:p>
                  </a:txBody>
                  <a:tcPr marL="91440" marR="91440" marT="54864" marB="54864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形成统一能力底座</a:t>
                      </a:r>
                    </a:p>
                  </a:txBody>
                  <a:tcPr marL="91440" marR="91440" marT="54864" marB="54864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F4F1E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第 3 季度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复制至六个业务单元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第 4 季度</a:t>
                      </a:r>
                    </a:p>
                  </a:txBody>
                  <a:tcPr marL="91440" marR="91440" marT="54864" marB="54864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完成收益审计</a:t>
                      </a:r>
                    </a:p>
                  </a:txBody>
                  <a:tcPr marL="91440" marR="91440" marT="54864" marB="54864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F4F1E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下一年度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进入规模化运营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91C"/>
                          </a:solidFill>
                          <a:latin typeface="Microsoft YaHei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7" y="384048"/>
            <a:ext cx="841247" cy="64008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72767" y="283464"/>
            <a:ext cx="310895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80">
                <a:solidFill>
                  <a:srgbClr val="183A5A"/>
                </a:solidFill>
                <a:latin typeface="Microsoft YaHei"/>
              </a:rPr>
              <a:t>实施路径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62179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91C"/>
                </a:solidFill>
                <a:latin typeface="Microsoft YaHei UI"/>
              </a:rPr>
              <a:t>五个阶段把方向转化为可验收成果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09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32687" y="2962656"/>
            <a:ext cx="10177272" cy="0"/>
          </a:xfrm>
          <a:prstGeom prst="line">
            <a:avLst/>
          </a:prstGeom>
          <a:ln w="254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31519" y="2761488"/>
            <a:ext cx="402335" cy="402336"/>
          </a:xfrm>
          <a:prstGeom prst="ellipse">
            <a:avLst/>
          </a:prstGeom>
          <a:solidFill>
            <a:srgbClr val="183A5A"/>
          </a:solidFill>
          <a:ln w="7315"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5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4F1EA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5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91C"/>
                </a:solidFill>
                <a:latin typeface="Microsoft YaHei"/>
              </a:rPr>
              <a:t>第 1 季度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39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66B"/>
                </a:solidFill>
                <a:latin typeface="Microsoft YaHei"/>
              </a:rPr>
              <a:t>验证三个高价值场景</a:t>
            </a:r>
          </a:p>
        </p:txBody>
      </p:sp>
      <p:sp>
        <p:nvSpPr>
          <p:cNvPr id="13" name="Oval 12"/>
          <p:cNvSpPr/>
          <p:nvPr/>
        </p:nvSpPr>
        <p:spPr>
          <a:xfrm>
            <a:off x="3275837" y="2761488"/>
            <a:ext cx="402335" cy="402336"/>
          </a:xfrm>
          <a:prstGeom prst="ellipse">
            <a:avLst/>
          </a:prstGeom>
          <a:solidFill>
            <a:srgbClr val="FFFFFF"/>
          </a:solidFill>
          <a:ln w="7315"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2413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83A5A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2333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91C"/>
                </a:solidFill>
                <a:latin typeface="Microsoft YaHei"/>
              </a:rPr>
              <a:t>第 2 季度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5757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66B"/>
                </a:solidFill>
                <a:latin typeface="Microsoft YaHei"/>
              </a:rPr>
              <a:t>形成统一能力底座</a:t>
            </a:r>
          </a:p>
        </p:txBody>
      </p:sp>
      <p:sp>
        <p:nvSpPr>
          <p:cNvPr id="17" name="Oval 16"/>
          <p:cNvSpPr/>
          <p:nvPr/>
        </p:nvSpPr>
        <p:spPr>
          <a:xfrm>
            <a:off x="5820155" y="2761488"/>
            <a:ext cx="402335" cy="402336"/>
          </a:xfrm>
          <a:prstGeom prst="ellipse">
            <a:avLst/>
          </a:prstGeom>
          <a:solidFill>
            <a:srgbClr val="FFFFFF"/>
          </a:solidFill>
          <a:ln w="7315"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6731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83A5A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6651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91C"/>
                </a:solidFill>
                <a:latin typeface="Microsoft YaHei"/>
              </a:rPr>
              <a:t>第 3 季度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0075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66B"/>
                </a:solidFill>
                <a:latin typeface="Microsoft YaHei"/>
              </a:rPr>
              <a:t>复制至六个业务单元</a:t>
            </a:r>
          </a:p>
        </p:txBody>
      </p:sp>
      <p:sp>
        <p:nvSpPr>
          <p:cNvPr id="21" name="Oval 20"/>
          <p:cNvSpPr/>
          <p:nvPr/>
        </p:nvSpPr>
        <p:spPr>
          <a:xfrm>
            <a:off x="8364473" y="2761488"/>
            <a:ext cx="402335" cy="402336"/>
          </a:xfrm>
          <a:prstGeom prst="ellipse">
            <a:avLst/>
          </a:prstGeom>
          <a:solidFill>
            <a:srgbClr val="FFFFFF"/>
          </a:solidFill>
          <a:ln w="7315"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1049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83A5A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0969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91C"/>
                </a:solidFill>
                <a:latin typeface="Microsoft YaHei"/>
              </a:rPr>
              <a:t>第 4 季度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4393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66B"/>
                </a:solidFill>
                <a:latin typeface="Microsoft YaHei"/>
              </a:rPr>
              <a:t>完成收益审计</a:t>
            </a:r>
          </a:p>
        </p:txBody>
      </p:sp>
      <p:sp>
        <p:nvSpPr>
          <p:cNvPr id="25" name="Oval 24"/>
          <p:cNvSpPr/>
          <p:nvPr/>
        </p:nvSpPr>
        <p:spPr>
          <a:xfrm>
            <a:off x="10908791" y="2761488"/>
            <a:ext cx="402335" cy="402336"/>
          </a:xfrm>
          <a:prstGeom prst="ellipse">
            <a:avLst/>
          </a:prstGeom>
          <a:solidFill>
            <a:srgbClr val="FFFFFF"/>
          </a:solidFill>
          <a:ln w="7315"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45367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83A5A"/>
                </a:solidFill>
                <a:latin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05287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91C"/>
                </a:solidFill>
                <a:latin typeface="Microsoft YaHei"/>
              </a:rPr>
              <a:t>下一年度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8711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66B"/>
                </a:solidFill>
                <a:latin typeface="Microsoft YaHei"/>
              </a:rPr>
              <a:t>进入规模化运营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7" y="384048"/>
            <a:ext cx="841247" cy="64008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72767" y="283464"/>
            <a:ext cx="310895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80">
                <a:solidFill>
                  <a:srgbClr val="183A5A"/>
                </a:solidFill>
                <a:latin typeface="Microsoft YaHei"/>
              </a:rPr>
              <a:t>风险管理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62179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91C"/>
                </a:solidFill>
                <a:latin typeface="Microsoft YaHei UI"/>
              </a:rPr>
              <a:t>四类风险均已设置前置缓释动作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3A5A"/>
                </a:solidFill>
                <a:latin typeface="Microsoft YaHei"/>
              </a:rPr>
              <a:t>价值高估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666B"/>
                </a:solidFill>
                <a:latin typeface="Microsoft YaHei"/>
              </a:rPr>
              <a:t>采用财务与业务双签字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91C"/>
                </a:solidFill>
                <a:latin typeface="Microsoft YaHei"/>
              </a:rPr>
              <a:t>数据受限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666B"/>
                </a:solidFill>
                <a:latin typeface="Microsoft YaHei"/>
              </a:rPr>
              <a:t>优先解决关键数据链路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91C"/>
                </a:solidFill>
                <a:latin typeface="Microsoft YaHei"/>
              </a:rPr>
              <a:t>采用不足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666B"/>
                </a:solidFill>
                <a:latin typeface="Microsoft YaHei"/>
              </a:rPr>
              <a:t>把使用率写入业务目标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8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3A5A"/>
                </a:solidFill>
                <a:latin typeface="Microsoft YaHei"/>
              </a:rPr>
              <a:t>成本失控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666B"/>
                </a:solidFill>
                <a:latin typeface="Microsoft YaHei"/>
              </a:rPr>
              <a:t>设置单场景预算上限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7" y="384048"/>
            <a:ext cx="841247" cy="64008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72767" y="283464"/>
            <a:ext cx="310895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80">
                <a:solidFill>
                  <a:srgbClr val="183A5A"/>
                </a:solidFill>
                <a:latin typeface="Microsoft YaHei"/>
              </a:rPr>
              <a:t>共同原则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62179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91C"/>
                </a:solidFill>
                <a:latin typeface="Microsoft YaHei UI"/>
              </a:rPr>
              <a:t>团队需要坚持一条简单原则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183A5A"/>
                </a:solidFill>
                <a:latin typeface="Microsoft YaHei UI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7191C"/>
                </a:solidFill>
                <a:latin typeface="Microsoft YaHei UI"/>
              </a:rPr>
              <a:t>资本不是平均分配的预算，而是推动少数高价值结果的选择。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183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2666B"/>
                </a:solidFill>
                <a:latin typeface="Microsoft YaHei"/>
              </a:rPr>
              <a:t>— 项目核心团队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7" y="384048"/>
            <a:ext cx="841247" cy="64008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72767" y="283464"/>
            <a:ext cx="310895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80">
                <a:solidFill>
                  <a:srgbClr val="183A5A"/>
                </a:solidFill>
                <a:latin typeface="Microsoft YaHei"/>
              </a:rPr>
              <a:t>行动清单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621792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191C"/>
                </a:solidFill>
                <a:latin typeface="Microsoft YaHei UI"/>
              </a:rPr>
              <a:t>未来八周的行动已拆解到责任和验收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666B"/>
                </a:solidFill>
                <a:latin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3A5A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1" y="1463040"/>
            <a:ext cx="9555479" cy="5120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91C"/>
                </a:solidFill>
                <a:latin typeface="Microsoft YaHei"/>
              </a:rPr>
              <a:t>确认聚焦价值池的负责人、交付物和完成标准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53311" y="1975104"/>
            <a:ext cx="9573768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3231" y="2066544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3A5A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1" y="2048256"/>
            <a:ext cx="9555479" cy="5120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91C"/>
                </a:solidFill>
                <a:latin typeface="Microsoft YaHei"/>
              </a:rPr>
              <a:t>确认平台化复用的负责人、交付物和完成标准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3311" y="2560320"/>
            <a:ext cx="9573768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1" y="2651760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3A5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1" y="2633472"/>
            <a:ext cx="9555479" cy="5120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91C"/>
                </a:solidFill>
                <a:latin typeface="Microsoft YaHei"/>
              </a:rPr>
              <a:t>确认业务共担的负责人、交付物和完成标准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53311" y="3145535"/>
            <a:ext cx="9573768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1" y="3236975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3A5A"/>
                </a:solidFill>
                <a:latin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1" y="3218687"/>
            <a:ext cx="9555479" cy="5120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91C"/>
                </a:solidFill>
                <a:latin typeface="Microsoft YaHei"/>
              </a:rPr>
              <a:t>确认组合治理的负责人、交付物和完成标准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53311" y="3730751"/>
            <a:ext cx="9573768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1" y="3822191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3A5A"/>
                </a:solidFill>
                <a:latin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1" y="3803904"/>
            <a:ext cx="9555479" cy="5120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91C"/>
                </a:solidFill>
                <a:latin typeface="Microsoft YaHei"/>
              </a:rPr>
              <a:t>完成第 1 季度并关闭阶段评审问题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53311" y="4315968"/>
            <a:ext cx="9573768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1" y="440740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3A5A"/>
                </a:solidFill>
                <a:latin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1" y="4389119"/>
            <a:ext cx="9555479" cy="5120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91C"/>
                </a:solidFill>
                <a:latin typeface="Microsoft YaHei"/>
              </a:rPr>
              <a:t>完成第 2 季度并关闭阶段评审问题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53311" y="4901183"/>
            <a:ext cx="9573768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1" y="4992623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3A5A"/>
                </a:solidFill>
                <a:latin typeface="Microsoft YaHe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1" y="4974336"/>
            <a:ext cx="9555479" cy="5120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91C"/>
                </a:solidFill>
                <a:latin typeface="Microsoft YaHei"/>
              </a:rPr>
              <a:t>完成第 3 季度并关闭阶段评审问题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53311" y="5486399"/>
            <a:ext cx="9573768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1" y="5577840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3A5A"/>
                </a:solidFill>
                <a:latin typeface="Microsoft YaHe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1" y="5559552"/>
            <a:ext cx="9555479" cy="5120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91C"/>
                </a:solidFill>
                <a:latin typeface="Microsoft YaHei"/>
              </a:rPr>
              <a:t>完成第 4 季度并关闭阶段评审问题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19" y="0"/>
            <a:ext cx="254203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" y="1078992"/>
            <a:ext cx="1298447" cy="82296"/>
          </a:xfrm>
          <a:prstGeom prst="rect">
            <a:avLst/>
          </a:prstGeom>
          <a:solidFill>
            <a:srgbClr val="1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7" y="1901952"/>
            <a:ext cx="777239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7191C"/>
                </a:solidFill>
                <a:latin typeface="Microsoft YaHei UI"/>
              </a:rPr>
              <a:t>建议集中投资三类可规模化场景，并设置季度退出机制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3" y="4078224"/>
            <a:ext cx="676655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2666B"/>
                </a:solidFill>
                <a:latin typeface="Microsoft YaHei"/>
              </a:rPr>
              <a:t>下一步：确认责任人、启动首个阶段并按周复盘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2666B"/>
                </a:solidFill>
                <a:latin typeface="Microsoft YaHei"/>
              </a:rPr>
              <a:t>象牙高管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集团 AI 投资组合决策</dc:title>
  <dc:subject>由智慧云脑 Cloud Brain 基于语义页面角色与自适应模板生成</dc:subject>
  <dc:creator/>
  <cp:keywords>template=executive-ivory;layout_family=premium;schema=presentation_spec.v2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