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传统音乐节</c:v>
                </c:pt>
              </c:strCache>
            </c:strRef>
          </c:tx>
          <c:spPr>
            <a:solidFill>
              <a:srgbClr val="EF5B3C"/>
            </a:solidFill>
          </c:spPr>
          <c:cat>
            <c:strRef>
              <c:f>Sheet1!$A$2:$A$5</c:f>
              <c:strCache>
                <c:ptCount val="4"/>
                <c:pt idx="0">
                  <c:v>观看</c:v>
                </c:pt>
                <c:pt idx="1">
                  <c:v>互动</c:v>
                </c:pt>
                <c:pt idx="2">
                  <c:v>共创</c:v>
                </c:pt>
                <c:pt idx="3">
                  <c:v>城市消费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88.0</c:v>
                </c:pt>
                <c:pt idx="1">
                  <c:v>42.0</c:v>
                </c:pt>
                <c:pt idx="2">
                  <c:v>25.0</c:v>
                </c:pt>
                <c:pt idx="3">
                  <c:v>36.0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城市共创节</c:v>
                </c:pt>
              </c:strCache>
            </c:strRef>
          </c:tx>
          <c:spPr>
            <a:solidFill>
              <a:srgbClr val="6C5CE7"/>
            </a:solidFill>
          </c:spPr>
          <c:cat>
            <c:strRef>
              <c:f>Sheet1!$A$2:$A$5</c:f>
              <c:strCache>
                <c:ptCount val="4"/>
                <c:pt idx="0">
                  <c:v>观看</c:v>
                </c:pt>
                <c:pt idx="1">
                  <c:v>互动</c:v>
                </c:pt>
                <c:pt idx="2">
                  <c:v>共创</c:v>
                </c:pt>
                <c:pt idx="3">
                  <c:v>城市消费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79.0</c:v>
                </c:pt>
                <c:pt idx="1">
                  <c:v>84.0</c:v>
                </c:pt>
                <c:pt idx="2">
                  <c:v>71.0</c:v>
                </c:pt>
                <c:pt idx="3">
                  <c:v>68.0</c:v>
                </c:pt>
              </c:numCache>
            </c:numRef>
          </c:val>
        </c:ser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l"/>
        <c:majorGridlines>
          <c:spPr>
            <a:ln>
              <a:solidFill>
                <a:srgbClr val="17202B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226939960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6031" y="384048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8207" y="530352"/>
            <a:ext cx="384047" cy="38404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01399" y="5440680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384047" y="5715000"/>
            <a:ext cx="384047" cy="384048"/>
          </a:xfrm>
          <a:prstGeom prst="diamond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66927" y="530352"/>
            <a:ext cx="868679" cy="868680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660000">
            <a:off x="9601199" y="749808"/>
            <a:ext cx="1142999" cy="1143000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599" y="2971800"/>
            <a:ext cx="2468879" cy="2468880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8719" y="1874519"/>
            <a:ext cx="6492239" cy="2514600"/>
          </a:xfrm>
          <a:prstGeom prst="rect">
            <a:avLst/>
          </a:prstGeom>
          <a:solidFill>
            <a:srgbClr val="FFFFFF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36191" y="1417320"/>
            <a:ext cx="4754879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140">
                <a:solidFill>
                  <a:srgbClr val="EF5B3C"/>
                </a:solidFill>
                <a:latin typeface="Microsoft YaHei"/>
              </a:rPr>
              <a:t>孟菲斯创意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36191" y="2139696"/>
            <a:ext cx="5714999" cy="187451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17202B"/>
                </a:solidFill>
                <a:latin typeface="Microsoft YaHei UI"/>
              </a:rPr>
              <a:t>夏日城市音乐节创意提案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7" y="3657600"/>
            <a:ext cx="5623559" cy="9144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D6470"/>
                </a:solidFill>
                <a:latin typeface="Microsoft YaHei"/>
              </a:rPr>
              <a:t>一场让年轻人愿意参与、分享并再次回来的城市事件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7" y="6144768"/>
            <a:ext cx="50291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D6470"/>
                </a:solidFill>
                <a:latin typeface="Microsoft YaHei"/>
              </a:rPr>
              <a:t>企业 AI 工作平台 · 高质量模板库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6031" y="384048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8207" y="530352"/>
            <a:ext cx="384047" cy="38404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01399" y="5440680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384047" y="5715000"/>
            <a:ext cx="384047" cy="384048"/>
          </a:xfrm>
          <a:prstGeom prst="diamond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75487" y="274320"/>
            <a:ext cx="310895" cy="310896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80000">
            <a:off x="896111" y="246888"/>
            <a:ext cx="310895" cy="310896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19" y="274320"/>
            <a:ext cx="274319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202B"/>
                </a:solidFill>
                <a:latin typeface="Microsoft YaHei"/>
              </a:rPr>
              <a:t>关键抓手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1" y="713232"/>
            <a:ext cx="1060703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202B"/>
                </a:solidFill>
                <a:latin typeface="Microsoft YaHei UI"/>
              </a:rPr>
              <a:t>形成结果需要同时推进四个抓手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01 / 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5" y="1463040"/>
            <a:ext cx="5381243" cy="212140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5215" y="1463040"/>
            <a:ext cx="82295" cy="2121408"/>
          </a:xfrm>
          <a:prstGeom prst="rect">
            <a:avLst/>
          </a:prstGeom>
          <a:solidFill>
            <a:srgbClr val="EF5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3" y="1737360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5E8"/>
                </a:solidFill>
                <a:latin typeface="Microsoft YaHei"/>
              </a:rPr>
              <a:t>城市寻声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3" y="2331720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5E8"/>
                </a:solidFill>
                <a:latin typeface="Microsoft YaHei"/>
              </a:rPr>
              <a:t>以街区任务串联舞台和商户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22491" y="1463040"/>
            <a:ext cx="5381243" cy="2121408"/>
          </a:xfrm>
          <a:prstGeom prst="rect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22491" y="1463040"/>
            <a:ext cx="82295" cy="2121408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5099" y="1737360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5E8"/>
                </a:solidFill>
                <a:latin typeface="Microsoft YaHei"/>
              </a:rPr>
              <a:t>颜色身份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5099" y="2331720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5E8"/>
                </a:solidFill>
                <a:latin typeface="Microsoft YaHei"/>
              </a:rPr>
              <a:t>观众选择阵营并共同完成挑战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5" y="3840479"/>
            <a:ext cx="5381243" cy="212140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5215" y="3840479"/>
            <a:ext cx="82295" cy="2121408"/>
          </a:xfrm>
          <a:prstGeom prst="rect">
            <a:avLst/>
          </a:prstGeom>
          <a:solidFill>
            <a:srgbClr val="EF5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3" y="4114799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5E8"/>
                </a:solidFill>
                <a:latin typeface="Microsoft YaHei"/>
              </a:rPr>
              <a:t>共创舞台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3" y="4709159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5E8"/>
                </a:solidFill>
                <a:latin typeface="Microsoft YaHei"/>
              </a:rPr>
              <a:t>用户作品进入现场演出和视觉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22491" y="3840479"/>
            <a:ext cx="5381243" cy="2121408"/>
          </a:xfrm>
          <a:prstGeom prst="rect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22491" y="3840479"/>
            <a:ext cx="82295" cy="2121408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5099" y="4114799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5E8"/>
                </a:solidFill>
                <a:latin typeface="Microsoft YaHei"/>
              </a:rPr>
              <a:t>夜间延展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5099" y="4709159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5E8"/>
                </a:solidFill>
                <a:latin typeface="Microsoft YaHei"/>
              </a:rPr>
              <a:t>把演出热度延续到城市消费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6031" y="384048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8207" y="530352"/>
            <a:ext cx="384047" cy="38404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01399" y="5440680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384047" y="5715000"/>
            <a:ext cx="384047" cy="384048"/>
          </a:xfrm>
          <a:prstGeom prst="diamond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75487" y="274320"/>
            <a:ext cx="310895" cy="310896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80000">
            <a:off x="896111" y="246888"/>
            <a:ext cx="310895" cy="310896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19" y="274320"/>
            <a:ext cx="274319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202B"/>
                </a:solidFill>
                <a:latin typeface="Microsoft YaHei"/>
              </a:rPr>
              <a:t>核心判断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1" y="713232"/>
            <a:ext cx="1060703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7202B"/>
                </a:solidFill>
                <a:latin typeface="Microsoft YaHei UI"/>
              </a:rPr>
              <a:t>用四个可参与的城市游戏，把音乐节从观看活动变成共同创作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02 / 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5" y="1828800"/>
            <a:ext cx="100583" cy="3429000"/>
          </a:xfrm>
          <a:prstGeom prst="rect">
            <a:avLst/>
          </a:prstGeom>
          <a:solidFill>
            <a:srgbClr val="EF5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19" y="1874519"/>
            <a:ext cx="9601199" cy="22860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17202B"/>
                </a:solidFill>
                <a:latin typeface="Microsoft YaHei UI"/>
              </a:rPr>
              <a:t>用四个可参与的城市游戏，把音乐节从观看活动变成共同创作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1" y="4553712"/>
            <a:ext cx="8778239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D6470"/>
                </a:solidFill>
                <a:latin typeface="Microsoft YaHei"/>
              </a:rPr>
              <a:t>异地观众  ·  内容传播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6031" y="384048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8207" y="530352"/>
            <a:ext cx="384047" cy="38404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01399" y="5440680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384047" y="5715000"/>
            <a:ext cx="384047" cy="384048"/>
          </a:xfrm>
          <a:prstGeom prst="diamond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75487" y="274320"/>
            <a:ext cx="310895" cy="310896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80000">
            <a:off x="896111" y="246888"/>
            <a:ext cx="310895" cy="310896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19" y="274320"/>
            <a:ext cx="274319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202B"/>
                </a:solidFill>
                <a:latin typeface="Microsoft YaHei"/>
              </a:rPr>
              <a:t>关键指标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1" y="713232"/>
            <a:ext cx="1060703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202B"/>
                </a:solidFill>
                <a:latin typeface="Microsoft YaHei UI"/>
              </a:rPr>
              <a:t>四项指标界定当前状态与决策空间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5" y="1216152"/>
            <a:ext cx="1046987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F5B3C"/>
                </a:solidFill>
                <a:latin typeface="Microsoft YaHei"/>
              </a:rPr>
              <a:t>用四个可参与的城市游戏，把音乐节从观看活动变成共同创作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03 / 12</a:t>
            </a:r>
          </a:p>
        </p:txBody>
      </p:sp>
      <p:sp>
        <p:nvSpPr>
          <p:cNvPr id="14" name="Oval 13"/>
          <p:cNvSpPr/>
          <p:nvPr/>
        </p:nvSpPr>
        <p:spPr>
          <a:xfrm>
            <a:off x="914399" y="2423160"/>
            <a:ext cx="1828799" cy="1828800"/>
          </a:xfrm>
          <a:prstGeom prst="ellipse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59" y="2862072"/>
            <a:ext cx="1554479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5E8"/>
                </a:solidFill>
                <a:latin typeface="Microsoft YaHei UI"/>
              </a:rPr>
              <a:t>8万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39" y="4398264"/>
            <a:ext cx="21031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7202B"/>
                </a:solidFill>
                <a:latin typeface="Microsoft YaHei"/>
              </a:rPr>
              <a:t>目标到场</a:t>
            </a:r>
          </a:p>
        </p:txBody>
      </p:sp>
      <p:sp>
        <p:nvSpPr>
          <p:cNvPr id="17" name="Oval 16"/>
          <p:cNvSpPr/>
          <p:nvPr/>
        </p:nvSpPr>
        <p:spPr>
          <a:xfrm>
            <a:off x="3863339" y="1943100"/>
            <a:ext cx="1600199" cy="1600200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00499" y="2382012"/>
            <a:ext cx="1325879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5E8"/>
                </a:solidFill>
                <a:latin typeface="Microsoft YaHei UI"/>
              </a:rPr>
              <a:t>42%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26179" y="3689604"/>
            <a:ext cx="1874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7202B"/>
                </a:solidFill>
                <a:latin typeface="Microsoft YaHei"/>
              </a:rPr>
              <a:t>异地观众</a:t>
            </a:r>
          </a:p>
        </p:txBody>
      </p:sp>
      <p:sp>
        <p:nvSpPr>
          <p:cNvPr id="20" name="Oval 19"/>
          <p:cNvSpPr/>
          <p:nvPr/>
        </p:nvSpPr>
        <p:spPr>
          <a:xfrm>
            <a:off x="6720839" y="2606040"/>
            <a:ext cx="1828799" cy="1828800"/>
          </a:xfrm>
          <a:prstGeom prst="ellipse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7999" y="3044952"/>
            <a:ext cx="1554479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5E8"/>
                </a:solidFill>
                <a:latin typeface="Microsoft YaHei UI"/>
              </a:rPr>
              <a:t>3.6x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79" y="4581144"/>
            <a:ext cx="21031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7202B"/>
                </a:solidFill>
                <a:latin typeface="Microsoft YaHei"/>
              </a:rPr>
              <a:t>内容传播</a:t>
            </a:r>
          </a:p>
        </p:txBody>
      </p:sp>
      <p:sp>
        <p:nvSpPr>
          <p:cNvPr id="23" name="Oval 22"/>
          <p:cNvSpPr/>
          <p:nvPr/>
        </p:nvSpPr>
        <p:spPr>
          <a:xfrm>
            <a:off x="9441179" y="1988819"/>
            <a:ext cx="1600199" cy="1600200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78339" y="2427732"/>
            <a:ext cx="1325879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5E8"/>
                </a:solidFill>
                <a:latin typeface="Microsoft YaHei UI"/>
              </a:rPr>
              <a:t>76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04019" y="3735324"/>
            <a:ext cx="1874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7202B"/>
                </a:solidFill>
                <a:latin typeface="Microsoft YaHei"/>
              </a:rPr>
              <a:t>推荐指数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6031" y="384048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8207" y="530352"/>
            <a:ext cx="384047" cy="38404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01399" y="5440680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384047" y="5715000"/>
            <a:ext cx="384047" cy="384048"/>
          </a:xfrm>
          <a:prstGeom prst="diamond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75487" y="274320"/>
            <a:ext cx="310895" cy="310896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80000">
            <a:off x="896111" y="246888"/>
            <a:ext cx="310895" cy="310896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19" y="274320"/>
            <a:ext cx="274319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202B"/>
                </a:solidFill>
                <a:latin typeface="Microsoft YaHei"/>
              </a:rPr>
              <a:t>路径选择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1" y="713232"/>
            <a:ext cx="1060703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202B"/>
                </a:solidFill>
                <a:latin typeface="Microsoft YaHei UI"/>
              </a:rPr>
              <a:t>两种路径的价值与代价必须同时看清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04 / 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1" y="1463040"/>
            <a:ext cx="5358383" cy="4462272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1" y="1463040"/>
            <a:ext cx="5358383" cy="91440"/>
          </a:xfrm>
          <a:prstGeom prst="rect">
            <a:avLst/>
          </a:prstGeom>
          <a:solidFill>
            <a:srgbClr val="EF5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5" y="1828800"/>
            <a:ext cx="4663439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5E8"/>
                </a:solidFill>
                <a:latin typeface="Microsoft YaHei"/>
              </a:rPr>
              <a:t>传统音乐节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3" y="2578608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5E8"/>
                </a:solidFill>
                <a:latin typeface="Microsoft YaHe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599" y="2487168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5E8"/>
                </a:solidFill>
                <a:latin typeface="Microsoft YaHei"/>
              </a:rPr>
              <a:t>节目清晰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3" y="3182112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5E8"/>
                </a:solidFill>
                <a:latin typeface="Microsoft YaHe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599" y="3090672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5E8"/>
                </a:solidFill>
                <a:latin typeface="Microsoft YaHei"/>
              </a:rPr>
              <a:t>执行成熟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3" y="3785616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5E8"/>
                </a:solidFill>
                <a:latin typeface="Microsoft YaHe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599" y="3694176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5E8"/>
                </a:solidFill>
                <a:latin typeface="Microsoft YaHei"/>
              </a:rPr>
              <a:t>互动有限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3" y="4389120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5E8"/>
                </a:solidFill>
                <a:latin typeface="Microsoft YaHe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599" y="4297680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5E8"/>
                </a:solidFill>
                <a:latin typeface="Microsoft YaHei"/>
              </a:rPr>
              <a:t>城市连接弱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9631" y="1463040"/>
            <a:ext cx="5358383" cy="4462272"/>
          </a:xfrm>
          <a:prstGeom prst="rect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99631" y="1463040"/>
            <a:ext cx="5358383" cy="9144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28815" y="1828800"/>
            <a:ext cx="4663439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5E8"/>
                </a:solidFill>
                <a:latin typeface="Microsoft YaHei"/>
              </a:rPr>
              <a:t>城市共创节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47103" y="2578608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5E8"/>
                </a:solidFill>
                <a:latin typeface="Microsoft YaHe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39" y="2487168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5E8"/>
                </a:solidFill>
                <a:latin typeface="Microsoft YaHei"/>
              </a:rPr>
              <a:t>参与感强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7103" y="3182112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5E8"/>
                </a:solidFill>
                <a:latin typeface="Microsoft YaHe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39" y="3090672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5E8"/>
                </a:solidFill>
                <a:latin typeface="Microsoft YaHei"/>
              </a:rPr>
              <a:t>传播自然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47103" y="3785616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5E8"/>
                </a:solidFill>
                <a:latin typeface="Microsoft YaHe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39" y="3694176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5E8"/>
                </a:solidFill>
                <a:latin typeface="Microsoft YaHei"/>
              </a:rPr>
              <a:t>运营复杂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47103" y="4389120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5E8"/>
                </a:solidFill>
                <a:latin typeface="Microsoft YaHe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39" y="4297680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5E8"/>
                </a:solidFill>
                <a:latin typeface="Microsoft YaHei"/>
              </a:rPr>
              <a:t>需要多方协同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6031" y="384048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8207" y="530352"/>
            <a:ext cx="384047" cy="38404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01399" y="5440680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384047" y="5715000"/>
            <a:ext cx="384047" cy="384048"/>
          </a:xfrm>
          <a:prstGeom prst="diamond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75487" y="274320"/>
            <a:ext cx="310895" cy="310896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80000">
            <a:off x="896111" y="246888"/>
            <a:ext cx="310895" cy="310896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19" y="274320"/>
            <a:ext cx="274319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202B"/>
                </a:solidFill>
                <a:latin typeface="Microsoft YaHei"/>
              </a:rPr>
              <a:t>实施路径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1" y="713232"/>
            <a:ext cx="1060703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202B"/>
                </a:solidFill>
                <a:latin typeface="Microsoft YaHei UI"/>
              </a:rPr>
              <a:t>五个阶段把方向转化为可验收成果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05 / 12</a:t>
            </a:r>
          </a:p>
        </p:txBody>
      </p:sp>
      <p:sp>
        <p:nvSpPr>
          <p:cNvPr id="13" name="Chevron 12"/>
          <p:cNvSpPr/>
          <p:nvPr/>
        </p:nvSpPr>
        <p:spPr>
          <a:xfrm>
            <a:off x="640079" y="2029968"/>
            <a:ext cx="2044598" cy="2331720"/>
          </a:xfrm>
          <a:prstGeom prst="chevron">
            <a:avLst/>
          </a:prstGeom>
          <a:solidFill>
            <a:srgbClr val="FFFFFF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2231136"/>
            <a:ext cx="1678838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F5B3C"/>
                </a:solidFill>
                <a:latin typeface="Microsoft YaHei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2834640"/>
            <a:ext cx="1660550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202B"/>
                </a:solidFill>
                <a:latin typeface="Microsoft YaHei"/>
              </a:rPr>
              <a:t>预热月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3547872"/>
            <a:ext cx="166055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D6470"/>
                </a:solidFill>
                <a:latin typeface="Microsoft YaHei"/>
              </a:rPr>
              <a:t>发布阵营和城市任务</a:t>
            </a:r>
          </a:p>
        </p:txBody>
      </p:sp>
      <p:sp>
        <p:nvSpPr>
          <p:cNvPr id="17" name="Chevron 16"/>
          <p:cNvSpPr/>
          <p:nvPr/>
        </p:nvSpPr>
        <p:spPr>
          <a:xfrm>
            <a:off x="2849270" y="2596896"/>
            <a:ext cx="2044598" cy="2331720"/>
          </a:xfrm>
          <a:prstGeom prst="chevron">
            <a:avLst/>
          </a:prstGeom>
          <a:solidFill>
            <a:srgbClr val="FFFFFF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32150" y="2798064"/>
            <a:ext cx="1678838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F5B3C"/>
                </a:solidFill>
                <a:latin typeface="Microsoft YaHe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32150" y="3401568"/>
            <a:ext cx="1660550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202B"/>
                </a:solidFill>
                <a:latin typeface="Microsoft YaHei"/>
              </a:rPr>
              <a:t>活动前周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32150" y="4114800"/>
            <a:ext cx="166055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D6470"/>
                </a:solidFill>
                <a:latin typeface="Microsoft YaHei"/>
              </a:rPr>
              <a:t>联动达人与本地商户</a:t>
            </a:r>
          </a:p>
        </p:txBody>
      </p:sp>
      <p:sp>
        <p:nvSpPr>
          <p:cNvPr id="21" name="Chevron 20"/>
          <p:cNvSpPr/>
          <p:nvPr/>
        </p:nvSpPr>
        <p:spPr>
          <a:xfrm>
            <a:off x="5058460" y="2029968"/>
            <a:ext cx="2044598" cy="2331720"/>
          </a:xfrm>
          <a:prstGeom prst="chevron">
            <a:avLst/>
          </a:prstGeom>
          <a:solidFill>
            <a:srgbClr val="FFFFFF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41340" y="2231136"/>
            <a:ext cx="1678838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F5B3C"/>
                </a:solidFill>
                <a:latin typeface="Microsoft YaHe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41340" y="2834640"/>
            <a:ext cx="1660550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202B"/>
                </a:solidFill>
                <a:latin typeface="Microsoft YaHei"/>
              </a:rPr>
              <a:t>第一天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41340" y="3547872"/>
            <a:ext cx="166055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D6470"/>
                </a:solidFill>
                <a:latin typeface="Microsoft YaHei"/>
              </a:rPr>
              <a:t>建立身份和探索感</a:t>
            </a:r>
          </a:p>
        </p:txBody>
      </p:sp>
      <p:sp>
        <p:nvSpPr>
          <p:cNvPr id="25" name="Chevron 24"/>
          <p:cNvSpPr/>
          <p:nvPr/>
        </p:nvSpPr>
        <p:spPr>
          <a:xfrm>
            <a:off x="7267651" y="2596896"/>
            <a:ext cx="2044598" cy="2331720"/>
          </a:xfrm>
          <a:prstGeom prst="chevron">
            <a:avLst/>
          </a:prstGeom>
          <a:solidFill>
            <a:srgbClr val="FFFFFF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0531" y="2798064"/>
            <a:ext cx="1678838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F5B3C"/>
                </a:solidFill>
                <a:latin typeface="Microsoft YaHe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0531" y="3401568"/>
            <a:ext cx="1660550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202B"/>
                </a:solidFill>
                <a:latin typeface="Microsoft YaHei"/>
              </a:rPr>
              <a:t>第二天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0531" y="4114800"/>
            <a:ext cx="166055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D6470"/>
                </a:solidFill>
                <a:latin typeface="Microsoft YaHei"/>
              </a:rPr>
              <a:t>推动共创与社交传播</a:t>
            </a:r>
          </a:p>
        </p:txBody>
      </p:sp>
      <p:sp>
        <p:nvSpPr>
          <p:cNvPr id="29" name="Chevron 28"/>
          <p:cNvSpPr/>
          <p:nvPr/>
        </p:nvSpPr>
        <p:spPr>
          <a:xfrm>
            <a:off x="9476841" y="2029968"/>
            <a:ext cx="2044598" cy="2331720"/>
          </a:xfrm>
          <a:prstGeom prst="chevron">
            <a:avLst/>
          </a:prstGeom>
          <a:solidFill>
            <a:srgbClr val="FFFFFF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59721" y="2231136"/>
            <a:ext cx="1678838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F5B3C"/>
                </a:solidFill>
                <a:latin typeface="Microsoft YaHe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59721" y="2834640"/>
            <a:ext cx="1660550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202B"/>
                </a:solidFill>
                <a:latin typeface="Microsoft YaHei"/>
              </a:rPr>
              <a:t>第三天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59721" y="3547872"/>
            <a:ext cx="166055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D6470"/>
                </a:solidFill>
                <a:latin typeface="Microsoft YaHei"/>
              </a:rPr>
              <a:t>形成高潮和城市记忆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6031" y="384048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8207" y="530352"/>
            <a:ext cx="384047" cy="38404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01399" y="5440680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384047" y="5715000"/>
            <a:ext cx="384047" cy="384048"/>
          </a:xfrm>
          <a:prstGeom prst="diamond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75487" y="274320"/>
            <a:ext cx="310895" cy="310896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80000">
            <a:off x="896111" y="246888"/>
            <a:ext cx="310895" cy="310896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19" y="274320"/>
            <a:ext cx="274319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202B"/>
                </a:solidFill>
                <a:latin typeface="Microsoft YaHei"/>
              </a:rPr>
              <a:t>共同原则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1" y="713232"/>
            <a:ext cx="1060703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202B"/>
                </a:solidFill>
                <a:latin typeface="Microsoft YaHei UI"/>
              </a:rPr>
              <a:t>团队需要坚持一条简单原则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06 /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7" y="1572768"/>
            <a:ext cx="914399" cy="9144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300" b="1">
                <a:solidFill>
                  <a:srgbClr val="EF5B3C"/>
                </a:solidFill>
                <a:latin typeface="Microsoft YaHei UI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7" y="1901952"/>
            <a:ext cx="9006839" cy="22402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7202B"/>
                </a:solidFill>
                <a:latin typeface="Microsoft YaHei UI"/>
              </a:rPr>
              <a:t>最好的节日不是观众记住了什么，而是他们共同做成了什么。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417319" y="4617720"/>
            <a:ext cx="1371600" cy="0"/>
          </a:xfrm>
          <a:prstGeom prst="line">
            <a:avLst/>
          </a:prstGeom>
          <a:ln w="38100">
            <a:solidFill>
              <a:srgbClr val="EF5B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999231" y="4443984"/>
            <a:ext cx="4754879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D6470"/>
                </a:solidFill>
                <a:latin typeface="Microsoft YaHei"/>
              </a:rPr>
              <a:t>— 项目核心团队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6031" y="384048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8207" y="530352"/>
            <a:ext cx="384047" cy="38404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01399" y="5440680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384047" y="5715000"/>
            <a:ext cx="384047" cy="384048"/>
          </a:xfrm>
          <a:prstGeom prst="diamond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75487" y="274320"/>
            <a:ext cx="310895" cy="310896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80000">
            <a:off x="896111" y="246888"/>
            <a:ext cx="310895" cy="310896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19" y="274320"/>
            <a:ext cx="274319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202B"/>
                </a:solidFill>
                <a:latin typeface="Microsoft YaHei"/>
              </a:rPr>
              <a:t>证据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1" y="713232"/>
            <a:ext cx="1060703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202B"/>
                </a:solidFill>
                <a:latin typeface="Microsoft YaHei UI"/>
              </a:rPr>
              <a:t>数据表明差异集中在少数关键维度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07 / 12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58367" y="1463040"/>
          <a:ext cx="7635239" cy="43159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8595359" y="1554480"/>
            <a:ext cx="2240279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F5B3C"/>
                </a:solidFill>
                <a:latin typeface="Microsoft YaHei"/>
              </a:rPr>
              <a:t>核心洞察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7071" y="2121408"/>
            <a:ext cx="2514599" cy="21488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7202B"/>
                </a:solidFill>
                <a:latin typeface="Microsoft YaHei"/>
              </a:rPr>
              <a:t>共创方案略减观看集中度，但显著提升互动和城市消费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59" y="4864608"/>
            <a:ext cx="2331719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D6470"/>
                </a:solidFill>
                <a:latin typeface="Microsoft YaHei"/>
              </a:rPr>
              <a:t>来源：模板演示数据，仅用于版式验证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6031" y="384048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8207" y="530352"/>
            <a:ext cx="384047" cy="38404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01399" y="5440680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384047" y="5715000"/>
            <a:ext cx="384047" cy="384048"/>
          </a:xfrm>
          <a:prstGeom prst="diamond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75487" y="274320"/>
            <a:ext cx="310895" cy="310896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80000">
            <a:off x="896111" y="246888"/>
            <a:ext cx="310895" cy="310896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19" y="274320"/>
            <a:ext cx="274319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202B"/>
                </a:solidFill>
                <a:latin typeface="Microsoft YaHei"/>
              </a:rPr>
              <a:t>能力组合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1" y="713232"/>
            <a:ext cx="1060703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202B"/>
                </a:solidFill>
                <a:latin typeface="Microsoft YaHei UI"/>
              </a:rPr>
              <a:t>业务结果与能力建设必须同步发生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08 / 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1" y="1572768"/>
            <a:ext cx="5230367" cy="73152"/>
          </a:xfrm>
          <a:prstGeom prst="rect">
            <a:avLst/>
          </a:prstGeom>
          <a:solidFill>
            <a:srgbClr val="EF5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1" y="1792224"/>
            <a:ext cx="5047487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F5B3C"/>
                </a:solidFill>
                <a:latin typeface="Microsoft YaHei"/>
              </a:rPr>
              <a:t>业务侧负责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79" y="2505456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F5B3C"/>
                </a:solidFill>
                <a:latin typeface="Microsoft YaHei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3" y="2414016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202B"/>
                </a:solidFill>
                <a:latin typeface="Microsoft YaHei"/>
              </a:rPr>
              <a:t>城市寻声：以街区任务串联舞台和商户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79" y="3255264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F5B3C"/>
                </a:solidFill>
                <a:latin typeface="Microsoft YaHe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3" y="3163824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202B"/>
                </a:solidFill>
                <a:latin typeface="Microsoft YaHei"/>
              </a:rPr>
              <a:t>颜色身份：观众选择阵营并共同完成挑战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79" y="4005072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F5B3C"/>
                </a:solidFill>
                <a:latin typeface="Microsoft YaHe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3" y="3913632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202B"/>
                </a:solidFill>
                <a:latin typeface="Microsoft YaHei"/>
              </a:rPr>
              <a:t>共创舞台：用户作品进入现场演出和视觉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79" y="4754880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F5B3C"/>
                </a:solidFill>
                <a:latin typeface="Microsoft YaHei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3" y="4663440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202B"/>
                </a:solidFill>
                <a:latin typeface="Microsoft YaHei"/>
              </a:rPr>
              <a:t>夜间延展：把演出热度延续到城市消费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6207" y="1572768"/>
            <a:ext cx="5303519" cy="73152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36207" y="1792224"/>
            <a:ext cx="5120639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6C5CE7"/>
                </a:solidFill>
                <a:latin typeface="Microsoft YaHei"/>
              </a:rPr>
              <a:t>平台与职能侧负责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4495" y="2505456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6C5CE7"/>
                </a:solidFill>
                <a:latin typeface="Microsoft YaHei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79" y="2414016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202B"/>
                </a:solidFill>
                <a:latin typeface="Microsoft YaHei"/>
              </a:rPr>
              <a:t>天气变化：准备室内替代场景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54495" y="3255264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6C5CE7"/>
                </a:solidFill>
                <a:latin typeface="Microsoft YaHei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3163824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202B"/>
                </a:solidFill>
                <a:latin typeface="Microsoft YaHei"/>
              </a:rPr>
              <a:t>动线拥堵：分区容量和预约机制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54495" y="4005072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6C5CE7"/>
                </a:solidFill>
                <a:latin typeface="Microsoft YaHei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79" y="3913632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202B"/>
                </a:solidFill>
                <a:latin typeface="Microsoft YaHei"/>
              </a:rPr>
              <a:t>内容失控：共创内容审核与授权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54495" y="4754880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6C5CE7"/>
                </a:solidFill>
                <a:latin typeface="Microsoft YaHei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79" y="4663440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202B"/>
                </a:solidFill>
                <a:latin typeface="Microsoft YaHei"/>
              </a:rPr>
              <a:t>品牌抢戏：统一合作伙伴表达规则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6031" y="384048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8207" y="530352"/>
            <a:ext cx="384047" cy="38404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01399" y="5440680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384047" y="5715000"/>
            <a:ext cx="384047" cy="384048"/>
          </a:xfrm>
          <a:prstGeom prst="diamond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75487" y="274320"/>
            <a:ext cx="310895" cy="310896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80000">
            <a:off x="896111" y="246888"/>
            <a:ext cx="310895" cy="310896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19" y="274320"/>
            <a:ext cx="274319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202B"/>
                </a:solidFill>
                <a:latin typeface="Microsoft YaHei"/>
              </a:rPr>
              <a:t>风险管理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1" y="713232"/>
            <a:ext cx="1060703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202B"/>
                </a:solidFill>
                <a:latin typeface="Microsoft YaHei UI"/>
              </a:rPr>
              <a:t>四类风险均已设置前置缓释动作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09 / 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7" y="1463040"/>
            <a:ext cx="5230367" cy="1938528"/>
          </a:xfrm>
          <a:prstGeom prst="rect">
            <a:avLst/>
          </a:prstGeom>
          <a:solidFill>
            <a:srgbClr val="FFFFFF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399" y="1700784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F5B3C"/>
                </a:solidFill>
                <a:latin typeface="Microsoft YaHei"/>
              </a:rPr>
              <a:t>天气变化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399" y="2249424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D6470"/>
                </a:solidFill>
                <a:latin typeface="Microsoft YaHei"/>
              </a:rPr>
              <a:t>准备室内替代场景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44767" y="1463040"/>
            <a:ext cx="5230367" cy="1938528"/>
          </a:xfrm>
          <a:prstGeom prst="rect">
            <a:avLst/>
          </a:prstGeom>
          <a:solidFill>
            <a:srgbClr val="FFFFFF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799" y="1700784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202B"/>
                </a:solidFill>
                <a:latin typeface="Microsoft YaHei"/>
              </a:rPr>
              <a:t>动线拥堵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799" y="2249424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D6470"/>
                </a:solidFill>
                <a:latin typeface="Microsoft YaHei"/>
              </a:rPr>
              <a:t>分区容量和预约机制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7" y="3675887"/>
            <a:ext cx="5230367" cy="1938528"/>
          </a:xfrm>
          <a:prstGeom prst="rect">
            <a:avLst/>
          </a:prstGeom>
          <a:solidFill>
            <a:srgbClr val="FFFFFF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399" y="3913631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202B"/>
                </a:solidFill>
                <a:latin typeface="Microsoft YaHei"/>
              </a:rPr>
              <a:t>内容失控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399" y="4462272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D6470"/>
                </a:solidFill>
                <a:latin typeface="Microsoft YaHei"/>
              </a:rPr>
              <a:t>共创内容审核与授权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7" y="3675887"/>
            <a:ext cx="5230367" cy="1938528"/>
          </a:xfrm>
          <a:prstGeom prst="rect">
            <a:avLst/>
          </a:prstGeom>
          <a:solidFill>
            <a:srgbClr val="FFFFFF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799" y="3913631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F5B3C"/>
                </a:solidFill>
                <a:latin typeface="Microsoft YaHei"/>
              </a:rPr>
              <a:t>品牌抢戏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799" y="4462272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D6470"/>
                </a:solidFill>
                <a:latin typeface="Microsoft YaHei"/>
              </a:rPr>
              <a:t>统一合作伙伴表达规则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6031" y="384048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8207" y="530352"/>
            <a:ext cx="384047" cy="38404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01399" y="5440680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384047" y="5715000"/>
            <a:ext cx="384047" cy="384048"/>
          </a:xfrm>
          <a:prstGeom prst="diamond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75487" y="274320"/>
            <a:ext cx="310895" cy="310896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80000">
            <a:off x="896111" y="246888"/>
            <a:ext cx="310895" cy="310896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19" y="274320"/>
            <a:ext cx="274319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202B"/>
                </a:solidFill>
                <a:latin typeface="Microsoft YaHei"/>
              </a:rPr>
              <a:t>行动清单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1" y="713232"/>
            <a:ext cx="1060703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202B"/>
                </a:solidFill>
                <a:latin typeface="Microsoft YaHei UI"/>
              </a:rPr>
              <a:t>未来八周的行动已拆解到责任和验收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10 /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1" y="148132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F5B3C"/>
                </a:solidFill>
                <a:latin typeface="Microsoft YaHe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1" y="146304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202B"/>
                </a:solidFill>
                <a:latin typeface="Microsoft YaHei"/>
              </a:rPr>
              <a:t>确认城市寻声的负责人、交付物和完成标准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353311" y="1984248"/>
            <a:ext cx="9573768" cy="0"/>
          </a:xfrm>
          <a:prstGeom prst="line">
            <a:avLst/>
          </a:prstGeom>
          <a:ln w="9525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13231" y="207568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F5B3C"/>
                </a:solidFill>
                <a:latin typeface="Microsoft YaHe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1" y="205740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202B"/>
                </a:solidFill>
                <a:latin typeface="Microsoft YaHei"/>
              </a:rPr>
              <a:t>确认颜色身份的负责人、交付物和完成标准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353311" y="2578608"/>
            <a:ext cx="9573768" cy="0"/>
          </a:xfrm>
          <a:prstGeom prst="line">
            <a:avLst/>
          </a:prstGeom>
          <a:ln w="9525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13231" y="267004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F5B3C"/>
                </a:solidFill>
                <a:latin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3311" y="265176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202B"/>
                </a:solidFill>
                <a:latin typeface="Microsoft YaHei"/>
              </a:rPr>
              <a:t>确认共创舞台的负责人、交付物和完成标准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353311" y="3172968"/>
            <a:ext cx="9573768" cy="0"/>
          </a:xfrm>
          <a:prstGeom prst="line">
            <a:avLst/>
          </a:prstGeom>
          <a:ln w="9525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13231" y="326440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F5B3C"/>
                </a:solidFill>
                <a:latin typeface="Microsoft YaHe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53311" y="324612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202B"/>
                </a:solidFill>
                <a:latin typeface="Microsoft YaHei"/>
              </a:rPr>
              <a:t>确认夜间延展的负责人、交付物和完成标准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353311" y="3767328"/>
            <a:ext cx="9573768" cy="0"/>
          </a:xfrm>
          <a:prstGeom prst="line">
            <a:avLst/>
          </a:prstGeom>
          <a:ln w="9525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13231" y="385876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F5B3C"/>
                </a:solidFill>
                <a:latin typeface="Microsoft YaHei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53311" y="384048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202B"/>
                </a:solidFill>
                <a:latin typeface="Microsoft YaHei"/>
              </a:rPr>
              <a:t>完成预热月并关闭阶段评审问题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353311" y="4361688"/>
            <a:ext cx="9573768" cy="0"/>
          </a:xfrm>
          <a:prstGeom prst="line">
            <a:avLst/>
          </a:prstGeom>
          <a:ln w="9525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13231" y="4453127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F5B3C"/>
                </a:solidFill>
                <a:latin typeface="Microsoft YaHe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53311" y="443484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202B"/>
                </a:solidFill>
                <a:latin typeface="Microsoft YaHei"/>
              </a:rPr>
              <a:t>完成活动前周并关闭阶段评审问题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353311" y="4956048"/>
            <a:ext cx="9573768" cy="0"/>
          </a:xfrm>
          <a:prstGeom prst="line">
            <a:avLst/>
          </a:prstGeom>
          <a:ln w="9525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13231" y="504748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F5B3C"/>
                </a:solidFill>
                <a:latin typeface="Microsoft YaHei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3311" y="502920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202B"/>
                </a:solidFill>
                <a:latin typeface="Microsoft YaHei"/>
              </a:rPr>
              <a:t>完成第一天并关闭阶段评审问题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353311" y="5550408"/>
            <a:ext cx="9573768" cy="0"/>
          </a:xfrm>
          <a:prstGeom prst="line">
            <a:avLst/>
          </a:prstGeom>
          <a:ln w="9525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13231" y="564184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F5B3C"/>
                </a:solidFill>
                <a:latin typeface="Microsoft YaHei"/>
              </a:rP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53311" y="562356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202B"/>
                </a:solidFill>
                <a:latin typeface="Microsoft YaHei"/>
              </a:rPr>
              <a:t>完成第二天并关闭阶段评审问题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6031" y="384048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8207" y="530352"/>
            <a:ext cx="384047" cy="38404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01399" y="5440680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384047" y="5715000"/>
            <a:ext cx="384047" cy="384048"/>
          </a:xfrm>
          <a:prstGeom prst="diamond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75487" y="274320"/>
            <a:ext cx="310895" cy="310896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80000">
            <a:off x="896111" y="246888"/>
            <a:ext cx="310895" cy="310896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19" y="274320"/>
            <a:ext cx="274319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202B"/>
                </a:solidFill>
                <a:latin typeface="Microsoft YaHei"/>
              </a:rPr>
              <a:t>交付计划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1" y="713232"/>
            <a:ext cx="1060703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202B"/>
                </a:solidFill>
                <a:latin typeface="Microsoft YaHei UI"/>
              </a:rPr>
              <a:t>工作包、责任人与时间窗口已经对齐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11 / 12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0079" y="1463040"/>
          <a:ext cx="10927079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8989"/>
                <a:gridCol w="2980112"/>
                <a:gridCol w="2648989"/>
                <a:gridCol w="2648989"/>
              </a:tblGrid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5E8"/>
                          </a:solidFill>
                          <a:latin typeface="Microsoft YaHei"/>
                        </a:rPr>
                        <a:t>工作包</a:t>
                      </a:r>
                    </a:p>
                  </a:txBody>
                  <a:tcPr marL="91440" marR="91440" marT="54864" marB="54864" anchor="ctr">
                    <a:solidFill>
                      <a:srgbClr val="EF5B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5E8"/>
                          </a:solidFill>
                          <a:latin typeface="Microsoft YaHei"/>
                        </a:rPr>
                        <a:t>核心交付</a:t>
                      </a:r>
                    </a:p>
                  </a:txBody>
                  <a:tcPr marL="91440" marR="91440" marT="54864" marB="54864" anchor="ctr">
                    <a:solidFill>
                      <a:srgbClr val="EF5B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5E8"/>
                          </a:solidFill>
                          <a:latin typeface="Microsoft YaHei"/>
                        </a:rPr>
                        <a:t>责任角色</a:t>
                      </a:r>
                    </a:p>
                  </a:txBody>
                  <a:tcPr marL="91440" marR="91440" marT="54864" marB="54864" anchor="ctr">
                    <a:solidFill>
                      <a:srgbClr val="EF5B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5E8"/>
                          </a:solidFill>
                          <a:latin typeface="Microsoft YaHei"/>
                        </a:rPr>
                        <a:t>完成窗口</a:t>
                      </a:r>
                    </a:p>
                  </a:txBody>
                  <a:tcPr marL="91440" marR="91440" marT="54864" marB="54864" anchor="ctr">
                    <a:solidFill>
                      <a:srgbClr val="EF5B3C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预热月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发布阵营和城市任务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T+2 周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活动前周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联动达人与本地商户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T+4 周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第一天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建立身份和探索感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T+6 周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第二天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推动共创与社交传播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T+8 周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第三天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形成高潮和城市记忆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T+10 周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6031" y="384048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8207" y="530352"/>
            <a:ext cx="384047" cy="38404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01399" y="5440680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384047" y="5715000"/>
            <a:ext cx="384047" cy="384048"/>
          </a:xfrm>
          <a:prstGeom prst="diamond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75487" y="274320"/>
            <a:ext cx="310895" cy="310896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80000">
            <a:off x="896111" y="246888"/>
            <a:ext cx="310895" cy="310896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19" y="274320"/>
            <a:ext cx="274319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202B"/>
                </a:solidFill>
                <a:latin typeface="Microsoft YaHei"/>
              </a:rPr>
              <a:t>导航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1" y="713232"/>
            <a:ext cx="1060703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202B"/>
                </a:solidFill>
                <a:latin typeface="Microsoft YaHei UI"/>
              </a:rPr>
              <a:t>本次汇报回答四个关键问题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12 /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7" y="1463040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EF5B3C"/>
                </a:solidFill>
                <a:latin typeface="Microsoft YaHei UI"/>
              </a:rPr>
              <a:t>01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08175" y="1865376"/>
            <a:ext cx="4325112" cy="0"/>
          </a:xfrm>
          <a:prstGeom prst="line">
            <a:avLst/>
          </a:prstGeom>
          <a:ln w="12700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408175" y="1444752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202B"/>
                </a:solidFill>
                <a:latin typeface="Microsoft YaHei"/>
              </a:rPr>
              <a:t>为什么现在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08175" y="1901952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D6470"/>
                </a:solidFill>
                <a:latin typeface="Microsoft YaHei"/>
              </a:rPr>
              <a:t>背景、变化和机会窗口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7" y="2587752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EF5B3C"/>
                </a:solidFill>
                <a:latin typeface="Microsoft YaHei UI"/>
              </a:rPr>
              <a:t>02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408175" y="2990088"/>
            <a:ext cx="4325112" cy="0"/>
          </a:xfrm>
          <a:prstGeom prst="line">
            <a:avLst/>
          </a:prstGeom>
          <a:ln w="12700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408175" y="2569464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202B"/>
                </a:solidFill>
                <a:latin typeface="Microsoft YaHei"/>
              </a:rPr>
              <a:t>事实说明什么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08175" y="3026664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D6470"/>
                </a:solidFill>
                <a:latin typeface="Microsoft YaHei"/>
              </a:rPr>
              <a:t>指标、证据和关键差异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1927" y="1463040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EF5B3C"/>
                </a:solidFill>
                <a:latin typeface="Microsoft YaHei UI"/>
              </a:rPr>
              <a:t>03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031735" y="1865376"/>
            <a:ext cx="4325112" cy="0"/>
          </a:xfrm>
          <a:prstGeom prst="line">
            <a:avLst/>
          </a:prstGeom>
          <a:ln w="12700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031735" y="1444752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202B"/>
                </a:solidFill>
                <a:latin typeface="Microsoft YaHei"/>
              </a:rPr>
              <a:t>应该如何选择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31735" y="1901952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D6470"/>
                </a:solidFill>
                <a:latin typeface="Microsoft YaHei"/>
              </a:rPr>
              <a:t>方案取舍和风险边界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1927" y="2587752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EF5B3C"/>
                </a:solidFill>
                <a:latin typeface="Microsoft YaHei UI"/>
              </a:rPr>
              <a:t>04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031735" y="2990088"/>
            <a:ext cx="4325112" cy="0"/>
          </a:xfrm>
          <a:prstGeom prst="line">
            <a:avLst/>
          </a:prstGeom>
          <a:ln w="12700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031735" y="2569464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202B"/>
                </a:solidFill>
                <a:latin typeface="Microsoft YaHei"/>
              </a:rPr>
              <a:t>怎样落地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31735" y="3026664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D6470"/>
                </a:solidFill>
                <a:latin typeface="Microsoft YaHei"/>
              </a:rPr>
              <a:t>路径、责任和验收标准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6031" y="384048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8207" y="530352"/>
            <a:ext cx="384047" cy="38404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01399" y="5440680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384047" y="5715000"/>
            <a:ext cx="384047" cy="384048"/>
          </a:xfrm>
          <a:prstGeom prst="diamond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66927" y="530352"/>
            <a:ext cx="868679" cy="868680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660000">
            <a:off x="9601199" y="749808"/>
            <a:ext cx="1142999" cy="1143000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599" y="2971800"/>
            <a:ext cx="2468879" cy="2468880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8719" y="1874519"/>
            <a:ext cx="6492239" cy="2514600"/>
          </a:xfrm>
          <a:prstGeom prst="rect">
            <a:avLst/>
          </a:prstGeom>
          <a:solidFill>
            <a:srgbClr val="FFFFFF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36191" y="2139696"/>
            <a:ext cx="5714999" cy="1325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7202B"/>
                </a:solidFill>
                <a:latin typeface="Microsoft YaHei UI"/>
              </a:rPr>
              <a:t>用四个可参与的城市游戏，把音乐节从观看活动变成共同创作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7" y="3657600"/>
            <a:ext cx="5623559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D6470"/>
                </a:solidFill>
                <a:latin typeface="Microsoft YaHei"/>
              </a:rPr>
              <a:t>下一步：确认责任人、启动首个阶段并按周复盘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7" y="6144768"/>
            <a:ext cx="50291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D6470"/>
                </a:solidFill>
                <a:latin typeface="Microsoft YaHei"/>
              </a:rPr>
              <a:t>孟菲斯创意  ·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夏日城市音乐节创意提案</dc:title>
  <dc:subject>由企业 AI 工作平台基于语义页面角色与自适应模板生成</dc:subject>
  <dc:creator/>
  <cp:keywords>template=memphis-studio;layout_family=premium;schema=presentation_spec.v2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