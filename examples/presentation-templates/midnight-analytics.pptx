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继续买量</c:v>
                </c:pt>
              </c:strCache>
            </c:strRef>
          </c:tx>
          <c:spPr>
            <a:solidFill>
              <a:srgbClr val="38C6D9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72.0</c:v>
                </c:pt>
                <c:pt idx="1">
                  <c:v>85.0</c:v>
                </c:pt>
                <c:pt idx="2">
                  <c:v>103.0</c:v>
                </c:pt>
                <c:pt idx="3">
                  <c:v>128.0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转向复购</c:v>
                </c:pt>
              </c:strCache>
            </c:strRef>
          </c:tx>
          <c:spPr>
            <a:solidFill>
              <a:srgbClr val="F2B84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68.0</c:v>
                </c:pt>
                <c:pt idx="1">
                  <c:v>76.0</c:v>
                </c:pt>
                <c:pt idx="2">
                  <c:v>91.0</c:v>
                </c:pt>
                <c:pt idx="3">
                  <c:v>109.0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2D3C4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635239" y="0"/>
            <a:ext cx="4553711" cy="6858000"/>
          </a:xfrm>
          <a:prstGeom prst="rect">
            <a:avLst/>
          </a:prstGeom>
          <a:solidFill>
            <a:srgbClr val="17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7" y="960120"/>
            <a:ext cx="28346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38C6D9"/>
                </a:solidFill>
                <a:latin typeface="Microsoft YaHei UI"/>
              </a:rPr>
              <a:t>42%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56447" y="1709928"/>
            <a:ext cx="292608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56447" y="2468880"/>
            <a:ext cx="28346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4F7FA"/>
                </a:solidFill>
                <a:latin typeface="Microsoft YaHei UI"/>
              </a:rPr>
              <a:t>18.6%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56447" y="3218688"/>
            <a:ext cx="292608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6447" y="3977639"/>
            <a:ext cx="28346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4F7FA"/>
                </a:solidFill>
                <a:latin typeface="Microsoft YaHei UI"/>
              </a:rPr>
              <a:t>06W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56447" y="4727448"/>
            <a:ext cx="292608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38C6D9"/>
                </a:solidFill>
                <a:latin typeface="Microsoft YaHei"/>
              </a:rPr>
              <a:t>午夜数据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" y="1783080"/>
            <a:ext cx="621791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4F7FA"/>
                </a:solidFill>
                <a:latin typeface="Microsoft YaHei UI"/>
              </a:rPr>
              <a:t>电商业务季度经营复盘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3" y="4078224"/>
            <a:ext cx="61264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5C3"/>
                </a:solidFill>
                <a:latin typeface="Microsoft YaHei"/>
              </a:rPr>
              <a:t>增长恢复，但获客效率和复购结构决定下一阶段质量（演示数据）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5C3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关键指标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C6D9"/>
                </a:solidFill>
                <a:latin typeface="Microsoft YaHei"/>
              </a:rPr>
              <a:t>收入增长已恢复，下一季度应把资源从低效投放转向复购和高毛利品类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01 / 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1" y="2020824"/>
            <a:ext cx="5532119" cy="4069080"/>
          </a:xfrm>
          <a:prstGeom prst="round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7" y="2679191"/>
            <a:ext cx="4846319" cy="1234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38C6D9"/>
                </a:solidFill>
                <a:latin typeface="Microsoft YaHei UI"/>
              </a:rPr>
              <a:t>4.86亿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19" y="4078224"/>
            <a:ext cx="470915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Microsoft YaHei"/>
              </a:rPr>
              <a:t>季度 GMV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" y="4791456"/>
            <a:ext cx="470915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5C3"/>
                </a:solidFill>
                <a:latin typeface="Microsoft YaHei"/>
              </a:rPr>
              <a:t>同比增长 28%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1" y="224942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7FA"/>
                </a:solidFill>
                <a:latin typeface="Microsoft YaHei UI"/>
              </a:rPr>
              <a:t>31.4%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79" y="229514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7FA"/>
                </a:solidFill>
                <a:latin typeface="Microsoft YaHei"/>
              </a:rPr>
              <a:t>综合毛利率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79" y="275234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5C3"/>
                </a:solidFill>
                <a:latin typeface="Microsoft YaHei"/>
              </a:rPr>
              <a:t>高毛利品类占比提升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56831" y="3319272"/>
            <a:ext cx="4517136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56831" y="360578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2B84B"/>
                </a:solidFill>
                <a:latin typeface="Microsoft YaHei UI"/>
              </a:rPr>
              <a:t>¥82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79" y="365150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7FA"/>
                </a:solidFill>
                <a:latin typeface="Microsoft YaHei"/>
              </a:rPr>
              <a:t>获客成本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79" y="410870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5C3"/>
                </a:solidFill>
                <a:latin typeface="Microsoft YaHei"/>
              </a:rPr>
              <a:t>较预算高 11 元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656831" y="4675632"/>
            <a:ext cx="4517136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656831" y="496214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7FA"/>
                </a:solidFill>
                <a:latin typeface="Microsoft YaHei UI"/>
              </a:rPr>
              <a:t>38%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79" y="500786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7FA"/>
                </a:solidFill>
                <a:latin typeface="Microsoft YaHei"/>
              </a:rPr>
              <a:t>90 天复购率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79" y="546506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5C3"/>
                </a:solidFill>
                <a:latin typeface="Microsoft YaHei"/>
              </a:rPr>
              <a:t>会员人群贡献主要增量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02 / 12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8C6D9"/>
                </a:solidFill>
                <a:latin typeface="Microsoft YaHei"/>
              </a:rPr>
              <a:t>核心洞察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Microsoft YaHei"/>
              </a:rPr>
              <a:t>收入与利润同步改善，但第四季度获客成本开始抬升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5C3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核心判断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Microsoft YaHei UI"/>
              </a:rPr>
              <a:t>收入增长已恢复，下一季度应把资源从低效投放转向复购和高毛利品类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03 / 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4F7FA"/>
                </a:solidFill>
                <a:latin typeface="Microsoft YaHei UI"/>
              </a:rPr>
              <a:t>收入增长已恢复，下一季度应把资源从低效投放转向复购和高毛利品类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8B5C3"/>
                </a:solidFill>
                <a:latin typeface="Microsoft YaHei"/>
              </a:rPr>
              <a:t>综合毛利率  ·  获客成本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关键抓手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04 / 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5" y="1463040"/>
            <a:ext cx="5381243" cy="2121408"/>
          </a:xfrm>
          <a:prstGeom prst="round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A"/>
                </a:solidFill>
                <a:latin typeface="Microsoft YaHei"/>
              </a:rPr>
              <a:t>会员复购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5C3"/>
                </a:solidFill>
                <a:latin typeface="Microsoft YaHei"/>
              </a:rPr>
              <a:t>用分层权益提升高价值用户复购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2491" y="1463040"/>
            <a:ext cx="5381243" cy="2121408"/>
          </a:xfrm>
          <a:prstGeom prst="round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A"/>
                </a:solidFill>
                <a:latin typeface="Microsoft YaHei"/>
              </a:rPr>
              <a:t>品类结构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5C3"/>
                </a:solidFill>
                <a:latin typeface="Microsoft YaHei"/>
              </a:rPr>
              <a:t>增加高毛利和高频品类曝光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5" y="3840479"/>
            <a:ext cx="5381243" cy="2121408"/>
          </a:xfrm>
          <a:prstGeom prst="round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A"/>
                </a:solidFill>
                <a:latin typeface="Microsoft YaHei"/>
              </a:rPr>
              <a:t>投放归因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5C3"/>
                </a:solidFill>
                <a:latin typeface="Microsoft YaHei"/>
              </a:rPr>
              <a:t>按增量转化而非末次点击评估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2491" y="3840479"/>
            <a:ext cx="5381243" cy="2121408"/>
          </a:xfrm>
          <a:prstGeom prst="round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A"/>
                </a:solidFill>
                <a:latin typeface="Microsoft YaHei"/>
              </a:rPr>
              <a:t>履约体验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5C3"/>
                </a:solidFill>
                <a:latin typeface="Microsoft YaHei"/>
              </a:rPr>
              <a:t>降低缺货和超时带来的流失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交付计划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05 / 12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989"/>
                <a:gridCol w="2980112"/>
                <a:gridCol w="2648989"/>
                <a:gridCol w="2648989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D1520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38C6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520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38C6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520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38C6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520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38C6D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第 1 月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重构渠道归因口径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第 2 月</a:t>
                      </a:r>
                    </a:p>
                  </a:txBody>
                  <a:tcPr marL="91440" marR="91440" marT="54864" marB="54864" anchor="ctr"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上线会员分层运营</a:t>
                      </a:r>
                    </a:p>
                  </a:txBody>
                  <a:tcPr marL="91440" marR="91440" marT="54864" marB="54864" anchor="ctr"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0D152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第 3 月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完成高毛利品类联动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第 4 月</a:t>
                      </a:r>
                    </a:p>
                  </a:txBody>
                  <a:tcPr marL="91440" marR="91440" marT="54864" marB="54864" anchor="ctr"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优化仓网和补货</a:t>
                      </a:r>
                    </a:p>
                  </a:txBody>
                  <a:tcPr marL="91440" marR="91440" marT="54864" marB="54864" anchor="ctr"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0D152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季度末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复盘增量利润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4F7FA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1723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路径选择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06 / 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1" y="1463040"/>
            <a:ext cx="5358383" cy="4462272"/>
          </a:xfrm>
          <a:prstGeom prst="round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8C6D9"/>
                </a:solidFill>
                <a:latin typeface="Microsoft YaHei"/>
              </a:rPr>
              <a:t>继续买量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C6D9"/>
                </a:solidFill>
                <a:latin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7FA"/>
                </a:solidFill>
                <a:latin typeface="Microsoft YaHei"/>
              </a:rPr>
              <a:t>规模增长快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C6D9"/>
                </a:solidFill>
                <a:latin typeface="Microsoft YaHe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7FA"/>
                </a:solidFill>
                <a:latin typeface="Microsoft YaHei"/>
              </a:rPr>
              <a:t>短期可见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C6D9"/>
                </a:solidFill>
                <a:latin typeface="Microsoft YaHe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7FA"/>
                </a:solidFill>
                <a:latin typeface="Microsoft YaHei"/>
              </a:rPr>
              <a:t>成本持续上升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C6D9"/>
                </a:solidFill>
                <a:latin typeface="Microsoft YaHe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7FA"/>
                </a:solidFill>
                <a:latin typeface="Microsoft YaHei"/>
              </a:rPr>
              <a:t>用户质量波动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1" y="1463040"/>
            <a:ext cx="5358383" cy="4462272"/>
          </a:xfrm>
          <a:prstGeom prst="round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2B84B"/>
                </a:solidFill>
                <a:latin typeface="Microsoft YaHei"/>
              </a:rPr>
              <a:t>转向复购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B84B"/>
                </a:solidFill>
                <a:latin typeface="Microsoft YaHe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7FA"/>
                </a:solidFill>
                <a:latin typeface="Microsoft YaHei"/>
              </a:rPr>
              <a:t>利润贡献更稳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B84B"/>
                </a:solidFill>
                <a:latin typeface="Microsoft YaHe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7FA"/>
                </a:solidFill>
                <a:latin typeface="Microsoft YaHei"/>
              </a:rPr>
              <a:t>数据资产沉淀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B84B"/>
                </a:solidFill>
                <a:latin typeface="Microsoft YaHe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7FA"/>
                </a:solidFill>
                <a:latin typeface="Microsoft YaHei"/>
              </a:rPr>
              <a:t>起效较慢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B84B"/>
                </a:solidFill>
                <a:latin typeface="Microsoft YaHe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7FA"/>
                </a:solidFill>
                <a:latin typeface="Microsoft YaHei"/>
              </a:rPr>
              <a:t>运营要求更高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实施路径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07 / 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38C6D9"/>
          </a:solidFill>
          <a:ln w="7315">
            <a:solidFill>
              <a:srgbClr val="38C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D1520"/>
                </a:solidFill>
                <a:latin typeface="Microsoft YaHe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7FA"/>
                </a:solidFill>
                <a:latin typeface="Microsoft YaHei"/>
              </a:rPr>
              <a:t>第 1 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5C3"/>
                </a:solidFill>
                <a:latin typeface="Microsoft YaHei"/>
              </a:rPr>
              <a:t>重构渠道归因口径</a:t>
            </a:r>
          </a:p>
        </p:txBody>
      </p:sp>
      <p:sp>
        <p:nvSpPr>
          <p:cNvPr id="37" name="Oval 36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172332"/>
          </a:solidFill>
          <a:ln w="7315">
            <a:solidFill>
              <a:srgbClr val="38C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7FA"/>
                </a:solidFill>
                <a:latin typeface="Microsoft YaHei"/>
              </a:rPr>
              <a:t>第 2 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5C3"/>
                </a:solidFill>
                <a:latin typeface="Microsoft YaHei"/>
              </a:rPr>
              <a:t>上线会员分层运营</a:t>
            </a:r>
          </a:p>
        </p:txBody>
      </p:sp>
      <p:sp>
        <p:nvSpPr>
          <p:cNvPr id="41" name="Oval 40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172332"/>
          </a:solidFill>
          <a:ln w="7315">
            <a:solidFill>
              <a:srgbClr val="38C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7FA"/>
                </a:solidFill>
                <a:latin typeface="Microsoft YaHei"/>
              </a:rPr>
              <a:t>第 3 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5C3"/>
                </a:solidFill>
                <a:latin typeface="Microsoft YaHei"/>
              </a:rPr>
              <a:t>完成高毛利品类联动</a:t>
            </a:r>
          </a:p>
        </p:txBody>
      </p:sp>
      <p:sp>
        <p:nvSpPr>
          <p:cNvPr id="45" name="Oval 44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172332"/>
          </a:solidFill>
          <a:ln w="7315">
            <a:solidFill>
              <a:srgbClr val="38C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7FA"/>
                </a:solidFill>
                <a:latin typeface="Microsoft YaHei"/>
              </a:rPr>
              <a:t>第 4 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5C3"/>
                </a:solidFill>
                <a:latin typeface="Microsoft YaHei"/>
              </a:rPr>
              <a:t>优化仓网和补货</a:t>
            </a:r>
          </a:p>
        </p:txBody>
      </p:sp>
      <p:sp>
        <p:nvSpPr>
          <p:cNvPr id="49" name="Oval 48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172332"/>
          </a:solidFill>
          <a:ln w="7315">
            <a:solidFill>
              <a:srgbClr val="38C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7FA"/>
                </a:solidFill>
                <a:latin typeface="Microsoft YaHei"/>
              </a:rPr>
              <a:t>季度末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5C3"/>
                </a:solidFill>
                <a:latin typeface="Microsoft YaHei"/>
              </a:rPr>
              <a:t>复盘增量利润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能力组合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08 / 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8C6D9"/>
                </a:solidFill>
                <a:latin typeface="Microsoft YaHei"/>
              </a:rPr>
              <a:t>业务侧负责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8C6D9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7FA"/>
                </a:solidFill>
                <a:latin typeface="Microsoft YaHei"/>
              </a:rPr>
              <a:t>会员复购：用分层权益提升高价值用户复购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8C6D9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7FA"/>
                </a:solidFill>
                <a:latin typeface="Microsoft YaHei"/>
              </a:rPr>
              <a:t>品类结构：增加高毛利和高频品类曝光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8C6D9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7FA"/>
                </a:solidFill>
                <a:latin typeface="Microsoft YaHei"/>
              </a:rPr>
              <a:t>投放归因：按增量转化而非末次点击评估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8C6D9"/>
                </a:solidFill>
                <a:latin typeface="Microsoft YaHe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7FA"/>
                </a:solidFill>
                <a:latin typeface="Microsoft YaHei"/>
              </a:rPr>
              <a:t>履约体验：降低缺货和超时带来的流失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B84B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B84B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7FA"/>
                </a:solidFill>
                <a:latin typeface="Microsoft YaHei"/>
              </a:rPr>
              <a:t>流量涨价：设置渠道边际回报线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B84B"/>
                </a:solidFill>
                <a:latin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7FA"/>
                </a:solidFill>
                <a:latin typeface="Microsoft YaHei"/>
              </a:rPr>
              <a:t>促销依赖：用会员权益替代普遍折扣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B84B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7FA"/>
                </a:solidFill>
                <a:latin typeface="Microsoft YaHei"/>
              </a:rPr>
              <a:t>库存错配：按城市和人群预测补货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B84B"/>
                </a:solidFill>
                <a:latin typeface="Microsoft YaHe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7FA"/>
                </a:solidFill>
                <a:latin typeface="Microsoft YaHei"/>
              </a:rPr>
              <a:t>口径争议：统一财务确认规则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风险管理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09 / 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流量涨价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5C3"/>
                </a:solidFill>
                <a:latin typeface="Microsoft YaHei"/>
              </a:rPr>
              <a:t>设置渠道边际回报线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7FA"/>
                </a:solidFill>
                <a:latin typeface="Microsoft YaHei"/>
              </a:rPr>
              <a:t>促销依赖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5C3"/>
                </a:solidFill>
                <a:latin typeface="Microsoft YaHei"/>
              </a:rPr>
              <a:t>用会员权益替代普遍折扣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7FA"/>
                </a:solidFill>
                <a:latin typeface="Microsoft YaHei"/>
              </a:rPr>
              <a:t>库存错配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5C3"/>
                </a:solidFill>
                <a:latin typeface="Microsoft YaHei"/>
              </a:rPr>
              <a:t>按城市和人群预测补货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172332"/>
          </a:solidFill>
          <a:ln w="7315">
            <a:solidFill>
              <a:srgbClr val="2D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口径争议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5C3"/>
                </a:solidFill>
                <a:latin typeface="Microsoft YaHei"/>
              </a:rPr>
              <a:t>统一财务确认规则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行动清单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10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Microsoft YaHei"/>
              </a:rPr>
              <a:t>确认会员复购的负责人、交付物和完成标准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Microsoft YaHei"/>
              </a:rPr>
              <a:t>确认品类结构的负责人、交付物和完成标准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Microsoft YaHei"/>
              </a:rPr>
              <a:t>确认投放归因的负责人、交付物和完成标准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Microsoft YaHei"/>
              </a:rPr>
              <a:t>确认履约体验的负责人、交付物和完成标准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Microsoft YaHei"/>
              </a:rPr>
              <a:t>完成第 1 月并关闭阶段评审问题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Microsoft YaHei"/>
              </a:rPr>
              <a:t>完成第 2 月并关闭阶段评审问题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Microsoft YaHei"/>
              </a:rPr>
              <a:t>完成第 3 月并关闭阶段评审问题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8C6D9"/>
                </a:solidFill>
                <a:latin typeface="Microsoft YaHei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Microsoft YaHei"/>
              </a:rPr>
              <a:t>完成第 4 月并关闭阶段评审问题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共同原则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11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38C6D9"/>
                </a:solidFill>
                <a:latin typeface="Microsoft YaHei UI"/>
              </a:rPr>
              <a:t>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没有利润质量的增长，只是把未来的压力提前确认。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38C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5C3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3" y="292608"/>
            <a:ext cx="73151" cy="5961888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256032"/>
            <a:ext cx="310895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C6D9"/>
                </a:solidFill>
                <a:latin typeface="Microsoft YaHei"/>
              </a:rPr>
              <a:t>导航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603504"/>
            <a:ext cx="99212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A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5C3"/>
                </a:solidFill>
                <a:latin typeface="Microsoft YaHei"/>
              </a:rPr>
              <a:t>12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8C6D9"/>
                </a:solidFill>
                <a:latin typeface="Microsoft YaHei UI"/>
              </a:rPr>
              <a:t>01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Microsoft YaHei"/>
              </a:rPr>
              <a:t>为什么现在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B5C3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8C6D9"/>
                </a:solidFill>
                <a:latin typeface="Microsoft YaHei UI"/>
              </a:rPr>
              <a:t>02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B5C3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8C6D9"/>
                </a:solidFill>
                <a:latin typeface="Microsoft YaHei UI"/>
              </a:rPr>
              <a:t>03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B5C3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8C6D9"/>
                </a:solidFill>
                <a:latin typeface="Microsoft YaHei UI"/>
              </a:rPr>
              <a:t>04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Microsoft YaHei"/>
              </a:rPr>
              <a:t>怎样落地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B5C3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635239" y="0"/>
            <a:ext cx="4553711" cy="6858000"/>
          </a:xfrm>
          <a:prstGeom prst="rect">
            <a:avLst/>
          </a:prstGeom>
          <a:solidFill>
            <a:srgbClr val="17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7" y="960120"/>
            <a:ext cx="28346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38C6D9"/>
                </a:solidFill>
                <a:latin typeface="Microsoft YaHei UI"/>
              </a:rPr>
              <a:t>42%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56447" y="1709928"/>
            <a:ext cx="292608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56447" y="2468880"/>
            <a:ext cx="28346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4F7FA"/>
                </a:solidFill>
                <a:latin typeface="Microsoft YaHei UI"/>
              </a:rPr>
              <a:t>18.6%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56447" y="3218688"/>
            <a:ext cx="292608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6447" y="3977639"/>
            <a:ext cx="28346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4F7FA"/>
                </a:solidFill>
                <a:latin typeface="Microsoft YaHei UI"/>
              </a:rPr>
              <a:t>06W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56447" y="4727448"/>
            <a:ext cx="2926080" cy="0"/>
          </a:xfrm>
          <a:prstGeom prst="line">
            <a:avLst/>
          </a:prstGeom>
          <a:ln w="12700">
            <a:solidFill>
              <a:srgbClr val="2D3C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7" y="1783080"/>
            <a:ext cx="621791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7FA"/>
                </a:solidFill>
                <a:latin typeface="Microsoft YaHei UI"/>
              </a:rPr>
              <a:t>收入增长已恢复，下一季度应把资源从低效投放转向复购和高毛利品类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3" y="4078224"/>
            <a:ext cx="612647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5C3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5C3"/>
                </a:solidFill>
                <a:latin typeface="Microsoft YaHei"/>
              </a:rPr>
              <a:t>午夜数据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电商业务季度经营复盘</dc:title>
  <dc:subject>由企业 AI 工作平台基于语义页面角色与自适应模板生成</dc:subject>
  <dc:creator/>
  <cp:keywords>template=midnight-analytics;layout_family=premium;schema=presentation_spec.v2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