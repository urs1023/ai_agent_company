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纯文本 RAG</c:v>
                </c:pt>
              </c:strCache>
            </c:strRef>
          </c:tx>
          <c:spPr>
            <a:solidFill>
              <a:srgbClr val="7B2937"/>
            </a:solidFill>
          </c:spPr>
          <c:cat>
            <c:strRef>
              <c:f>Sheet1!$A$2:$A$5</c:f>
              <c:strCache>
                <c:ptCount val="4"/>
                <c:pt idx="0">
                  <c:v>纯文本</c:v>
                </c:pt>
                <c:pt idx="1">
                  <c:v>OCR 增强</c:v>
                </c:pt>
                <c:pt idx="2">
                  <c:v>视觉模型</c:v>
                </c:pt>
                <c:pt idx="3">
                  <c:v>结构融合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63.0</c:v>
                </c:pt>
                <c:pt idx="1">
                  <c:v>69.0</c:v>
                </c:pt>
                <c:pt idx="2">
                  <c:v>78.0</c:v>
                </c:pt>
                <c:pt idx="3">
                  <c:v>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多模态 RAG</c:v>
                </c:pt>
              </c:strCache>
            </c:strRef>
          </c:tx>
          <c:spPr>
            <a:solidFill>
              <a:srgbClr val="244B63"/>
            </a:solidFill>
          </c:spPr>
          <c:cat>
            <c:strRef>
              <c:f>Sheet1!$A$2:$A$5</c:f>
              <c:strCache>
                <c:ptCount val="4"/>
                <c:pt idx="0">
                  <c:v>纯文本</c:v>
                </c:pt>
                <c:pt idx="1">
                  <c:v>OCR 增强</c:v>
                </c:pt>
                <c:pt idx="2">
                  <c:v>视觉模型</c:v>
                </c:pt>
                <c:pt idx="3">
                  <c:v>结构融合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58.0</c:v>
                </c:pt>
                <c:pt idx="1">
                  <c:v>65.0</c:v>
                </c:pt>
                <c:pt idx="2">
                  <c:v>74.0</c:v>
                </c:pt>
                <c:pt idx="3">
                  <c:v>82.0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9D4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" y="1078992"/>
            <a:ext cx="10634472" cy="0"/>
          </a:xfrm>
          <a:prstGeom prst="line">
            <a:avLst/>
          </a:prstGeom>
          <a:ln w="254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" y="5413248"/>
            <a:ext cx="1063447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59" y="658368"/>
            <a:ext cx="36575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RESEARCH NOTE · VOL.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3" y="1389888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B2937"/>
                </a:solidFill>
                <a:latin typeface="Microsoft YaHei"/>
              </a:rPr>
              <a:t>学术酒红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" y="1947672"/>
            <a:ext cx="99669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222222"/>
                </a:solidFill>
                <a:latin typeface="SimSun"/>
              </a:rPr>
              <a:t>多模态文档理解研究答辩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" y="4069080"/>
            <a:ext cx="832103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625F"/>
                </a:solidFill>
                <a:latin typeface="Microsoft YaHei"/>
              </a:rPr>
              <a:t>研究问题、方法、实验结果、局限与下一步（演示研究）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导航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本次汇报回答四个关键问题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B2937"/>
                </a:solidFill>
                <a:latin typeface="SimSun"/>
              </a:rPr>
              <a:t>01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为什么现在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B2937"/>
                </a:solidFill>
                <a:latin typeface="SimSun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B2937"/>
                </a:solidFill>
                <a:latin typeface="SimSun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B2937"/>
                </a:solidFill>
                <a:latin typeface="SimSun"/>
              </a:rPr>
              <a:t>04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怎样落地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交付计划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工作包、责任人与时间窗口已经对齐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02 / 12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79" y="1463040"/>
          <a:ext cx="109270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39"/>
                <a:gridCol w="3642359"/>
                <a:gridCol w="2428239"/>
                <a:gridCol w="242823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8F6F2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7B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8F6F2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7B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8F6F2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7B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8F6F2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7B293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问题定义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确定跨模态文档问答边界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数据构建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标注页面结构与证据位置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模型设计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融合结构、视觉与语言表示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实验评测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比较基线和消融设置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8F6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部署验证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在真实企业文档中试用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数据表明差异集中在少数关键维度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03 / 12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2937"/>
                </a:solidFill>
                <a:latin typeface="Microsoft YaHei"/>
              </a:rPr>
              <a:t>核心洞察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22222"/>
                </a:solidFill>
                <a:latin typeface="Microsoft YaHei"/>
              </a:rPr>
              <a:t>结构融合在图表与复杂版式任务上持续领先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核心判断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结构感知与视觉推理结合能显著提升复杂文档问答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04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7B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22222"/>
                </a:solidFill>
                <a:latin typeface="SimSun"/>
              </a:rPr>
              <a:t>结构感知与视觉推理结合能显著提升复杂文档问答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6625F"/>
                </a:solidFill>
                <a:latin typeface="Microsoft YaHei"/>
              </a:rPr>
              <a:t>图表问题提升  ·  平均延迟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四项指标界定当前状态与决策空间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B2937"/>
                </a:solidFill>
                <a:latin typeface="Microsoft YaHei"/>
              </a:rPr>
              <a:t>结构感知与视觉推理结合能显著提升复杂文档问答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05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B2937"/>
                </a:solidFill>
                <a:latin typeface="SimSun"/>
              </a:rPr>
              <a:t>84.7%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Microsoft YaHei"/>
              </a:rPr>
              <a:t>综合准确率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跨 PDF、表格和演示文稿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5273" y="2203704"/>
            <a:ext cx="0" cy="324612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3644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22222"/>
                </a:solidFill>
                <a:latin typeface="SimSun"/>
              </a:rPr>
              <a:t>+12.4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472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Microsoft YaHei"/>
              </a:rPr>
              <a:t>图表问题提升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472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相对纯文本基线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67043" y="2203704"/>
            <a:ext cx="0" cy="324612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6821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22222"/>
                </a:solidFill>
                <a:latin typeface="SimSun"/>
              </a:rPr>
              <a:t>1.8秒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49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Microsoft YaHei"/>
              </a:rPr>
              <a:t>平均延迟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49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单页视觉分析与检索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8813" y="2203704"/>
            <a:ext cx="0" cy="324612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9998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22222"/>
                </a:solidFill>
                <a:latin typeface="SimSun"/>
              </a:rPr>
              <a:t>12,600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826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Microsoft YaHei"/>
              </a:rPr>
              <a:t>评测样本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826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25F"/>
                </a:solidFill>
                <a:latin typeface="Microsoft YaHei"/>
              </a:rPr>
              <a:t>覆盖六类企业文档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能力组合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业务结果与能力建设必须同步发生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06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7B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2937"/>
                </a:solidFill>
                <a:latin typeface="Microsoft YaHei"/>
              </a:rPr>
              <a:t>业务侧负责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B2937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结构解析：识别页面层级、阅读顺序和区域关系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B2937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视觉编码：提取图像、图表和版式特征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B2937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证据检索：联合文本与视觉片段定位答案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B2937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可追溯生成：输出答案及页面级证据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24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4B63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4B63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数据偏差：覆盖多行业和多版式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4B63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视觉噪声：加入质量筛选与置信度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4B63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成本上升：按问题路由视觉模型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4B63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证据错配：增加页面和对象级校验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路径选择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两种路径的价值与代价必须同时看清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07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3" y="1463040"/>
            <a:ext cx="0" cy="4434839"/>
          </a:xfrm>
          <a:prstGeom prst="line">
            <a:avLst/>
          </a:prstGeom>
          <a:ln w="1905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7B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B2937"/>
                </a:solidFill>
                <a:latin typeface="Microsoft YaHei"/>
              </a:rPr>
              <a:t>纯文本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B2937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成本低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B2937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实现成熟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B2937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丢失图表信息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B2937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阅读顺序不稳定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24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4B63"/>
                </a:solidFill>
                <a:latin typeface="Microsoft YaHei"/>
              </a:rPr>
              <a:t>多模态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B63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证据更完整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B63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图表理解更强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B63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计算成本高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B63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评测更复杂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共同原则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团队需要坚持一条简单原则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08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7B2937"/>
                </a:solidFill>
                <a:latin typeface="SimSun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复杂文档不是文字容器，而是由空间关系组织起来的证据系统。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25F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关键抓手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09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形成结果需要同时推进四个抓手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09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41247" y="2176272"/>
            <a:ext cx="4869180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Microsoft YaHei"/>
              </a:rPr>
              <a:t>结构解析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25F"/>
                </a:solidFill>
                <a:latin typeface="Microsoft YaHei"/>
              </a:rPr>
              <a:t>识别页面层级、阅读顺序和区域关系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478523" y="2176272"/>
            <a:ext cx="4869180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Microsoft YaHei"/>
              </a:rPr>
              <a:t>视觉编码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25F"/>
                </a:solidFill>
                <a:latin typeface="Microsoft YaHei"/>
              </a:rPr>
              <a:t>提取图像、图表和版式特征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41247" y="4553712"/>
            <a:ext cx="4869180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Microsoft YaHei"/>
              </a:rPr>
              <a:t>证据检索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25F"/>
                </a:solidFill>
                <a:latin typeface="Microsoft YaHei"/>
              </a:rPr>
              <a:t>联合文本与视觉片段定位答案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478523" y="4553712"/>
            <a:ext cx="4869180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Microsoft YaHei"/>
              </a:rPr>
              <a:t>可追溯生成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25F"/>
                </a:solidFill>
                <a:latin typeface="Microsoft YaHei"/>
              </a:rPr>
              <a:t>输出答案及页面级证据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风险管理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四类风险均已设置前置缓释动作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10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数据偏差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25F"/>
                </a:solidFill>
                <a:latin typeface="Microsoft YaHei"/>
              </a:rPr>
              <a:t>覆盖多行业和多版式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Microsoft YaHei"/>
              </a:rPr>
              <a:t>视觉噪声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25F"/>
                </a:solidFill>
                <a:latin typeface="Microsoft YaHei"/>
              </a:rPr>
              <a:t>加入质量筛选与置信度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Microsoft YaHei"/>
              </a:rPr>
              <a:t>成本上升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25F"/>
                </a:solidFill>
                <a:latin typeface="Microsoft YaHei"/>
              </a:rPr>
              <a:t>按问题路由视觉模型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证据错配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25F"/>
                </a:solidFill>
                <a:latin typeface="Microsoft YaHei"/>
              </a:rPr>
              <a:t>增加页面和对象级校验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实施路径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五个阶段把方向转化为可验收成果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11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7B2937"/>
          </a:solidFill>
          <a:ln w="7315">
            <a:solidFill>
              <a:srgbClr val="7B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8F6F2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问题定义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确定跨模态文档问答边界</a:t>
            </a:r>
          </a:p>
        </p:txBody>
      </p:sp>
      <p:sp>
        <p:nvSpPr>
          <p:cNvPr id="25" name="Oval 24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7B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2937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数据构建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标注页面结构与证据位置</a:t>
            </a:r>
          </a:p>
        </p:txBody>
      </p:sp>
      <p:sp>
        <p:nvSpPr>
          <p:cNvPr id="29" name="Oval 28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7B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2937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模型设计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融合结构、视觉与语言表示</a:t>
            </a:r>
          </a:p>
        </p:txBody>
      </p:sp>
      <p:sp>
        <p:nvSpPr>
          <p:cNvPr id="33" name="Oval 32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7B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2937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实验评测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比较基线和消融设置</a:t>
            </a:r>
          </a:p>
        </p:txBody>
      </p:sp>
      <p:sp>
        <p:nvSpPr>
          <p:cNvPr id="37" name="Oval 36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7B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2937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部署验证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25F"/>
                </a:solidFill>
                <a:latin typeface="Microsoft YaHei"/>
              </a:rPr>
              <a:t>在真实企业文档中试用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5" y="237744"/>
            <a:ext cx="384047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80">
                <a:solidFill>
                  <a:srgbClr val="7B2937"/>
                </a:solidFill>
                <a:latin typeface="Microsoft YaHei"/>
              </a:rPr>
              <a:t>RESEARCH / 行动清单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59" y="219456"/>
            <a:ext cx="822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" y="566928"/>
            <a:ext cx="10936224" cy="0"/>
          </a:xfrm>
          <a:prstGeom prst="line">
            <a:avLst/>
          </a:prstGeom>
          <a:ln w="1905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5" y="80467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SimSun"/>
              </a:rPr>
              <a:t>未来八周的行动已拆解到责任和验收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25F"/>
                </a:solidFill>
                <a:latin typeface="Microsoft YaHei"/>
              </a:rPr>
              <a:t>12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确认结构解析的负责人、交付物和完成标准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确认视觉编码的负责人、交付物和完成标准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确认证据检索的负责人、交付物和完成标准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确认可追溯生成的负责人、交付物和完成标准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完成问题定义并关闭阶段评审问题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完成数据构建并关闭阶段评审问题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完成模型设计并关闭阶段评审问题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B2937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完成实验评测并关闭阶段评审问题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44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" y="1078992"/>
            <a:ext cx="10634472" cy="0"/>
          </a:xfrm>
          <a:prstGeom prst="line">
            <a:avLst/>
          </a:prstGeom>
          <a:ln w="25400">
            <a:solidFill>
              <a:srgbClr val="7B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" y="5413248"/>
            <a:ext cx="10634472" cy="0"/>
          </a:xfrm>
          <a:prstGeom prst="line">
            <a:avLst/>
          </a:prstGeom>
          <a:ln w="12700">
            <a:solidFill>
              <a:srgbClr val="D9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59" y="658368"/>
            <a:ext cx="36575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25F"/>
                </a:solidFill>
                <a:latin typeface="Microsoft YaHei"/>
              </a:rPr>
              <a:t>RESEARCH NOTE · VOL.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" y="1947672"/>
            <a:ext cx="99669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22222"/>
                </a:solidFill>
                <a:latin typeface="SimSun"/>
              </a:rPr>
              <a:t>结构感知与视觉推理结合能显著提升复杂文档问答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" y="4069080"/>
            <a:ext cx="83210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625F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625F"/>
                </a:solidFill>
                <a:latin typeface="Microsoft YaHei"/>
              </a:rPr>
              <a:t>学术酒红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多模态文档理解研究答辩</dc:title>
  <dc:subject>由企业 AI 工作平台基于语义页面角色与自适应模板生成</dc:subject>
  <dc:creator/>
  <cp:keywords>template=academic-burgundy;layout_family=premium;schema=presentation_spec.v2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