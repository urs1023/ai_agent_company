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集中数仓</c:v>
                </c:pt>
              </c:strCache>
            </c:strRef>
          </c:tx>
          <c:spPr>
            <a:solidFill>
              <a:srgbClr val="78C7FF"/>
            </a:solidFill>
          </c:spPr>
          <c:cat>
            <c:strRef>
              <c:f>Sheet1!$A$2:$A$5</c:f>
              <c:strCache>
                <c:ptCount val="4"/>
                <c:pt idx="0">
                  <c:v>采集</c:v>
                </c:pt>
                <c:pt idx="1">
                  <c:v>计算</c:v>
                </c:pt>
                <c:pt idx="2">
                  <c:v>存储</c:v>
                </c:pt>
                <c:pt idx="3">
                  <c:v>服务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68.0</c:v>
                </c:pt>
                <c:pt idx="1">
                  <c:v>84.0</c:v>
                </c:pt>
                <c:pt idx="2">
                  <c:v>73.0</c:v>
                </c:pt>
                <c:pt idx="3">
                  <c:v>91.0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领域数据产品</c:v>
                </c:pt>
              </c:strCache>
            </c:strRef>
          </c:tx>
          <c:spPr>
            <a:solidFill>
              <a:srgbClr val="F4C14E"/>
            </a:solidFill>
          </c:spPr>
          <c:cat>
            <c:strRef>
              <c:f>Sheet1!$A$2:$A$5</c:f>
              <c:strCache>
                <c:ptCount val="4"/>
                <c:pt idx="0">
                  <c:v>采集</c:v>
                </c:pt>
                <c:pt idx="1">
                  <c:v>计算</c:v>
                </c:pt>
                <c:pt idx="2">
                  <c:v>存储</c:v>
                </c:pt>
                <c:pt idx="3">
                  <c:v>服务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51.0</c:v>
                </c:pt>
                <c:pt idx="1">
                  <c:v>62.0</c:v>
                </c:pt>
                <c:pt idx="2">
                  <c:v>66.0</c:v>
                </c:pt>
                <c:pt idx="3">
                  <c:v>58.0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>
          <c:spPr>
            <a:ln>
              <a:solidFill>
                <a:srgbClr val="2F6D9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583679" y="3520440"/>
            <a:ext cx="1737360" cy="960120"/>
          </a:xfrm>
          <a:prstGeom prst="line">
            <a:avLst/>
          </a:prstGeom>
          <a:ln w="1778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321039" y="3520440"/>
            <a:ext cx="1874520" cy="960120"/>
          </a:xfrm>
          <a:prstGeom prst="line">
            <a:avLst/>
          </a:prstGeom>
          <a:ln w="1778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583679" y="4480560"/>
            <a:ext cx="1737360" cy="960120"/>
          </a:xfrm>
          <a:prstGeom prst="line">
            <a:avLst/>
          </a:prstGeom>
          <a:ln w="1778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321039" y="4480560"/>
            <a:ext cx="1874520" cy="960120"/>
          </a:xfrm>
          <a:prstGeom prst="line">
            <a:avLst/>
          </a:prstGeom>
          <a:ln w="1778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21039" y="3520440"/>
            <a:ext cx="0" cy="1920240"/>
          </a:xfrm>
          <a:prstGeom prst="line">
            <a:avLst/>
          </a:prstGeom>
          <a:ln w="1778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9829799" y="530352"/>
            <a:ext cx="1536191" cy="658368"/>
          </a:xfrm>
          <a:prstGeom prst="rect">
            <a:avLst/>
          </a:prstGeom>
          <a:solidFill>
            <a:srgbClr val="0B365B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85247" y="722376"/>
            <a:ext cx="1225295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8C7FF"/>
                </a:solidFill>
                <a:latin typeface="Microsoft YaHei"/>
              </a:rPr>
              <a:t>SCALE 1:50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3" y="1353312"/>
            <a:ext cx="47548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140">
                <a:solidFill>
                  <a:srgbClr val="78C7FF"/>
                </a:solidFill>
                <a:latin typeface="Microsoft YaHei"/>
              </a:rPr>
              <a:t>工程蓝图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" y="1901952"/>
            <a:ext cx="6949439" cy="187451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AF5FF"/>
                </a:solidFill>
                <a:latin typeface="Consolas"/>
              </a:rPr>
              <a:t>统一数据平台架构评审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3" y="4078224"/>
            <a:ext cx="676655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D0EC"/>
                </a:solidFill>
                <a:latin typeface="Microsoft YaHei"/>
              </a:rPr>
              <a:t>从数据接入、治理、服务到安全的技术决策记录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8D0EC"/>
                </a:solidFill>
                <a:latin typeface="Microsoft YaHei"/>
              </a:rPr>
              <a:t>企业 AI 工作平台 · 高质量模板库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核心判断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SYS-01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AF5FF"/>
                </a:solidFill>
                <a:latin typeface="Consolas"/>
              </a:rPr>
              <a:t>采用湖仓一体与领域数据产品，分阶段替换现有烟囱式链路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01 /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5" y="1828800"/>
            <a:ext cx="100583" cy="3429000"/>
          </a:xfrm>
          <a:prstGeom prst="rect">
            <a:avLst/>
          </a:prstGeom>
          <a:solidFill>
            <a:srgbClr val="78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19" y="1874519"/>
            <a:ext cx="9601199" cy="2286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EAF5FF"/>
                </a:solidFill>
                <a:latin typeface="Consolas"/>
              </a:rPr>
              <a:t>采用湖仓一体与领域数据产品，分阶段替换现有烟囱式链路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1" y="4553712"/>
            <a:ext cx="8778239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A8D0EC"/>
                </a:solidFill>
                <a:latin typeface="Microsoft YaHei"/>
              </a:rPr>
              <a:t>增量处理  ·  服务目标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能力组合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SYS-02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AF5FF"/>
                </a:solidFill>
                <a:latin typeface="Consolas"/>
              </a:rPr>
              <a:t>业务结果与能力建设必须同步发生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02 /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1" y="1572768"/>
            <a:ext cx="5230367" cy="73152"/>
          </a:xfrm>
          <a:prstGeom prst="rect">
            <a:avLst/>
          </a:prstGeom>
          <a:solidFill>
            <a:srgbClr val="78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1" y="1792224"/>
            <a:ext cx="5047487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8C7FF"/>
                </a:solidFill>
                <a:latin typeface="Microsoft YaHei"/>
              </a:rPr>
              <a:t>业务侧负责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79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8C7FF"/>
                </a:solidFill>
                <a:latin typeface="Microsoft YaHei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3" y="2414016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AF5FF"/>
                </a:solidFill>
                <a:latin typeface="Microsoft YaHei"/>
              </a:rPr>
              <a:t>统一接入：批流一体采集并保留变更轨迹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79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8C7FF"/>
                </a:solidFill>
                <a:latin typeface="Microsoft YaHei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3" y="3163824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AF5FF"/>
                </a:solidFill>
                <a:latin typeface="Microsoft YaHei"/>
              </a:rPr>
              <a:t>领域建模：按业务语义建设数据产品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79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8C7FF"/>
                </a:solidFill>
                <a:latin typeface="Microsoft YaHei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3" y="3913632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AF5FF"/>
                </a:solidFill>
                <a:latin typeface="Microsoft YaHei"/>
              </a:rPr>
              <a:t>服务复用：通过指标和数据 API 对外提供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79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8C7FF"/>
                </a:solidFill>
                <a:latin typeface="Microsoft YaHei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3" y="4663440"/>
            <a:ext cx="4700015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AF5FF"/>
                </a:solidFill>
                <a:latin typeface="Microsoft YaHei"/>
              </a:rPr>
              <a:t>安全治理：分类分级、血缘和审计贯穿全程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36207" y="1572768"/>
            <a:ext cx="5303519" cy="73152"/>
          </a:xfrm>
          <a:prstGeom prst="rect">
            <a:avLst/>
          </a:prstGeom>
          <a:solidFill>
            <a:srgbClr val="F4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36207" y="1792224"/>
            <a:ext cx="51206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4C14E"/>
                </a:solidFill>
                <a:latin typeface="Microsoft YaHei"/>
              </a:rPr>
              <a:t>平台与职能侧负责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54495" y="2505456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C14E"/>
                </a:solidFill>
                <a:latin typeface="Microsoft YaHei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79" y="2414016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AF5FF"/>
                </a:solidFill>
                <a:latin typeface="Microsoft YaHei"/>
              </a:rPr>
              <a:t>迁移中断：采用双跑和回退方案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54495" y="3255264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C14E"/>
                </a:solidFill>
                <a:latin typeface="Microsoft YaHei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79" y="3163824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AF5FF"/>
                </a:solidFill>
                <a:latin typeface="Microsoft YaHei"/>
              </a:rPr>
              <a:t>口径漂移：建立指标评审委员会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54495" y="4005072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C14E"/>
                </a:solidFill>
                <a:latin typeface="Microsoft YaHei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79" y="3913632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AF5FF"/>
                </a:solidFill>
                <a:latin typeface="Microsoft YaHei"/>
              </a:rPr>
              <a:t>性能波动：关键链路容量压测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54495" y="4754880"/>
            <a:ext cx="256031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C14E"/>
                </a:solidFill>
                <a:latin typeface="Microsoft YaHei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79" y="4663440"/>
            <a:ext cx="4773167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EAF5FF"/>
                </a:solidFill>
                <a:latin typeface="Microsoft YaHei"/>
              </a:rPr>
              <a:t>权限复杂：统一身份与策略中心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风险管理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SYS-03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AF5FF"/>
                </a:solidFill>
                <a:latin typeface="Consolas"/>
              </a:rPr>
              <a:t>四类风险均已设置前置缓释动作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03 /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7" y="1463040"/>
            <a:ext cx="5230367" cy="1938528"/>
          </a:xfrm>
          <a:prstGeom prst="rect">
            <a:avLst/>
          </a:prstGeom>
          <a:solidFill>
            <a:srgbClr val="124A77"/>
          </a:solidFill>
          <a:ln w="7315">
            <a:solidFill>
              <a:srgbClr val="2F6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3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8C7FF"/>
                </a:solidFill>
                <a:latin typeface="Microsoft YaHei"/>
              </a:rPr>
              <a:t>迁移中断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3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D0EC"/>
                </a:solidFill>
                <a:latin typeface="Microsoft YaHei"/>
              </a:rPr>
              <a:t>采用双跑和回退方案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44767" y="1463040"/>
            <a:ext cx="5230367" cy="1938528"/>
          </a:xfrm>
          <a:prstGeom prst="rect">
            <a:avLst/>
          </a:prstGeom>
          <a:solidFill>
            <a:srgbClr val="124A77"/>
          </a:solidFill>
          <a:ln w="7315">
            <a:solidFill>
              <a:srgbClr val="2F6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799" y="1700784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AF5FF"/>
                </a:solidFill>
                <a:latin typeface="Microsoft YaHei"/>
              </a:rPr>
              <a:t>口径漂移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799" y="2249424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D0EC"/>
                </a:solidFill>
                <a:latin typeface="Microsoft YaHei"/>
              </a:rPr>
              <a:t>建立指标评审委员会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7" y="3675887"/>
            <a:ext cx="5230367" cy="1938528"/>
          </a:xfrm>
          <a:prstGeom prst="rect">
            <a:avLst/>
          </a:prstGeom>
          <a:solidFill>
            <a:srgbClr val="124A77"/>
          </a:solidFill>
          <a:ln w="7315">
            <a:solidFill>
              <a:srgbClr val="2F6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3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AF5FF"/>
                </a:solidFill>
                <a:latin typeface="Microsoft YaHei"/>
              </a:rPr>
              <a:t>性能波动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3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D0EC"/>
                </a:solidFill>
                <a:latin typeface="Microsoft YaHei"/>
              </a:rPr>
              <a:t>关键链路容量压测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44767" y="3675887"/>
            <a:ext cx="5230367" cy="1938528"/>
          </a:xfrm>
          <a:prstGeom prst="rect">
            <a:avLst/>
          </a:prstGeom>
          <a:solidFill>
            <a:srgbClr val="124A77"/>
          </a:solidFill>
          <a:ln w="7315">
            <a:solidFill>
              <a:srgbClr val="2F6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799" y="3913631"/>
            <a:ext cx="46177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8C7FF"/>
                </a:solidFill>
                <a:latin typeface="Microsoft YaHei"/>
              </a:rPr>
              <a:t>权限复杂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799" y="4462272"/>
            <a:ext cx="4617719" cy="8412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A8D0EC"/>
                </a:solidFill>
                <a:latin typeface="Microsoft YaHei"/>
              </a:rPr>
              <a:t>统一身份与策略中心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实施路径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SYS-04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AF5FF"/>
                </a:solidFill>
                <a:latin typeface="Consolas"/>
              </a:rPr>
              <a:t>五个阶段把方向转化为可验收成果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04 / 12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32687" y="2962656"/>
            <a:ext cx="10177272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777239" y="2807208"/>
            <a:ext cx="310895" cy="310896"/>
          </a:xfrm>
          <a:prstGeom prst="ellipse">
            <a:avLst/>
          </a:prstGeom>
          <a:solidFill>
            <a:srgbClr val="78C7FF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932687" y="2596896"/>
            <a:ext cx="0" cy="731520"/>
          </a:xfrm>
          <a:prstGeom prst="line">
            <a:avLst/>
          </a:prstGeom>
          <a:ln w="1016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68095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65B"/>
                </a:solidFill>
                <a:latin typeface="Microsoft YaHe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5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5FF"/>
                </a:solidFill>
                <a:latin typeface="Microsoft YaHei"/>
              </a:rPr>
              <a:t>基线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39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盘点链路与服务等级</a:t>
            </a:r>
          </a:p>
        </p:txBody>
      </p:sp>
      <p:sp>
        <p:nvSpPr>
          <p:cNvPr id="51" name="Oval 50"/>
          <p:cNvSpPr/>
          <p:nvPr/>
        </p:nvSpPr>
        <p:spPr>
          <a:xfrm>
            <a:off x="3321557" y="2807208"/>
            <a:ext cx="310895" cy="310896"/>
          </a:xfrm>
          <a:prstGeom prst="ellipse">
            <a:avLst/>
          </a:prstGeom>
          <a:solidFill>
            <a:srgbClr val="124A77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477005" y="2596896"/>
            <a:ext cx="0" cy="731520"/>
          </a:xfrm>
          <a:prstGeom prst="line">
            <a:avLst/>
          </a:prstGeom>
          <a:ln w="1016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312413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72333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5FF"/>
                </a:solidFill>
                <a:latin typeface="Microsoft YaHei"/>
              </a:rPr>
              <a:t>底座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35757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部署存储计算与元数据</a:t>
            </a:r>
          </a:p>
        </p:txBody>
      </p:sp>
      <p:sp>
        <p:nvSpPr>
          <p:cNvPr id="56" name="Oval 55"/>
          <p:cNvSpPr/>
          <p:nvPr/>
        </p:nvSpPr>
        <p:spPr>
          <a:xfrm>
            <a:off x="5865875" y="2807208"/>
            <a:ext cx="310895" cy="310896"/>
          </a:xfrm>
          <a:prstGeom prst="ellipse">
            <a:avLst/>
          </a:prstGeom>
          <a:solidFill>
            <a:srgbClr val="124A77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6021323" y="2596896"/>
            <a:ext cx="0" cy="731520"/>
          </a:xfrm>
          <a:prstGeom prst="line">
            <a:avLst/>
          </a:prstGeom>
          <a:ln w="1016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856731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6651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5FF"/>
                </a:solidFill>
                <a:latin typeface="Microsoft YaHei"/>
              </a:rPr>
              <a:t>迁移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80075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优先迁移高价值主题域</a:t>
            </a:r>
          </a:p>
        </p:txBody>
      </p:sp>
      <p:sp>
        <p:nvSpPr>
          <p:cNvPr id="61" name="Oval 60"/>
          <p:cNvSpPr/>
          <p:nvPr/>
        </p:nvSpPr>
        <p:spPr>
          <a:xfrm>
            <a:off x="8410193" y="2807208"/>
            <a:ext cx="310895" cy="310896"/>
          </a:xfrm>
          <a:prstGeom prst="ellipse">
            <a:avLst/>
          </a:prstGeom>
          <a:solidFill>
            <a:srgbClr val="124A77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8565641" y="2596896"/>
            <a:ext cx="0" cy="731520"/>
          </a:xfrm>
          <a:prstGeom prst="line">
            <a:avLst/>
          </a:prstGeom>
          <a:ln w="1016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401049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60969" y="3346704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5FF"/>
                </a:solidFill>
                <a:latin typeface="Microsoft YaHei"/>
              </a:rPr>
              <a:t>服务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24393" y="3895344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发布指标和数据产品</a:t>
            </a:r>
          </a:p>
        </p:txBody>
      </p:sp>
      <p:sp>
        <p:nvSpPr>
          <p:cNvPr id="66" name="Oval 65"/>
          <p:cNvSpPr/>
          <p:nvPr/>
        </p:nvSpPr>
        <p:spPr>
          <a:xfrm>
            <a:off x="10954511" y="2807208"/>
            <a:ext cx="310895" cy="310896"/>
          </a:xfrm>
          <a:prstGeom prst="ellipse">
            <a:avLst/>
          </a:prstGeom>
          <a:solidFill>
            <a:srgbClr val="124A77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1109959" y="2596896"/>
            <a:ext cx="0" cy="731520"/>
          </a:xfrm>
          <a:prstGeom prst="line">
            <a:avLst/>
          </a:prstGeom>
          <a:ln w="1016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0945367" y="2816352"/>
            <a:ext cx="329183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05287" y="2048256"/>
            <a:ext cx="1609343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AF5FF"/>
                </a:solidFill>
                <a:latin typeface="Microsoft YaHei"/>
              </a:rPr>
              <a:t>退役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68711" y="1463040"/>
            <a:ext cx="168249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关闭重复链路和旧平台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交付计划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SYS-05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AF5FF"/>
                </a:solidFill>
                <a:latin typeface="Consolas"/>
              </a:rPr>
              <a:t>工作包、责任人与时间窗口已经对齐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05 / 12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640079" y="1463040"/>
          <a:ext cx="109270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077"/>
                <a:gridCol w="3213847"/>
                <a:gridCol w="2571077"/>
                <a:gridCol w="2571077"/>
              </a:tblGrid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365B"/>
                          </a:solidFill>
                          <a:latin typeface="Microsoft YaHei"/>
                        </a:rPr>
                        <a:t>工作包</a:t>
                      </a:r>
                    </a:p>
                  </a:txBody>
                  <a:tcPr marL="91440" marR="91440" marT="54864" marB="54864" anchor="ctr">
                    <a:solidFill>
                      <a:srgbClr val="78C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365B"/>
                          </a:solidFill>
                          <a:latin typeface="Microsoft YaHei"/>
                        </a:rPr>
                        <a:t>核心交付</a:t>
                      </a:r>
                    </a:p>
                  </a:txBody>
                  <a:tcPr marL="91440" marR="91440" marT="54864" marB="54864" anchor="ctr">
                    <a:solidFill>
                      <a:srgbClr val="78C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365B"/>
                          </a:solidFill>
                          <a:latin typeface="Microsoft YaHei"/>
                        </a:rPr>
                        <a:t>责任角色</a:t>
                      </a:r>
                    </a:p>
                  </a:txBody>
                  <a:tcPr marL="91440" marR="91440" marT="54864" marB="54864" anchor="ctr">
                    <a:solidFill>
                      <a:srgbClr val="78C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B365B"/>
                          </a:solidFill>
                          <a:latin typeface="Microsoft YaHei"/>
                        </a:rPr>
                        <a:t>完成窗口</a:t>
                      </a:r>
                    </a:p>
                  </a:txBody>
                  <a:tcPr marL="91440" marR="91440" marT="54864" marB="54864" anchor="ctr">
                    <a:solidFill>
                      <a:srgbClr val="78C7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基线</a:t>
                      </a:r>
                    </a:p>
                  </a:txBody>
                  <a:tcPr marL="91440" marR="91440" marT="54864" marB="54864" anchor="ctr">
                    <a:solidFill>
                      <a:srgbClr val="124A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盘点链路与服务等级</a:t>
                      </a:r>
                    </a:p>
                  </a:txBody>
                  <a:tcPr marL="91440" marR="91440" marT="54864" marB="54864" anchor="ctr">
                    <a:solidFill>
                      <a:srgbClr val="124A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24A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T+2 周</a:t>
                      </a:r>
                    </a:p>
                  </a:txBody>
                  <a:tcPr marL="91440" marR="91440" marT="54864" marB="54864" anchor="ctr">
                    <a:solidFill>
                      <a:srgbClr val="124A7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底座</a:t>
                      </a:r>
                    </a:p>
                  </a:txBody>
                  <a:tcPr marL="91440" marR="91440" marT="54864" marB="54864" anchor="ctr">
                    <a:solidFill>
                      <a:srgbClr val="0B36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部署存储计算与元数据</a:t>
                      </a:r>
                    </a:p>
                  </a:txBody>
                  <a:tcPr marL="91440" marR="91440" marT="54864" marB="54864" anchor="ctr">
                    <a:solidFill>
                      <a:srgbClr val="0B36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0B36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T+4 周</a:t>
                      </a:r>
                    </a:p>
                  </a:txBody>
                  <a:tcPr marL="91440" marR="91440" marT="54864" marB="54864" anchor="ctr">
                    <a:solidFill>
                      <a:srgbClr val="0B365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迁移</a:t>
                      </a:r>
                    </a:p>
                  </a:txBody>
                  <a:tcPr marL="91440" marR="91440" marT="54864" marB="54864" anchor="ctr">
                    <a:solidFill>
                      <a:srgbClr val="124A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优先迁移高价值主题域</a:t>
                      </a:r>
                    </a:p>
                  </a:txBody>
                  <a:tcPr marL="91440" marR="91440" marT="54864" marB="54864" anchor="ctr">
                    <a:solidFill>
                      <a:srgbClr val="124A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24A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T+6 周</a:t>
                      </a:r>
                    </a:p>
                  </a:txBody>
                  <a:tcPr marL="91440" marR="91440" marT="54864" marB="54864" anchor="ctr">
                    <a:solidFill>
                      <a:srgbClr val="124A77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服务</a:t>
                      </a:r>
                    </a:p>
                  </a:txBody>
                  <a:tcPr marL="91440" marR="91440" marT="54864" marB="54864" anchor="ctr">
                    <a:solidFill>
                      <a:srgbClr val="0B36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发布指标和数据产品</a:t>
                      </a:r>
                    </a:p>
                  </a:txBody>
                  <a:tcPr marL="91440" marR="91440" marT="54864" marB="54864" anchor="ctr">
                    <a:solidFill>
                      <a:srgbClr val="0B36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0B36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T+8 周</a:t>
                      </a:r>
                    </a:p>
                  </a:txBody>
                  <a:tcPr marL="91440" marR="91440" marT="54864" marB="54864" anchor="ctr">
                    <a:solidFill>
                      <a:srgbClr val="0B365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退役</a:t>
                      </a:r>
                    </a:p>
                  </a:txBody>
                  <a:tcPr marL="91440" marR="91440" marT="54864" marB="54864" anchor="ctr">
                    <a:solidFill>
                      <a:srgbClr val="124A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关闭重复链路和旧平台</a:t>
                      </a:r>
                    </a:p>
                  </a:txBody>
                  <a:tcPr marL="91440" marR="91440" marT="54864" marB="54864" anchor="ctr">
                    <a:solidFill>
                      <a:srgbClr val="124A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专项负责人</a:t>
                      </a:r>
                    </a:p>
                  </a:txBody>
                  <a:tcPr marL="91440" marR="91440" marT="54864" marB="54864" anchor="ctr">
                    <a:solidFill>
                      <a:srgbClr val="124A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EAF5FF"/>
                          </a:solidFill>
                          <a:latin typeface="Microsoft YaHei"/>
                        </a:rPr>
                        <a:t>T+10 周</a:t>
                      </a:r>
                    </a:p>
                  </a:txBody>
                  <a:tcPr marL="91440" marR="91440" marT="54864" marB="54864" anchor="ctr">
                    <a:solidFill>
                      <a:srgbClr val="124A7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证据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SYS-06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AF5FF"/>
                </a:solidFill>
                <a:latin typeface="Consolas"/>
              </a:rPr>
              <a:t>数据表明差异集中在少数关键维度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06 / 12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658367" y="1463040"/>
          <a:ext cx="7635239" cy="4315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8595359" y="1554480"/>
            <a:ext cx="2240279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8C7FF"/>
                </a:solidFill>
                <a:latin typeface="Microsoft YaHei"/>
              </a:rPr>
              <a:t>核心洞察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77071" y="2121408"/>
            <a:ext cx="2514599" cy="2148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AF5FF"/>
                </a:solidFill>
                <a:latin typeface="Microsoft YaHei"/>
              </a:rPr>
              <a:t>服务层收益最大，统一指标与 API 是优先建设项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59" y="4864608"/>
            <a:ext cx="2331719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来源：模板演示数据，仅用于版式验证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关键抓手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SYS-07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AF5FF"/>
                </a:solidFill>
                <a:latin typeface="Consolas"/>
              </a:rPr>
              <a:t>形成结果需要同时推进四个抓手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07 /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5" y="1463040"/>
            <a:ext cx="5381243" cy="2121408"/>
          </a:xfrm>
          <a:prstGeom prst="rect">
            <a:avLst/>
          </a:prstGeom>
          <a:solidFill>
            <a:srgbClr val="124A77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5215" y="1463040"/>
            <a:ext cx="82295" cy="2121408"/>
          </a:xfrm>
          <a:prstGeom prst="rect">
            <a:avLst/>
          </a:prstGeom>
          <a:solidFill>
            <a:srgbClr val="78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3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F5FF"/>
                </a:solidFill>
                <a:latin typeface="Microsoft YaHei"/>
              </a:rPr>
              <a:t>统一接入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3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D0EC"/>
                </a:solidFill>
                <a:latin typeface="Microsoft YaHei"/>
              </a:rPr>
              <a:t>批流一体采集并保留变更轨迹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22491" y="1463040"/>
            <a:ext cx="5381243" cy="2121408"/>
          </a:xfrm>
          <a:prstGeom prst="rect">
            <a:avLst/>
          </a:prstGeom>
          <a:solidFill>
            <a:srgbClr val="124A77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22491" y="1463040"/>
            <a:ext cx="82295" cy="2121408"/>
          </a:xfrm>
          <a:prstGeom prst="rect">
            <a:avLst/>
          </a:prstGeom>
          <a:solidFill>
            <a:srgbClr val="F4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5099" y="1737360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F5FF"/>
                </a:solidFill>
                <a:latin typeface="Microsoft YaHei"/>
              </a:rPr>
              <a:t>领域建模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5099" y="2331720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D0EC"/>
                </a:solidFill>
                <a:latin typeface="Microsoft YaHei"/>
              </a:rPr>
              <a:t>按业务语义建设数据产品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5" y="3840479"/>
            <a:ext cx="5381243" cy="2121408"/>
          </a:xfrm>
          <a:prstGeom prst="rect">
            <a:avLst/>
          </a:prstGeom>
          <a:solidFill>
            <a:srgbClr val="124A77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5215" y="3840479"/>
            <a:ext cx="82295" cy="2121408"/>
          </a:xfrm>
          <a:prstGeom prst="rect">
            <a:avLst/>
          </a:prstGeom>
          <a:solidFill>
            <a:srgbClr val="78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3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F5FF"/>
                </a:solidFill>
                <a:latin typeface="Microsoft YaHei"/>
              </a:rPr>
              <a:t>服务复用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3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D0EC"/>
                </a:solidFill>
                <a:latin typeface="Microsoft YaHei"/>
              </a:rPr>
              <a:t>通过指标和数据 API 对外提供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22491" y="3840479"/>
            <a:ext cx="5381243" cy="2121408"/>
          </a:xfrm>
          <a:prstGeom prst="rect">
            <a:avLst/>
          </a:prstGeom>
          <a:solidFill>
            <a:srgbClr val="124A77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22491" y="3840479"/>
            <a:ext cx="82295" cy="2121408"/>
          </a:xfrm>
          <a:prstGeom prst="rect">
            <a:avLst/>
          </a:prstGeom>
          <a:solidFill>
            <a:srgbClr val="F4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15099" y="4114799"/>
            <a:ext cx="48508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AF5FF"/>
                </a:solidFill>
                <a:latin typeface="Microsoft YaHei"/>
              </a:rPr>
              <a:t>安全治理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15099" y="4709159"/>
            <a:ext cx="4832603" cy="1042415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D0EC"/>
                </a:solidFill>
                <a:latin typeface="Microsoft YaHei"/>
              </a:rPr>
              <a:t>分类分级、血缘和审计贯穿全程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关键指标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SYS-08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AF5FF"/>
                </a:solidFill>
                <a:latin typeface="Consolas"/>
              </a:rPr>
              <a:t>四项指标界定当前状态与决策空间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5" y="1216152"/>
            <a:ext cx="1046987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8C7FF"/>
                </a:solidFill>
                <a:latin typeface="Microsoft YaHei"/>
              </a:rPr>
              <a:t>采用湖仓一体与领域数据产品，分阶段替换现有烟囱式链路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08 / 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79" y="2432304"/>
            <a:ext cx="2628899" cy="3108960"/>
          </a:xfrm>
          <a:prstGeom prst="rect">
            <a:avLst/>
          </a:prstGeom>
          <a:solidFill>
            <a:srgbClr val="0B365B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" y="2624328"/>
            <a:ext cx="229971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KPI-01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1" y="3163824"/>
            <a:ext cx="2299715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AF5FF"/>
                </a:solidFill>
                <a:latin typeface="Consolas"/>
              </a:rPr>
              <a:t>126个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1" y="4105656"/>
            <a:ext cx="2299715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AF5FF"/>
                </a:solidFill>
                <a:latin typeface="Microsoft YaHei"/>
              </a:rPr>
              <a:t>数据源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1" y="4599431"/>
            <a:ext cx="229971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覆盖核心交易和运营系统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60419" y="2432304"/>
            <a:ext cx="2628899" cy="3108960"/>
          </a:xfrm>
          <a:prstGeom prst="rect">
            <a:avLst/>
          </a:prstGeom>
          <a:solidFill>
            <a:srgbClr val="0B365B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25011" y="2624328"/>
            <a:ext cx="229971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KPI-02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5011" y="3163824"/>
            <a:ext cx="2299715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AF5FF"/>
                </a:solidFill>
                <a:latin typeface="Consolas"/>
              </a:rPr>
              <a:t>18TB/日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25011" y="4105656"/>
            <a:ext cx="2299715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AF5FF"/>
                </a:solidFill>
                <a:latin typeface="Microsoft YaHei"/>
              </a:rPr>
              <a:t>增量处理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5011" y="4599431"/>
            <a:ext cx="229971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满足未来三年容量需求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59" y="2432304"/>
            <a:ext cx="2628899" cy="3108960"/>
          </a:xfrm>
          <a:prstGeom prst="rect">
            <a:avLst/>
          </a:prstGeom>
          <a:solidFill>
            <a:srgbClr val="0B365B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5351" y="2624328"/>
            <a:ext cx="229971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KPI-03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45351" y="3163824"/>
            <a:ext cx="2299715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AF5FF"/>
                </a:solidFill>
                <a:latin typeface="Consolas"/>
              </a:rPr>
              <a:t>99.95%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1" y="4105656"/>
            <a:ext cx="2299715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AF5FF"/>
                </a:solidFill>
                <a:latin typeface="Microsoft YaHei"/>
              </a:rPr>
              <a:t>服务目标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45351" y="4599431"/>
            <a:ext cx="229971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关键数据服务双活部署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01099" y="2432304"/>
            <a:ext cx="2628899" cy="3108960"/>
          </a:xfrm>
          <a:prstGeom prst="rect">
            <a:avLst/>
          </a:prstGeom>
          <a:solidFill>
            <a:srgbClr val="0B365B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5691" y="2624328"/>
            <a:ext cx="229971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KPI-04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65691" y="3163824"/>
            <a:ext cx="2299715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EAF5FF"/>
                </a:solidFill>
                <a:latin typeface="Consolas"/>
              </a:rPr>
              <a:t>35%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65691" y="4105656"/>
            <a:ext cx="2299715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AF5FF"/>
                </a:solidFill>
                <a:latin typeface="Microsoft YaHei"/>
              </a:rPr>
              <a:t>成本下降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5691" y="4599431"/>
            <a:ext cx="2299715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统一计算与冷热分层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路径选择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SYS-09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AF5FF"/>
                </a:solidFill>
                <a:latin typeface="Consolas"/>
              </a:rPr>
              <a:t>两种路径的价值与代价必须同时看清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09 / 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1" y="1463040"/>
            <a:ext cx="5358383" cy="4462272"/>
          </a:xfrm>
          <a:prstGeom prst="rect">
            <a:avLst/>
          </a:prstGeom>
          <a:solidFill>
            <a:srgbClr val="124A77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16551" y="1719072"/>
            <a:ext cx="11429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8C7FF"/>
                </a:solidFill>
                <a:latin typeface="Microsoft YaHei"/>
              </a:rPr>
              <a:t>PATH-01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1" y="1463040"/>
            <a:ext cx="5358383" cy="91440"/>
          </a:xfrm>
          <a:prstGeom prst="rect">
            <a:avLst/>
          </a:prstGeom>
          <a:solidFill>
            <a:srgbClr val="78C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78C7FF"/>
                </a:solidFill>
                <a:latin typeface="Microsoft YaHei"/>
              </a:rPr>
              <a:t>集中数仓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8C7FF"/>
                </a:solidFill>
                <a:latin typeface="Microsoft YaHe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59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AF5FF"/>
                </a:solidFill>
                <a:latin typeface="Microsoft YaHei"/>
              </a:rPr>
              <a:t>治理统一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8C7FF"/>
                </a:solidFill>
                <a:latin typeface="Microsoft YaHe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59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AF5FF"/>
                </a:solidFill>
                <a:latin typeface="Microsoft YaHei"/>
              </a:rPr>
              <a:t>控制简单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8C7FF"/>
                </a:solidFill>
                <a:latin typeface="Microsoft YaHe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7159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AF5FF"/>
                </a:solidFill>
                <a:latin typeface="Microsoft YaHei"/>
              </a:rPr>
              <a:t>迭代排队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8C7FF"/>
                </a:solidFill>
                <a:latin typeface="Microsoft YaHe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159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AF5FF"/>
                </a:solidFill>
                <a:latin typeface="Microsoft YaHei"/>
              </a:rPr>
              <a:t>业务响应慢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99631" y="1463040"/>
            <a:ext cx="5358383" cy="4462272"/>
          </a:xfrm>
          <a:prstGeom prst="rect">
            <a:avLst/>
          </a:prstGeom>
          <a:solidFill>
            <a:srgbClr val="124A77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94391" y="1719072"/>
            <a:ext cx="1142999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4C14E"/>
                </a:solidFill>
                <a:latin typeface="Microsoft YaHei"/>
              </a:rPr>
              <a:t>PATH-02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99631" y="1463040"/>
            <a:ext cx="5358383" cy="91440"/>
          </a:xfrm>
          <a:prstGeom prst="rect">
            <a:avLst/>
          </a:prstGeom>
          <a:solidFill>
            <a:srgbClr val="F4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28815" y="1828800"/>
            <a:ext cx="4663439" cy="43891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4C14E"/>
                </a:solidFill>
                <a:latin typeface="Microsoft YaHei"/>
              </a:rPr>
              <a:t>领域数据产品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47103" y="2578608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C14E"/>
                </a:solidFill>
                <a:latin typeface="Microsoft YaHe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39" y="2487168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AF5FF"/>
                </a:solidFill>
                <a:latin typeface="Microsoft YaHei"/>
              </a:rPr>
              <a:t>责任清楚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47103" y="3182112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C14E"/>
                </a:solidFill>
                <a:latin typeface="Microsoft YaHei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9439" y="3090672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AF5FF"/>
                </a:solidFill>
                <a:latin typeface="Microsoft YaHei"/>
              </a:rPr>
              <a:t>迭代更快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47103" y="3785616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C14E"/>
                </a:solidFill>
                <a:latin typeface="Microsoft YaHei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39" y="3694176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AF5FF"/>
                </a:solidFill>
                <a:latin typeface="Microsoft YaHei"/>
              </a:rPr>
              <a:t>治理要求高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47103" y="4389120"/>
            <a:ext cx="32003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C14E"/>
                </a:solidFill>
                <a:latin typeface="Microsoft YaHe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39" y="4297680"/>
            <a:ext cx="4160519" cy="4754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AF5FF"/>
                </a:solidFill>
                <a:latin typeface="Microsoft YaHei"/>
              </a:rPr>
              <a:t>平台能力复杂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行动清单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SYS-10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AF5FF"/>
                </a:solidFill>
                <a:latin typeface="Consolas"/>
              </a:rPr>
              <a:t>未来八周的行动已拆解到责任和验收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10 / 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1" y="148132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8C7FF"/>
                </a:solidFill>
                <a:latin typeface="Microsoft YaHei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3311" y="14630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AF5FF"/>
                </a:solidFill>
                <a:latin typeface="Microsoft YaHei"/>
              </a:rPr>
              <a:t>确认统一接入的负责人、交付物和完成标准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353311" y="1984248"/>
            <a:ext cx="9573768" cy="0"/>
          </a:xfrm>
          <a:prstGeom prst="line">
            <a:avLst/>
          </a:prstGeom>
          <a:ln w="9525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13231" y="20756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8C7FF"/>
                </a:solidFill>
                <a:latin typeface="Microsoft YaHei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53311" y="20574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AF5FF"/>
                </a:solidFill>
                <a:latin typeface="Microsoft YaHei"/>
              </a:rPr>
              <a:t>确认领域建模的负责人、交付物和完成标准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353311" y="2578608"/>
            <a:ext cx="9573768" cy="0"/>
          </a:xfrm>
          <a:prstGeom prst="line">
            <a:avLst/>
          </a:prstGeom>
          <a:ln w="9525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13231" y="26700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8C7FF"/>
                </a:solidFill>
                <a:latin typeface="Microsoft YaHe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53311" y="26517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AF5FF"/>
                </a:solidFill>
                <a:latin typeface="Microsoft YaHei"/>
              </a:rPr>
              <a:t>确认服务复用的负责人、交付物和完成标准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353311" y="3172968"/>
            <a:ext cx="9573768" cy="0"/>
          </a:xfrm>
          <a:prstGeom prst="line">
            <a:avLst/>
          </a:prstGeom>
          <a:ln w="9525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3231" y="326440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8C7FF"/>
                </a:solidFill>
                <a:latin typeface="Microsoft YaHei"/>
              </a:rPr>
              <a:t>04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53311" y="324612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AF5FF"/>
                </a:solidFill>
                <a:latin typeface="Microsoft YaHei"/>
              </a:rPr>
              <a:t>确认安全治理的负责人、交付物和完成标准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353311" y="3767328"/>
            <a:ext cx="9573768" cy="0"/>
          </a:xfrm>
          <a:prstGeom prst="line">
            <a:avLst/>
          </a:prstGeom>
          <a:ln w="9525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13231" y="385876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8C7FF"/>
                </a:solidFill>
                <a:latin typeface="Microsoft YaHei"/>
              </a:rPr>
              <a:t>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53311" y="384048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AF5FF"/>
                </a:solidFill>
                <a:latin typeface="Microsoft YaHei"/>
              </a:rPr>
              <a:t>完成基线并关闭阶段评审问题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353311" y="4361688"/>
            <a:ext cx="9573768" cy="0"/>
          </a:xfrm>
          <a:prstGeom prst="line">
            <a:avLst/>
          </a:prstGeom>
          <a:ln w="9525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713231" y="4453127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8C7FF"/>
                </a:solidFill>
                <a:latin typeface="Microsoft YaHei"/>
              </a:rPr>
              <a:t>06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53311" y="443484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AF5FF"/>
                </a:solidFill>
                <a:latin typeface="Microsoft YaHei"/>
              </a:rPr>
              <a:t>完成底座并关闭阶段评审问题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353311" y="4956048"/>
            <a:ext cx="9573768" cy="0"/>
          </a:xfrm>
          <a:prstGeom prst="line">
            <a:avLst/>
          </a:prstGeom>
          <a:ln w="9525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13231" y="504748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8C7FF"/>
                </a:solidFill>
                <a:latin typeface="Microsoft YaHei"/>
              </a:rPr>
              <a:t>07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53311" y="502920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AF5FF"/>
                </a:solidFill>
                <a:latin typeface="Microsoft YaHei"/>
              </a:rPr>
              <a:t>完成迁移并关闭阶段评审问题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353311" y="5550408"/>
            <a:ext cx="9573768" cy="0"/>
          </a:xfrm>
          <a:prstGeom prst="line">
            <a:avLst/>
          </a:prstGeom>
          <a:ln w="9525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13231" y="5641848"/>
            <a:ext cx="502919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8C7FF"/>
                </a:solidFill>
                <a:latin typeface="Microsoft YaHei"/>
              </a:rPr>
              <a:t>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53311" y="5623560"/>
            <a:ext cx="9555479" cy="5303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AF5FF"/>
                </a:solidFill>
                <a:latin typeface="Microsoft YaHei"/>
              </a:rPr>
              <a:t>完成服务并关闭阶段评审问题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共同原则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SYS-11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AF5FF"/>
                </a:solidFill>
                <a:latin typeface="Consolas"/>
              </a:rPr>
              <a:t>团队需要坚持一条简单原则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11 / 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7" y="1572768"/>
            <a:ext cx="914399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300" b="1">
                <a:solidFill>
                  <a:srgbClr val="78C7FF"/>
                </a:solidFill>
                <a:latin typeface="Consolas"/>
              </a:rPr>
              <a:t>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89887" y="1901952"/>
            <a:ext cx="9006839" cy="2240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AF5FF"/>
                </a:solidFill>
                <a:latin typeface="Consolas"/>
              </a:rPr>
              <a:t>架构决策的价值，不在图有多复杂，而在约束是否清楚。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417319" y="4617720"/>
            <a:ext cx="1371600" cy="0"/>
          </a:xfrm>
          <a:prstGeom prst="line">
            <a:avLst/>
          </a:prstGeom>
          <a:ln w="381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99231" y="4443984"/>
            <a:ext cx="4754879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8D0EC"/>
                </a:solidFill>
                <a:latin typeface="Microsoft YaHei"/>
              </a:rPr>
              <a:t>— 项目核心团队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7" y="347472"/>
            <a:ext cx="1097280" cy="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75487" y="347472"/>
            <a:ext cx="0" cy="365760"/>
          </a:xfrm>
          <a:prstGeom prst="line">
            <a:avLst/>
          </a:prstGeom>
          <a:ln w="2540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19071" y="256032"/>
            <a:ext cx="320039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C7FF"/>
                </a:solidFill>
                <a:latin typeface="Microsoft YaHei"/>
              </a:rPr>
              <a:t>导航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59" y="246888"/>
            <a:ext cx="1554479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A8D0EC"/>
                </a:solidFill>
                <a:latin typeface="Microsoft YaHei"/>
              </a:rPr>
              <a:t>SYS-12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3" y="658368"/>
            <a:ext cx="10332719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EAF5FF"/>
                </a:solidFill>
                <a:latin typeface="Consolas"/>
              </a:rPr>
              <a:t>本次汇报回答四个关键问题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7" y="6355080"/>
            <a:ext cx="11064240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5" y="6419088"/>
            <a:ext cx="4571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完整业务示例 · 所有数字均为模板演示数据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69879" y="6419088"/>
            <a:ext cx="1142999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D0EC"/>
                </a:solidFill>
                <a:latin typeface="Microsoft YaHei"/>
              </a:rPr>
              <a:t>12 / 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8C7FF"/>
                </a:solidFill>
                <a:latin typeface="Consolas"/>
              </a:rPr>
              <a:t>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08175" y="1865376"/>
            <a:ext cx="4325112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40817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AF5FF"/>
                </a:solidFill>
                <a:latin typeface="Microsoft YaHei"/>
              </a:rPr>
              <a:t>为什么现在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0817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D0EC"/>
                </a:solidFill>
                <a:latin typeface="Microsoft YaHei"/>
              </a:rPr>
              <a:t>背景、变化和机会窗口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8C7FF"/>
                </a:solidFill>
                <a:latin typeface="Consolas"/>
              </a:rPr>
              <a:t>02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408175" y="2990088"/>
            <a:ext cx="4325112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40817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AF5FF"/>
                </a:solidFill>
                <a:latin typeface="Microsoft YaHei"/>
              </a:rPr>
              <a:t>事实说明什么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0817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D0EC"/>
                </a:solidFill>
                <a:latin typeface="Microsoft YaHei"/>
              </a:rPr>
              <a:t>指标、证据和关键差异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1927" y="1463040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8C7FF"/>
                </a:solidFill>
                <a:latin typeface="Consolas"/>
              </a:rPr>
              <a:t>03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31735" y="1865376"/>
            <a:ext cx="4325112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031735" y="1444752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AF5FF"/>
                </a:solidFill>
                <a:latin typeface="Microsoft YaHei"/>
              </a:rPr>
              <a:t>应该如何选择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31735" y="1901952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D0EC"/>
                </a:solidFill>
                <a:latin typeface="Microsoft YaHei"/>
              </a:rPr>
              <a:t>方案取舍和风险边界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81927" y="2587752"/>
            <a:ext cx="621791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8C7FF"/>
                </a:solidFill>
                <a:latin typeface="Consolas"/>
              </a:rPr>
              <a:t>04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031735" y="2990088"/>
            <a:ext cx="4325112" cy="0"/>
          </a:xfrm>
          <a:prstGeom prst="line">
            <a:avLst/>
          </a:prstGeom>
          <a:ln w="12700">
            <a:solidFill>
              <a:srgbClr val="2F6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031735" y="2569464"/>
            <a:ext cx="4297679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AF5FF"/>
                </a:solidFill>
                <a:latin typeface="Microsoft YaHei"/>
              </a:rPr>
              <a:t>怎样落地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31735" y="3026664"/>
            <a:ext cx="4160519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A8D0EC"/>
                </a:solidFill>
                <a:latin typeface="Microsoft YaHei"/>
              </a:rPr>
              <a:t>路径、责任和验收标准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6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6692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385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70078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6771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3463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40156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6849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0235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7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3620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0313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7006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3699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0391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37775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03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71631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338559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905487" y="0"/>
            <a:ext cx="0" cy="685800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56692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13385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170078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26771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283464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40156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396849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35424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102352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669280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236208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803136"/>
            <a:ext cx="12191695" cy="0"/>
          </a:xfrm>
          <a:prstGeom prst="line">
            <a:avLst/>
          </a:prstGeom>
          <a:ln w="4445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583679" y="3520440"/>
            <a:ext cx="1737360" cy="960120"/>
          </a:xfrm>
          <a:prstGeom prst="line">
            <a:avLst/>
          </a:prstGeom>
          <a:ln w="1778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321039" y="3520440"/>
            <a:ext cx="1874520" cy="960120"/>
          </a:xfrm>
          <a:prstGeom prst="line">
            <a:avLst/>
          </a:prstGeom>
          <a:ln w="1778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583679" y="4480560"/>
            <a:ext cx="1737360" cy="960120"/>
          </a:xfrm>
          <a:prstGeom prst="line">
            <a:avLst/>
          </a:prstGeom>
          <a:ln w="1778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321039" y="4480560"/>
            <a:ext cx="1874520" cy="960120"/>
          </a:xfrm>
          <a:prstGeom prst="line">
            <a:avLst/>
          </a:prstGeom>
          <a:ln w="1778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21039" y="3520440"/>
            <a:ext cx="0" cy="1920240"/>
          </a:xfrm>
          <a:prstGeom prst="line">
            <a:avLst/>
          </a:prstGeom>
          <a:ln w="17780">
            <a:solidFill>
              <a:srgbClr val="78C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9829799" y="530352"/>
            <a:ext cx="1536191" cy="658368"/>
          </a:xfrm>
          <a:prstGeom prst="rect">
            <a:avLst/>
          </a:prstGeom>
          <a:solidFill>
            <a:srgbClr val="0B365B"/>
          </a:solidFill>
          <a:ln w="7315">
            <a:solidFill>
              <a:srgbClr val="78C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85247" y="722376"/>
            <a:ext cx="1225295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8C7FF"/>
                </a:solidFill>
                <a:latin typeface="Microsoft YaHei"/>
              </a:rPr>
              <a:t>SCALE 1:50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" y="1901952"/>
            <a:ext cx="6949439" cy="1325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EAF5FF"/>
                </a:solidFill>
                <a:latin typeface="Consolas"/>
              </a:rPr>
              <a:t>采用湖仓一体与领域数据产品，分阶段替换现有烟囱式链路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3" y="4078224"/>
            <a:ext cx="6766559" cy="6583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A8D0EC"/>
                </a:solidFill>
                <a:latin typeface="Microsoft YaHei"/>
              </a:rPr>
              <a:t>下一步：确认责任人、启动首个阶段并按周复盘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3" y="6144768"/>
            <a:ext cx="5029199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8D0EC"/>
                </a:solidFill>
                <a:latin typeface="Microsoft YaHei"/>
              </a:rPr>
              <a:t>工程蓝图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统一数据平台架构评审</dc:title>
  <dc:subject>由企业 AI 工作平台基于语义页面角色与自适应模板生成</dc:subject>
  <dc:creator/>
  <cp:keywords>template=blueprint-pro;layout_family=premium;schema=presentation_spec.v2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