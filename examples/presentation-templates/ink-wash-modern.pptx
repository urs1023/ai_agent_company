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复古再现</c:v>
                </c:pt>
              </c:strCache>
            </c:strRef>
          </c:tx>
          <c:spPr>
            <a:solidFill>
              <a:srgbClr val="242824"/>
            </a:solidFill>
          </c:spPr>
          <c:cat>
            <c:strRef>
              <c:f>Sheet1!$A$2:$A$5</c:f>
              <c:strCache>
                <c:ptCount val="4"/>
                <c:pt idx="0">
                  <c:v>历史真实</c:v>
                </c:pt>
                <c:pt idx="1">
                  <c:v>当代相关</c:v>
                </c:pt>
                <c:pt idx="2">
                  <c:v>空间体验</c:v>
                </c:pt>
                <c:pt idx="3">
                  <c:v>传播效率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92.0</c:v>
                </c:pt>
                <c:pt idx="1">
                  <c:v>68.0</c:v>
                </c:pt>
                <c:pt idx="2">
                  <c:v>73.0</c:v>
                </c:pt>
                <c:pt idx="3">
                  <c:v>61.0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当代转译</c:v>
                </c:pt>
              </c:strCache>
            </c:strRef>
          </c:tx>
          <c:spPr>
            <a:solidFill>
              <a:srgbClr val="A23A32"/>
            </a:solidFill>
          </c:spPr>
          <c:cat>
            <c:strRef>
              <c:f>Sheet1!$A$2:$A$5</c:f>
              <c:strCache>
                <c:ptCount val="4"/>
                <c:pt idx="0">
                  <c:v>历史真实</c:v>
                </c:pt>
                <c:pt idx="1">
                  <c:v>当代相关</c:v>
                </c:pt>
                <c:pt idx="2">
                  <c:v>空间体验</c:v>
                </c:pt>
                <c:pt idx="3">
                  <c:v>传播效率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74.0</c:v>
                </c:pt>
                <c:pt idx="1">
                  <c:v>88.0</c:v>
                </c:pt>
                <c:pt idx="2">
                  <c:v>86.0</c:v>
                </c:pt>
                <c:pt idx="3">
                  <c:v>79.0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2CEC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59" y="502920"/>
            <a:ext cx="3337559" cy="333756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799" y="5084064"/>
            <a:ext cx="566927" cy="566928"/>
          </a:xfrm>
          <a:prstGeom prst="ellipse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543799" y="4846320"/>
            <a:ext cx="342900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242824"/>
                </a:solidFill>
                <a:latin typeface="Microsoft YaHei"/>
              </a:rPr>
              <a:t>现代水墨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1901952"/>
            <a:ext cx="676655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E211F"/>
                </a:solidFill>
                <a:latin typeface="SimSun"/>
              </a:rPr>
              <a:t>城市文化品牌更新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4078224"/>
            <a:ext cx="61264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96B65"/>
                </a:solidFill>
                <a:latin typeface="Microsoft YaHei"/>
              </a:rPr>
              <a:t>在传统精神与当代生活之间建立新的表达秩序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B65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核心判断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E211F"/>
                </a:solidFill>
                <a:latin typeface="SimSun"/>
              </a:rPr>
              <a:t>保留文化内核，放弃符号堆砌，用当代场景重新解释传统价值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01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24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E211F"/>
                </a:solidFill>
                <a:latin typeface="SimSun"/>
              </a:rPr>
              <a:t>保留文化内核，放弃符号堆砌，用当代场景重新解释传统价值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96B65"/>
                </a:solidFill>
                <a:latin typeface="Microsoft YaHei"/>
              </a:rPr>
              <a:t>核心人群  ·  体验节点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共同原则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团队需要坚持一条简单原则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242824"/>
                </a:solidFill>
                <a:latin typeface="SimSun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E211F"/>
                </a:solidFill>
                <a:latin typeface="SimSun"/>
              </a:rPr>
              <a:t>传统不是被保存的外形，而是仍能进入今天生活的精神。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242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B65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行动清单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未来八周的行动已拆解到责任和验收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确认精神提炼的负责人、交付物和完成标准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确认视觉克制的负责人、交付物和完成标准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确认场景活化的负责人、交付物和完成标准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确认内容运营的负责人、交付物和完成标准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完成寻根并关闭阶段评审问题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完成定意并关闭阶段评审问题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完成塑形并关闭阶段评审问题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11F"/>
                </a:solidFill>
                <a:latin typeface="Microsoft YaHei"/>
              </a:rPr>
              <a:t>完成入境并关闭阶段评审问题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能力组合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业务结果与能力建设必须同步发生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04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24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824"/>
                </a:solidFill>
                <a:latin typeface="Microsoft YaHei"/>
              </a:rPr>
              <a:t>业务侧负责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824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精神提炼：从历史事实中提炼可持续价值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824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视觉克制：减少符号密度并强化现代秩序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824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场景活化：让文化进入日常体验与公共空间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824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内容运营：建立持续讲述与共创机制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3A32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23A32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符号化：所有表达回到真实文化证据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23A32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年轻化过度：保持价值与审美边界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23A32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场景割裂：统一空间与数字体验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23A32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211F"/>
                </a:solidFill>
                <a:latin typeface="Microsoft YaHei"/>
              </a:rPr>
              <a:t>运营中断：建立长期内容机制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实施路径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五个阶段把方向转化为可验收成果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05 / 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50800">
            <a:solidFill>
              <a:srgbClr val="242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242824"/>
          </a:solidFill>
          <a:ln w="7315">
            <a:solidFill>
              <a:srgbClr val="24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3F0E8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11F"/>
                </a:solidFill>
                <a:latin typeface="Microsoft YaHei"/>
              </a:rPr>
              <a:t>寻根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访谈、档案和田野研究</a:t>
            </a:r>
          </a:p>
        </p:txBody>
      </p:sp>
      <p:sp>
        <p:nvSpPr>
          <p:cNvPr id="16" name="Oval 15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AF8F2"/>
          </a:solidFill>
          <a:ln w="7315">
            <a:solidFill>
              <a:srgbClr val="24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4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11F"/>
                </a:solidFill>
                <a:latin typeface="Microsoft YaHei"/>
              </a:rPr>
              <a:t>定意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形成品牌核心命题</a:t>
            </a:r>
          </a:p>
        </p:txBody>
      </p:sp>
      <p:sp>
        <p:nvSpPr>
          <p:cNvPr id="20" name="Oval 19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AF8F2"/>
          </a:solidFill>
          <a:ln w="7315">
            <a:solidFill>
              <a:srgbClr val="24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4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11F"/>
                </a:solidFill>
                <a:latin typeface="Microsoft YaHei"/>
              </a:rPr>
              <a:t>塑形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更新视觉和空间语言</a:t>
            </a:r>
          </a:p>
        </p:txBody>
      </p:sp>
      <p:sp>
        <p:nvSpPr>
          <p:cNvPr id="24" name="Oval 23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AF8F2"/>
          </a:solidFill>
          <a:ln w="7315">
            <a:solidFill>
              <a:srgbClr val="24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4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11F"/>
                </a:solidFill>
                <a:latin typeface="Microsoft YaHei"/>
              </a:rPr>
              <a:t>入境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落地关键体验场景</a:t>
            </a:r>
          </a:p>
        </p:txBody>
      </p:sp>
      <p:sp>
        <p:nvSpPr>
          <p:cNvPr id="28" name="Oval 27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AF8F2"/>
          </a:solidFill>
          <a:ln w="7315">
            <a:solidFill>
              <a:srgbClr val="24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4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11F"/>
                </a:solidFill>
                <a:latin typeface="Microsoft YaHei"/>
              </a:rPr>
              <a:t>长养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持续内容与社区共创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关键抓手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形成结果需要同时推进四个抓手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06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24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11F"/>
                </a:solidFill>
                <a:latin typeface="Microsoft YaHei"/>
              </a:rPr>
              <a:t>精神提炼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B65"/>
                </a:solidFill>
                <a:latin typeface="Microsoft YaHei"/>
              </a:rPr>
              <a:t>从历史事实中提炼可持续价值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11F"/>
                </a:solidFill>
                <a:latin typeface="Microsoft YaHei"/>
              </a:rPr>
              <a:t>视觉克制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B65"/>
                </a:solidFill>
                <a:latin typeface="Microsoft YaHei"/>
              </a:rPr>
              <a:t>减少符号密度并强化现代秩序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24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11F"/>
                </a:solidFill>
                <a:latin typeface="Microsoft YaHei"/>
              </a:rPr>
              <a:t>场景活化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B65"/>
                </a:solidFill>
                <a:latin typeface="Microsoft YaHei"/>
              </a:rPr>
              <a:t>让文化进入日常体验与公共空间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11F"/>
                </a:solidFill>
                <a:latin typeface="Microsoft YaHei"/>
              </a:rPr>
              <a:t>内容运营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B65"/>
                </a:solidFill>
                <a:latin typeface="Microsoft YaHei"/>
              </a:rPr>
              <a:t>建立持续讲述与共创机制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路径选择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两种路径的价值与代价必须同时看清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07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24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2824"/>
                </a:solidFill>
                <a:latin typeface="Microsoft YaHei"/>
              </a:rPr>
              <a:t>复古再现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824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识别直接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824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情绪浓厚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824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容易套路化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824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与当代生活疏离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23A32"/>
                </a:solidFill>
                <a:latin typeface="Microsoft YaHei"/>
              </a:rPr>
              <a:t>当代转译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23A32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进入日常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23A32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表达更克制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23A32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理解门槛较高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23A32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11F"/>
                </a:solidFill>
                <a:latin typeface="Microsoft YaHei"/>
              </a:rPr>
              <a:t>需要系统运营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风险管理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四类风险均已设置前置缓释动作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08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符号化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B65"/>
                </a:solidFill>
                <a:latin typeface="Microsoft YaHei"/>
              </a:rPr>
              <a:t>所有表达回到真实文化证据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11F"/>
                </a:solidFill>
                <a:latin typeface="Microsoft YaHei"/>
              </a:rPr>
              <a:t>年轻化过度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B65"/>
                </a:solidFill>
                <a:latin typeface="Microsoft YaHei"/>
              </a:rPr>
              <a:t>保持价值与审美边界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11F"/>
                </a:solidFill>
                <a:latin typeface="Microsoft YaHei"/>
              </a:rPr>
              <a:t>场景割裂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B65"/>
                </a:solidFill>
                <a:latin typeface="Microsoft YaHei"/>
              </a:rPr>
              <a:t>统一空间与数字体验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824"/>
                </a:solidFill>
                <a:latin typeface="Microsoft YaHei"/>
              </a:rPr>
              <a:t>运营中断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B65"/>
                </a:solidFill>
                <a:latin typeface="Microsoft YaHei"/>
              </a:rPr>
              <a:t>建立长期内容机制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交付计划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工作包、责任人与时间窗口已经对齐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09 / 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3F0E8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242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3F0E8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242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3F0E8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242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3F0E8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242824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寻根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访谈、档案和田野研究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定意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形成品牌核心命题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塑形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更新视觉和空间语言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入境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落地关键体验场景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3F0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长养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持续内容与社区共创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11F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证据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数据表明差异集中在少数关键维度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10 / 12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824"/>
                </a:solidFill>
                <a:latin typeface="Microsoft YaHei"/>
              </a:rPr>
              <a:t>核心洞察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211F"/>
                </a:solidFill>
                <a:latin typeface="Microsoft YaHei"/>
              </a:rPr>
              <a:t>当代转译提升相关性和体验，同时必须守住历史真实性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B65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关键指标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四项指标界定当前状态与决策空间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824"/>
                </a:solidFill>
                <a:latin typeface="Microsoft YaHei"/>
              </a:rPr>
              <a:t>保留文化内核，放弃符号堆砌，用当代场景重新解释传统价值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11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848709"/>
            <a:ext cx="2368295" cy="1829714"/>
          </a:xfrm>
          <a:prstGeom prst="round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7" y="4260189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42824"/>
                </a:solidFill>
                <a:latin typeface="SimSun"/>
              </a:rPr>
              <a:t>760年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11F"/>
                </a:solidFill>
                <a:latin typeface="Microsoft YaHei"/>
              </a:rPr>
              <a:t>文化源流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7" y="3470148"/>
            <a:ext cx="2368295" cy="2208276"/>
          </a:xfrm>
          <a:prstGeom prst="round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5" y="3881628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A23A32"/>
                </a:solidFill>
                <a:latin typeface="SimSun"/>
              </a:rPr>
              <a:t>6类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7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11F"/>
                </a:solidFill>
                <a:latin typeface="Microsoft YaHei"/>
              </a:rPr>
              <a:t>核心人群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5" y="3091586"/>
            <a:ext cx="2368295" cy="2586837"/>
          </a:xfrm>
          <a:prstGeom prst="round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503066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42824"/>
                </a:solidFill>
                <a:latin typeface="SimSun"/>
              </a:rPr>
              <a:t>24处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5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11F"/>
                </a:solidFill>
                <a:latin typeface="Microsoft YaHei"/>
              </a:rPr>
              <a:t>体验节点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2713024"/>
            <a:ext cx="2368295" cy="2965399"/>
          </a:xfrm>
          <a:prstGeom prst="roundRect">
            <a:avLst/>
          </a:prstGeom>
          <a:solidFill>
            <a:srgbClr val="FAF8F2"/>
          </a:solidFill>
          <a:ln w="7315">
            <a:solidFill>
              <a:srgbClr val="D2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1" y="3124504"/>
            <a:ext cx="214883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A23A32"/>
                </a:solidFill>
                <a:latin typeface="SimSun"/>
              </a:rPr>
              <a:t>18月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3" y="5815584"/>
            <a:ext cx="2185415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11F"/>
                </a:solidFill>
                <a:latin typeface="Microsoft YaHei"/>
              </a:rPr>
              <a:t>品牌周期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44783" y="310896"/>
            <a:ext cx="420623" cy="420624"/>
          </a:xfrm>
          <a:prstGeom prst="rect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1" y="283464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11F"/>
                </a:solidFill>
                <a:latin typeface="Microsoft YaHei"/>
              </a:rPr>
              <a:t>导航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1" y="667512"/>
            <a:ext cx="3127248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1" y="804672"/>
            <a:ext cx="99669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211F"/>
                </a:solidFill>
                <a:latin typeface="SimSun"/>
              </a:rPr>
              <a:t>本次汇报回答四个关键问题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B65"/>
                </a:solidFill>
                <a:latin typeface="Microsoft YaHei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2824"/>
                </a:solidFill>
                <a:latin typeface="SimSun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11F"/>
                </a:solidFill>
                <a:latin typeface="Microsoft YaHei"/>
              </a:rPr>
              <a:t>为什么现在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B65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2824"/>
                </a:solidFill>
                <a:latin typeface="SimSun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11F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B65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2824"/>
                </a:solidFill>
                <a:latin typeface="SimSun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11F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B65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2824"/>
                </a:solidFill>
                <a:latin typeface="SimSun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11F"/>
                </a:solidFill>
                <a:latin typeface="Microsoft YaHei"/>
              </a:rPr>
              <a:t>怎样落地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B65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79" y="182880"/>
            <a:ext cx="2926079" cy="292608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19" y="5074920"/>
            <a:ext cx="1645919" cy="164592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59" y="502920"/>
            <a:ext cx="3337559" cy="3337560"/>
          </a:xfrm>
          <a:prstGeom prst="ellipse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799" y="5084064"/>
            <a:ext cx="566927" cy="566928"/>
          </a:xfrm>
          <a:prstGeom prst="ellipse">
            <a:avLst/>
          </a:prstGeom>
          <a:solidFill>
            <a:srgbClr val="A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543799" y="4846320"/>
            <a:ext cx="3429000" cy="0"/>
          </a:xfrm>
          <a:prstGeom prst="line">
            <a:avLst/>
          </a:prstGeom>
          <a:ln w="12700">
            <a:solidFill>
              <a:srgbClr val="D2C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7" y="1901952"/>
            <a:ext cx="676655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E211F"/>
                </a:solidFill>
                <a:latin typeface="SimSun"/>
              </a:rPr>
              <a:t>保留文化内核，放弃符号堆砌，用当代场景重新解释传统价值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" y="4078224"/>
            <a:ext cx="61264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96B65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B65"/>
                </a:solidFill>
                <a:latin typeface="Microsoft YaHei"/>
              </a:rPr>
              <a:t>现代水墨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城市文化品牌更新</dc:title>
  <dc:subject>由企业 AI 工作平台基于语义页面角色与自适应模板生成</dc:subject>
  <dc:creator/>
  <cp:keywords>template=ink-wash-modern;layout_family=premium;schema=presentation_spec.v2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