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购买抵消</c:v>
                </c:pt>
              </c:strCache>
            </c:strRef>
          </c:tx>
          <c:spPr>
            <a:solidFill>
              <a:srgbClr val="2E6B4F"/>
            </a:solidFill>
          </c:spPr>
          <c:cat>
            <c:strRef>
              <c:f>Sheet1!$A$2:$A$5</c:f>
              <c:strCache>
                <c:ptCount val="4"/>
                <c:pt idx="0">
                  <c:v>能源</c:v>
                </c:pt>
                <c:pt idx="1">
                  <c:v>工艺</c:v>
                </c:pt>
                <c:pt idx="2">
                  <c:v>供应链</c:v>
                </c:pt>
                <c:pt idx="3">
                  <c:v>产品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42.0</c:v>
                </c:pt>
                <c:pt idx="1">
                  <c:v>31.0</c:v>
                </c:pt>
                <c:pt idx="2">
                  <c:v>18.0</c:v>
                </c:pt>
                <c:pt idx="3">
                  <c:v>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运营减排</c:v>
                </c:pt>
              </c:strCache>
            </c:strRef>
          </c:tx>
          <c:spPr>
            <a:solidFill>
              <a:srgbClr val="C89B4B"/>
            </a:solidFill>
          </c:spPr>
          <c:cat>
            <c:strRef>
              <c:f>Sheet1!$A$2:$A$5</c:f>
              <c:strCache>
                <c:ptCount val="4"/>
                <c:pt idx="0">
                  <c:v>能源</c:v>
                </c:pt>
                <c:pt idx="1">
                  <c:v>工艺</c:v>
                </c:pt>
                <c:pt idx="2">
                  <c:v>供应链</c:v>
                </c:pt>
                <c:pt idx="3">
                  <c:v>产品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28.0</c:v>
                </c:pt>
                <c:pt idx="1">
                  <c:v>24.0</c:v>
                </c:pt>
                <c:pt idx="2">
                  <c:v>33.0</c:v>
                </c:pt>
                <c:pt idx="3">
                  <c:v>15.0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CFDCCF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32519" y="2542032"/>
            <a:ext cx="1828799" cy="182880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83879" y="1993391"/>
            <a:ext cx="2926079" cy="292608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35239" y="1444751"/>
            <a:ext cx="4023359" cy="402336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06639" y="0"/>
            <a:ext cx="4782311" cy="6858000"/>
          </a:xfrm>
          <a:prstGeom prst="roundRect">
            <a:avLst/>
          </a:prstGeom>
          <a:solidFill>
            <a:srgbClr val="FA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75319" y="658368"/>
            <a:ext cx="3200399" cy="3200400"/>
          </a:xfrm>
          <a:prstGeom prst="ellipse">
            <a:avLst/>
          </a:prstGeom>
          <a:solidFill>
            <a:srgbClr val="EEF3E9"/>
          </a:solidFill>
          <a:ln w="7315">
            <a:solidFill>
              <a:srgbClr val="2E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32519" y="1115568"/>
            <a:ext cx="2285999" cy="2286000"/>
          </a:xfrm>
          <a:prstGeom prst="ellipse">
            <a:avLst/>
          </a:prstGeom>
          <a:solidFill>
            <a:srgbClr val="EEF3E9"/>
          </a:solidFill>
          <a:ln w="7315">
            <a:solidFill>
              <a:srgbClr val="2E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89719" y="1572768"/>
            <a:ext cx="1371599" cy="1371600"/>
          </a:xfrm>
          <a:prstGeom prst="ellipse">
            <a:avLst/>
          </a:prstGeom>
          <a:solidFill>
            <a:srgbClr val="EEF3E9"/>
          </a:solidFill>
          <a:ln w="7315">
            <a:solidFill>
              <a:srgbClr val="2E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3" y="1353312"/>
            <a:ext cx="47548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2E6B4F"/>
                </a:solidFill>
                <a:latin typeface="Microsoft YaHei"/>
              </a:rPr>
              <a:t>ESG 自然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" y="1901952"/>
            <a:ext cx="6172199" cy="18745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203329"/>
                </a:solidFill>
                <a:latin typeface="Microsoft YaHei UI"/>
              </a:rPr>
              <a:t>制造集团 2030 净零路线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3" y="4078224"/>
            <a:ext cx="603503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17064"/>
                </a:solidFill>
                <a:latin typeface="Microsoft YaHei"/>
              </a:rPr>
              <a:t>能源、供应链、产品和治理四条减排路径（演示数据）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3" y="614476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64"/>
                </a:solidFill>
                <a:latin typeface="Microsoft YaHei"/>
              </a:rPr>
              <a:t>企业 AI 工作平台 · 高质量模板库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32519" y="2542032"/>
            <a:ext cx="1828799" cy="182880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83879" y="1993391"/>
            <a:ext cx="2926079" cy="292608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35239" y="1444751"/>
            <a:ext cx="4023359" cy="402336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2063" y="256032"/>
            <a:ext cx="438911" cy="438912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2999" y="329184"/>
            <a:ext cx="27431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6B4F"/>
                </a:solidFill>
                <a:latin typeface="Microsoft YaHei"/>
              </a:rPr>
              <a:t>关键指标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786384"/>
            <a:ext cx="102412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03329"/>
                </a:solidFill>
                <a:latin typeface="Microsoft YaHei UI"/>
              </a:rPr>
              <a:t>四项指标界定当前状态与决策空间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5" y="121615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6B4F"/>
                </a:solidFill>
                <a:latin typeface="Microsoft YaHei"/>
              </a:rPr>
              <a:t>优先投资能源效率和供应链协同，建立可审计碳数据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F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06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064"/>
                </a:solidFill>
                <a:latin typeface="Microsoft YaHei"/>
              </a:rPr>
              <a:t>01 /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" y="3848709"/>
            <a:ext cx="2368295" cy="1829714"/>
          </a:xfrm>
          <a:prstGeom prst="roundRect">
            <a:avLst/>
          </a:prstGeom>
          <a:solidFill>
            <a:srgbClr val="FAFCF7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7" y="4260189"/>
            <a:ext cx="214883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E6B4F"/>
                </a:solidFill>
                <a:latin typeface="Microsoft YaHei UI"/>
              </a:rPr>
              <a:t>-32%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399" y="5815584"/>
            <a:ext cx="2185415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03329"/>
                </a:solidFill>
                <a:latin typeface="Microsoft YaHei"/>
              </a:rPr>
              <a:t>范围一二排放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38727" y="3470148"/>
            <a:ext cx="2368295" cy="2208276"/>
          </a:xfrm>
          <a:prstGeom prst="roundRect">
            <a:avLst/>
          </a:prstGeom>
          <a:solidFill>
            <a:srgbClr val="FAFCF7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5" y="3881628"/>
            <a:ext cx="214883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C89B4B"/>
                </a:solidFill>
                <a:latin typeface="Microsoft YaHei UI"/>
              </a:rPr>
              <a:t>68%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7" y="5815584"/>
            <a:ext cx="2185415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03329"/>
                </a:solidFill>
                <a:latin typeface="Microsoft YaHei"/>
              </a:rPr>
              <a:t>绿色电力占比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5" y="3091586"/>
            <a:ext cx="2368295" cy="2586837"/>
          </a:xfrm>
          <a:prstGeom prst="roundRect">
            <a:avLst/>
          </a:prstGeom>
          <a:solidFill>
            <a:srgbClr val="FAFCF7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3" y="3503066"/>
            <a:ext cx="214883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E6B4F"/>
                </a:solidFill>
                <a:latin typeface="Microsoft YaHei UI"/>
              </a:rPr>
              <a:t>420家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5" y="5815584"/>
            <a:ext cx="2185415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03329"/>
                </a:solidFill>
                <a:latin typeface="Microsoft YaHei"/>
              </a:rPr>
              <a:t>供应商覆盖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0263" y="2713024"/>
            <a:ext cx="2368295" cy="2965399"/>
          </a:xfrm>
          <a:prstGeom prst="roundRect">
            <a:avLst/>
          </a:prstGeom>
          <a:solidFill>
            <a:srgbClr val="FAFCF7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9991" y="3124504"/>
            <a:ext cx="214883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C89B4B"/>
                </a:solidFill>
                <a:latin typeface="Microsoft YaHei UI"/>
              </a:rPr>
              <a:t>5.6亿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1703" y="5815584"/>
            <a:ext cx="2185415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03329"/>
                </a:solidFill>
                <a:latin typeface="Microsoft YaHei"/>
              </a:rPr>
              <a:t>累计投入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32519" y="2542032"/>
            <a:ext cx="1828799" cy="182880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83879" y="1993391"/>
            <a:ext cx="2926079" cy="292608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35239" y="1444751"/>
            <a:ext cx="4023359" cy="402336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2063" y="256032"/>
            <a:ext cx="438911" cy="438912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2999" y="329184"/>
            <a:ext cx="27431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6B4F"/>
                </a:solidFill>
                <a:latin typeface="Microsoft YaHei"/>
              </a:rPr>
              <a:t>实施路径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786384"/>
            <a:ext cx="102412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03329"/>
                </a:solidFill>
                <a:latin typeface="Microsoft YaHei UI"/>
              </a:rPr>
              <a:t>五个阶段把方向转化为可验收成果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F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06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064"/>
                </a:solidFill>
                <a:latin typeface="Microsoft YaHei"/>
              </a:rPr>
              <a:t>02 / 12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2687" y="2962656"/>
            <a:ext cx="10177272" cy="0"/>
          </a:xfrm>
          <a:prstGeom prst="line">
            <a:avLst/>
          </a:prstGeom>
          <a:ln w="25400">
            <a:solidFill>
              <a:srgbClr val="CF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31519" y="2761488"/>
            <a:ext cx="402335" cy="402336"/>
          </a:xfrm>
          <a:prstGeom prst="ellipse">
            <a:avLst/>
          </a:prstGeom>
          <a:solidFill>
            <a:srgbClr val="2E6B4F"/>
          </a:solidFill>
          <a:ln w="7315">
            <a:solidFill>
              <a:srgbClr val="2E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5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EF3E9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5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03329"/>
                </a:solidFill>
                <a:latin typeface="Microsoft YaHei"/>
              </a:rPr>
              <a:t>基线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9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64"/>
                </a:solidFill>
                <a:latin typeface="Microsoft YaHei"/>
              </a:rPr>
              <a:t>完成组织与产品碳盘查</a:t>
            </a:r>
          </a:p>
        </p:txBody>
      </p:sp>
      <p:sp>
        <p:nvSpPr>
          <p:cNvPr id="16" name="Oval 15"/>
          <p:cNvSpPr/>
          <p:nvPr/>
        </p:nvSpPr>
        <p:spPr>
          <a:xfrm>
            <a:off x="3275837" y="2761488"/>
            <a:ext cx="402335" cy="402336"/>
          </a:xfrm>
          <a:prstGeom prst="ellipse">
            <a:avLst/>
          </a:prstGeom>
          <a:solidFill>
            <a:srgbClr val="FAFCF7"/>
          </a:solidFill>
          <a:ln w="7315">
            <a:solidFill>
              <a:srgbClr val="2E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2413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6B4F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2333" y="3346704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03329"/>
                </a:solidFill>
                <a:latin typeface="Microsoft YaHei"/>
              </a:rPr>
              <a:t>效率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35757" y="3895344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64"/>
                </a:solidFill>
                <a:latin typeface="Microsoft YaHei"/>
              </a:rPr>
              <a:t>实施高回报节能项目</a:t>
            </a:r>
          </a:p>
        </p:txBody>
      </p:sp>
      <p:sp>
        <p:nvSpPr>
          <p:cNvPr id="20" name="Oval 19"/>
          <p:cNvSpPr/>
          <p:nvPr/>
        </p:nvSpPr>
        <p:spPr>
          <a:xfrm>
            <a:off x="5820155" y="2761488"/>
            <a:ext cx="402335" cy="402336"/>
          </a:xfrm>
          <a:prstGeom prst="ellipse">
            <a:avLst/>
          </a:prstGeom>
          <a:solidFill>
            <a:srgbClr val="FAFCF7"/>
          </a:solidFill>
          <a:ln w="7315">
            <a:solidFill>
              <a:srgbClr val="2E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6731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6B4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6651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03329"/>
                </a:solidFill>
                <a:latin typeface="Microsoft YaHei"/>
              </a:rPr>
              <a:t>替代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0075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64"/>
                </a:solidFill>
                <a:latin typeface="Microsoft YaHei"/>
              </a:rPr>
              <a:t>扩大绿色电力和燃料</a:t>
            </a:r>
          </a:p>
        </p:txBody>
      </p:sp>
      <p:sp>
        <p:nvSpPr>
          <p:cNvPr id="24" name="Oval 23"/>
          <p:cNvSpPr/>
          <p:nvPr/>
        </p:nvSpPr>
        <p:spPr>
          <a:xfrm>
            <a:off x="8364473" y="2761488"/>
            <a:ext cx="402335" cy="402336"/>
          </a:xfrm>
          <a:prstGeom prst="ellipse">
            <a:avLst/>
          </a:prstGeom>
          <a:solidFill>
            <a:srgbClr val="FAFCF7"/>
          </a:solidFill>
          <a:ln w="7315">
            <a:solidFill>
              <a:srgbClr val="2E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01049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6B4F"/>
                </a:solidFill>
                <a:latin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60969" y="3346704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03329"/>
                </a:solidFill>
                <a:latin typeface="Microsoft YaHei"/>
              </a:rPr>
              <a:t>协同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4393" y="3895344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64"/>
                </a:solidFill>
                <a:latin typeface="Microsoft YaHei"/>
              </a:rPr>
              <a:t>推动重点供应商改进</a:t>
            </a:r>
          </a:p>
        </p:txBody>
      </p:sp>
      <p:sp>
        <p:nvSpPr>
          <p:cNvPr id="28" name="Oval 27"/>
          <p:cNvSpPr/>
          <p:nvPr/>
        </p:nvSpPr>
        <p:spPr>
          <a:xfrm>
            <a:off x="10908791" y="2761488"/>
            <a:ext cx="402335" cy="402336"/>
          </a:xfrm>
          <a:prstGeom prst="ellipse">
            <a:avLst/>
          </a:prstGeom>
          <a:solidFill>
            <a:srgbClr val="FAFCF7"/>
          </a:solidFill>
          <a:ln w="7315">
            <a:solidFill>
              <a:srgbClr val="2E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45367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6B4F"/>
                </a:solidFill>
                <a:latin typeface="Microsoft YaHe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05287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03329"/>
                </a:solidFill>
                <a:latin typeface="Microsoft YaHei"/>
              </a:rPr>
              <a:t>净零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68711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64"/>
                </a:solidFill>
                <a:latin typeface="Microsoft YaHei"/>
              </a:rPr>
              <a:t>处理剩余难减排放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32519" y="2542032"/>
            <a:ext cx="1828799" cy="182880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83879" y="1993391"/>
            <a:ext cx="2926079" cy="292608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35239" y="1444751"/>
            <a:ext cx="4023359" cy="402336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2063" y="256032"/>
            <a:ext cx="438911" cy="438912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2999" y="329184"/>
            <a:ext cx="27431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6B4F"/>
                </a:solidFill>
                <a:latin typeface="Microsoft YaHei"/>
              </a:rPr>
              <a:t>交付计划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786384"/>
            <a:ext cx="102412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03329"/>
                </a:solidFill>
                <a:latin typeface="Microsoft YaHei UI"/>
              </a:rPr>
              <a:t>工作包、责任人与时间窗口已经对齐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F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06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064"/>
                </a:solidFill>
                <a:latin typeface="Microsoft YaHei"/>
              </a:rPr>
              <a:t>03 / 12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79" y="1463040"/>
          <a:ext cx="1092707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1077"/>
                <a:gridCol w="3213847"/>
                <a:gridCol w="2571077"/>
                <a:gridCol w="2571077"/>
              </a:tblGrid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EF3E9"/>
                          </a:solidFill>
                          <a:latin typeface="Microsoft YaHei"/>
                        </a:rPr>
                        <a:t>工作包</a:t>
                      </a:r>
                    </a:p>
                  </a:txBody>
                  <a:tcPr marL="91440" marR="91440" marT="54864" marB="54864" anchor="ctr"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EF3E9"/>
                          </a:solidFill>
                          <a:latin typeface="Microsoft YaHei"/>
                        </a:rPr>
                        <a:t>核心交付</a:t>
                      </a:r>
                    </a:p>
                  </a:txBody>
                  <a:tcPr marL="91440" marR="91440" marT="54864" marB="54864" anchor="ctr"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EF3E9"/>
                          </a:solidFill>
                          <a:latin typeface="Microsoft YaHei"/>
                        </a:rPr>
                        <a:t>责任角色</a:t>
                      </a:r>
                    </a:p>
                  </a:txBody>
                  <a:tcPr marL="91440" marR="91440" marT="54864" marB="54864" anchor="ctr"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EF3E9"/>
                          </a:solidFill>
                          <a:latin typeface="Microsoft YaHei"/>
                        </a:rPr>
                        <a:t>完成窗口</a:t>
                      </a:r>
                    </a:p>
                  </a:txBody>
                  <a:tcPr marL="91440" marR="91440" marT="54864" marB="54864" anchor="ctr">
                    <a:solidFill>
                      <a:srgbClr val="2E6B4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3329"/>
                          </a:solidFill>
                          <a:latin typeface="Microsoft YaHei"/>
                        </a:rPr>
                        <a:t>基线</a:t>
                      </a:r>
                    </a:p>
                  </a:txBody>
                  <a:tcPr marL="91440" marR="91440" marT="54864" marB="54864" anchor="ctr">
                    <a:solidFill>
                      <a:srgbClr val="FAF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329"/>
                          </a:solidFill>
                          <a:latin typeface="Microsoft YaHei"/>
                        </a:rPr>
                        <a:t>完成组织与产品碳盘查</a:t>
                      </a:r>
                    </a:p>
                  </a:txBody>
                  <a:tcPr marL="91440" marR="91440" marT="54864" marB="54864" anchor="ctr">
                    <a:solidFill>
                      <a:srgbClr val="FAF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329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AF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329"/>
                          </a:solidFill>
                          <a:latin typeface="Microsoft YaHei"/>
                        </a:rPr>
                        <a:t>T+2 周</a:t>
                      </a:r>
                    </a:p>
                  </a:txBody>
                  <a:tcPr marL="91440" marR="91440" marT="54864" marB="54864" anchor="ctr">
                    <a:solidFill>
                      <a:srgbClr val="FAFCF7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3329"/>
                          </a:solidFill>
                          <a:latin typeface="Microsoft YaHei"/>
                        </a:rPr>
                        <a:t>效率</a:t>
                      </a:r>
                    </a:p>
                  </a:txBody>
                  <a:tcPr marL="91440" marR="91440" marT="54864" marB="54864" anchor="ctr">
                    <a:solidFill>
                      <a:srgbClr val="EE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329"/>
                          </a:solidFill>
                          <a:latin typeface="Microsoft YaHei"/>
                        </a:rPr>
                        <a:t>实施高回报节能项目</a:t>
                      </a:r>
                    </a:p>
                  </a:txBody>
                  <a:tcPr marL="91440" marR="91440" marT="54864" marB="54864" anchor="ctr">
                    <a:solidFill>
                      <a:srgbClr val="EE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329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EE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329"/>
                          </a:solidFill>
                          <a:latin typeface="Microsoft YaHei"/>
                        </a:rPr>
                        <a:t>T+4 周</a:t>
                      </a:r>
                    </a:p>
                  </a:txBody>
                  <a:tcPr marL="91440" marR="91440" marT="54864" marB="54864" anchor="ctr">
                    <a:solidFill>
                      <a:srgbClr val="EEF3E9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3329"/>
                          </a:solidFill>
                          <a:latin typeface="Microsoft YaHei"/>
                        </a:rPr>
                        <a:t>替代</a:t>
                      </a:r>
                    </a:p>
                  </a:txBody>
                  <a:tcPr marL="91440" marR="91440" marT="54864" marB="54864" anchor="ctr">
                    <a:solidFill>
                      <a:srgbClr val="FAF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329"/>
                          </a:solidFill>
                          <a:latin typeface="Microsoft YaHei"/>
                        </a:rPr>
                        <a:t>扩大绿色电力和燃料</a:t>
                      </a:r>
                    </a:p>
                  </a:txBody>
                  <a:tcPr marL="91440" marR="91440" marT="54864" marB="54864" anchor="ctr">
                    <a:solidFill>
                      <a:srgbClr val="FAF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329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AF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329"/>
                          </a:solidFill>
                          <a:latin typeface="Microsoft YaHei"/>
                        </a:rPr>
                        <a:t>T+6 周</a:t>
                      </a:r>
                    </a:p>
                  </a:txBody>
                  <a:tcPr marL="91440" marR="91440" marT="54864" marB="54864" anchor="ctr">
                    <a:solidFill>
                      <a:srgbClr val="FAFCF7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3329"/>
                          </a:solidFill>
                          <a:latin typeface="Microsoft YaHei"/>
                        </a:rPr>
                        <a:t>协同</a:t>
                      </a:r>
                    </a:p>
                  </a:txBody>
                  <a:tcPr marL="91440" marR="91440" marT="54864" marB="54864" anchor="ctr">
                    <a:solidFill>
                      <a:srgbClr val="EE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329"/>
                          </a:solidFill>
                          <a:latin typeface="Microsoft YaHei"/>
                        </a:rPr>
                        <a:t>推动重点供应商改进</a:t>
                      </a:r>
                    </a:p>
                  </a:txBody>
                  <a:tcPr marL="91440" marR="91440" marT="54864" marB="54864" anchor="ctr">
                    <a:solidFill>
                      <a:srgbClr val="EE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329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EE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329"/>
                          </a:solidFill>
                          <a:latin typeface="Microsoft YaHei"/>
                        </a:rPr>
                        <a:t>T+8 周</a:t>
                      </a:r>
                    </a:p>
                  </a:txBody>
                  <a:tcPr marL="91440" marR="91440" marT="54864" marB="54864" anchor="ctr">
                    <a:solidFill>
                      <a:srgbClr val="EEF3E9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3329"/>
                          </a:solidFill>
                          <a:latin typeface="Microsoft YaHei"/>
                        </a:rPr>
                        <a:t>净零</a:t>
                      </a:r>
                    </a:p>
                  </a:txBody>
                  <a:tcPr marL="91440" marR="91440" marT="54864" marB="54864" anchor="ctr">
                    <a:solidFill>
                      <a:srgbClr val="FAF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329"/>
                          </a:solidFill>
                          <a:latin typeface="Microsoft YaHei"/>
                        </a:rPr>
                        <a:t>处理剩余难减排放</a:t>
                      </a:r>
                    </a:p>
                  </a:txBody>
                  <a:tcPr marL="91440" marR="91440" marT="54864" marB="54864" anchor="ctr">
                    <a:solidFill>
                      <a:srgbClr val="FAF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329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AF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3329"/>
                          </a:solidFill>
                          <a:latin typeface="Microsoft YaHei"/>
                        </a:rPr>
                        <a:t>T+10 周</a:t>
                      </a:r>
                    </a:p>
                  </a:txBody>
                  <a:tcPr marL="91440" marR="91440" marT="54864" marB="54864" anchor="ctr">
                    <a:solidFill>
                      <a:srgbClr val="FA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32519" y="2542032"/>
            <a:ext cx="1828799" cy="182880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83879" y="1993391"/>
            <a:ext cx="2926079" cy="292608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35239" y="1444751"/>
            <a:ext cx="4023359" cy="402336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2063" y="256032"/>
            <a:ext cx="438911" cy="438912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2999" y="329184"/>
            <a:ext cx="27431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6B4F"/>
                </a:solidFill>
                <a:latin typeface="Microsoft YaHei"/>
              </a:rPr>
              <a:t>核心判断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786384"/>
            <a:ext cx="102412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03329"/>
                </a:solidFill>
                <a:latin typeface="Microsoft YaHei UI"/>
              </a:rPr>
              <a:t>优先投资能源效率和供应链协同，建立可审计碳数据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F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06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064"/>
                </a:solidFill>
                <a:latin typeface="Microsoft YaHei"/>
              </a:rPr>
              <a:t>04 /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5" y="1828800"/>
            <a:ext cx="100583" cy="34290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19" y="1874519"/>
            <a:ext cx="9601199" cy="2286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03329"/>
                </a:solidFill>
                <a:latin typeface="Microsoft YaHei UI"/>
              </a:rPr>
              <a:t>优先投资能源效率和供应链协同，建立可审计碳数据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1" y="4553712"/>
            <a:ext cx="877823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64"/>
                </a:solidFill>
                <a:latin typeface="Microsoft YaHei"/>
              </a:rPr>
              <a:t>绿色电力占比  ·  供应商覆盖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32519" y="2542032"/>
            <a:ext cx="1828799" cy="182880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83879" y="1993391"/>
            <a:ext cx="2926079" cy="292608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35239" y="1444751"/>
            <a:ext cx="4023359" cy="402336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2063" y="256032"/>
            <a:ext cx="438911" cy="438912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2999" y="329184"/>
            <a:ext cx="27431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6B4F"/>
                </a:solidFill>
                <a:latin typeface="Microsoft YaHei"/>
              </a:rPr>
              <a:t>导航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786384"/>
            <a:ext cx="102412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03329"/>
                </a:solidFill>
                <a:latin typeface="Microsoft YaHei UI"/>
              </a:rPr>
              <a:t>本次汇报回答四个关键问题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F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06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064"/>
                </a:solidFill>
                <a:latin typeface="Microsoft YaHei"/>
              </a:rPr>
              <a:t>05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E6B4F"/>
                </a:solidFill>
                <a:latin typeface="Microsoft YaHei UI"/>
              </a:rPr>
              <a:t>01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08175" y="1865376"/>
            <a:ext cx="4325112" cy="0"/>
          </a:xfrm>
          <a:prstGeom prst="line">
            <a:avLst/>
          </a:prstGeom>
          <a:ln w="12700">
            <a:solidFill>
              <a:srgbClr val="CF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0817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329"/>
                </a:solidFill>
                <a:latin typeface="Microsoft YaHei"/>
              </a:rPr>
              <a:t>为什么现在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17064"/>
                </a:solidFill>
                <a:latin typeface="Microsoft YaHei"/>
              </a:rPr>
              <a:t>背景、变化和机会窗口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E6B4F"/>
                </a:solidFill>
                <a:latin typeface="Microsoft YaHei UI"/>
              </a:rPr>
              <a:t>02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08175" y="2990088"/>
            <a:ext cx="4325112" cy="0"/>
          </a:xfrm>
          <a:prstGeom prst="line">
            <a:avLst/>
          </a:prstGeom>
          <a:ln w="12700">
            <a:solidFill>
              <a:srgbClr val="CF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817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329"/>
                </a:solidFill>
                <a:latin typeface="Microsoft YaHei"/>
              </a:rPr>
              <a:t>事实说明什么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17064"/>
                </a:solidFill>
                <a:latin typeface="Microsoft YaHei"/>
              </a:rPr>
              <a:t>指标、证据和关键差异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E6B4F"/>
                </a:solidFill>
                <a:latin typeface="Microsoft YaHei UI"/>
              </a:rPr>
              <a:t>03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31735" y="1865376"/>
            <a:ext cx="4325112" cy="0"/>
          </a:xfrm>
          <a:prstGeom prst="line">
            <a:avLst/>
          </a:prstGeom>
          <a:ln w="12700">
            <a:solidFill>
              <a:srgbClr val="CF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03173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329"/>
                </a:solidFill>
                <a:latin typeface="Microsoft YaHei"/>
              </a:rPr>
              <a:t>应该如何选择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173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17064"/>
                </a:solidFill>
                <a:latin typeface="Microsoft YaHei"/>
              </a:rPr>
              <a:t>方案取舍和风险边界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E6B4F"/>
                </a:solidFill>
                <a:latin typeface="Microsoft YaHei UI"/>
              </a:rPr>
              <a:t>04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5" y="2990088"/>
            <a:ext cx="4325112" cy="0"/>
          </a:xfrm>
          <a:prstGeom prst="line">
            <a:avLst/>
          </a:prstGeom>
          <a:ln w="12700">
            <a:solidFill>
              <a:srgbClr val="CF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03173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329"/>
                </a:solidFill>
                <a:latin typeface="Microsoft YaHei"/>
              </a:rPr>
              <a:t>怎样落地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17064"/>
                </a:solidFill>
                <a:latin typeface="Microsoft YaHei"/>
              </a:rPr>
              <a:t>路径、责任和验收标准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32519" y="2542032"/>
            <a:ext cx="1828799" cy="182880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83879" y="1993391"/>
            <a:ext cx="2926079" cy="292608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35239" y="1444751"/>
            <a:ext cx="4023359" cy="402336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2063" y="256032"/>
            <a:ext cx="438911" cy="438912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2999" y="329184"/>
            <a:ext cx="27431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6B4F"/>
                </a:solidFill>
                <a:latin typeface="Microsoft YaHei"/>
              </a:rPr>
              <a:t>关键抓手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786384"/>
            <a:ext cx="102412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03329"/>
                </a:solidFill>
                <a:latin typeface="Microsoft YaHei UI"/>
              </a:rPr>
              <a:t>形成结果需要同时推进四个抓手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F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06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064"/>
                </a:solidFill>
                <a:latin typeface="Microsoft YaHei"/>
              </a:rPr>
              <a:t>06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5" y="1463040"/>
            <a:ext cx="5381243" cy="2121408"/>
          </a:xfrm>
          <a:prstGeom prst="roundRect">
            <a:avLst/>
          </a:prstGeom>
          <a:solidFill>
            <a:srgbClr val="FAFCF7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08091" y="1719072"/>
            <a:ext cx="329183" cy="329184"/>
          </a:xfrm>
          <a:prstGeom prst="ellipse">
            <a:avLst/>
          </a:prstGeom>
          <a:solidFill>
            <a:srgbClr val="C89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3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3329"/>
                </a:solidFill>
                <a:latin typeface="Microsoft YaHei"/>
              </a:rPr>
              <a:t>能源效率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3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17064"/>
                </a:solidFill>
                <a:latin typeface="Microsoft YaHei"/>
              </a:rPr>
              <a:t>设备、工艺和余热系统协同优化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2491" y="1463040"/>
            <a:ext cx="5381243" cy="2121408"/>
          </a:xfrm>
          <a:prstGeom prst="roundRect">
            <a:avLst/>
          </a:prstGeom>
          <a:solidFill>
            <a:srgbClr val="FAFCF7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45367" y="1719072"/>
            <a:ext cx="329183" cy="329184"/>
          </a:xfrm>
          <a:prstGeom prst="ellipse">
            <a:avLst/>
          </a:prstGeom>
          <a:solidFill>
            <a:srgbClr val="C89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5099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3329"/>
                </a:solidFill>
                <a:latin typeface="Microsoft YaHei"/>
              </a:rPr>
              <a:t>绿色电力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099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17064"/>
                </a:solidFill>
                <a:latin typeface="Microsoft YaHei"/>
              </a:rPr>
              <a:t>自建、交易和长期协议组合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5" y="3840479"/>
            <a:ext cx="5381243" cy="2121408"/>
          </a:xfrm>
          <a:prstGeom prst="roundRect">
            <a:avLst/>
          </a:prstGeom>
          <a:solidFill>
            <a:srgbClr val="FAFCF7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08091" y="4096511"/>
            <a:ext cx="329183" cy="329184"/>
          </a:xfrm>
          <a:prstGeom prst="ellipse">
            <a:avLst/>
          </a:prstGeom>
          <a:solidFill>
            <a:srgbClr val="C89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3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3329"/>
                </a:solidFill>
                <a:latin typeface="Microsoft YaHei"/>
              </a:rPr>
              <a:t>供应链减排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3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17064"/>
                </a:solidFill>
                <a:latin typeface="Microsoft YaHei"/>
              </a:rPr>
              <a:t>重点材料建立联合目标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2491" y="3840479"/>
            <a:ext cx="5381243" cy="2121408"/>
          </a:xfrm>
          <a:prstGeom prst="roundRect">
            <a:avLst/>
          </a:prstGeom>
          <a:solidFill>
            <a:srgbClr val="FAFCF7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45367" y="4096511"/>
            <a:ext cx="329183" cy="329184"/>
          </a:xfrm>
          <a:prstGeom prst="ellipse">
            <a:avLst/>
          </a:prstGeom>
          <a:solidFill>
            <a:srgbClr val="C89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5099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3329"/>
                </a:solidFill>
                <a:latin typeface="Microsoft YaHei"/>
              </a:rPr>
              <a:t>低碳产品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5099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17064"/>
                </a:solidFill>
                <a:latin typeface="Microsoft YaHei"/>
              </a:rPr>
              <a:t>把全生命周期影响纳入设计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32519" y="2542032"/>
            <a:ext cx="1828799" cy="182880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83879" y="1993391"/>
            <a:ext cx="2926079" cy="292608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35239" y="1444751"/>
            <a:ext cx="4023359" cy="402336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2063" y="256032"/>
            <a:ext cx="438911" cy="438912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2999" y="329184"/>
            <a:ext cx="27431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6B4F"/>
                </a:solidFill>
                <a:latin typeface="Microsoft YaHei"/>
              </a:rPr>
              <a:t>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786384"/>
            <a:ext cx="102412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03329"/>
                </a:solidFill>
                <a:latin typeface="Microsoft YaHei UI"/>
              </a:rPr>
              <a:t>数据表明差异集中在少数关键维度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F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06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064"/>
                </a:solidFill>
                <a:latin typeface="Microsoft YaHei"/>
              </a:rPr>
              <a:t>07 / 12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58367" y="1463040"/>
          <a:ext cx="7635239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595359" y="1554480"/>
            <a:ext cx="22402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6B4F"/>
                </a:solidFill>
                <a:latin typeface="Microsoft YaHei"/>
              </a:rPr>
              <a:t>核心洞察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1" y="2121408"/>
            <a:ext cx="2514599" cy="2148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03329"/>
                </a:solidFill>
                <a:latin typeface="Microsoft YaHei"/>
              </a:rPr>
              <a:t>近期减排来自能源和工艺，长期空间更多在供应链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59" y="4864608"/>
            <a:ext cx="2331719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64"/>
                </a:solidFill>
                <a:latin typeface="Microsoft YaHei"/>
              </a:rPr>
              <a:t>来源：模板演示数据，仅用于版式验证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32519" y="2542032"/>
            <a:ext cx="1828799" cy="182880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83879" y="1993391"/>
            <a:ext cx="2926079" cy="292608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35239" y="1444751"/>
            <a:ext cx="4023359" cy="402336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2063" y="256032"/>
            <a:ext cx="438911" cy="438912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2999" y="329184"/>
            <a:ext cx="27431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6B4F"/>
                </a:solidFill>
                <a:latin typeface="Microsoft YaHei"/>
              </a:rPr>
              <a:t>风险管理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786384"/>
            <a:ext cx="102412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03329"/>
                </a:solidFill>
                <a:latin typeface="Microsoft YaHei UI"/>
              </a:rPr>
              <a:t>四类风险均已设置前置缓释动作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F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06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064"/>
                </a:solidFill>
                <a:latin typeface="Microsoft YaHei"/>
              </a:rPr>
              <a:t>08 /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7" y="1463040"/>
            <a:ext cx="5230367" cy="1938528"/>
          </a:xfrm>
          <a:prstGeom prst="rect">
            <a:avLst/>
          </a:prstGeom>
          <a:solidFill>
            <a:srgbClr val="FAFCF7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3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6B4F"/>
                </a:solidFill>
                <a:latin typeface="Microsoft YaHei"/>
              </a:rPr>
              <a:t>数据缺口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3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17064"/>
                </a:solidFill>
                <a:latin typeface="Microsoft YaHei"/>
              </a:rPr>
              <a:t>建立审计证据链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7" y="1463040"/>
            <a:ext cx="5230367" cy="1938528"/>
          </a:xfrm>
          <a:prstGeom prst="rect">
            <a:avLst/>
          </a:prstGeom>
          <a:solidFill>
            <a:srgbClr val="FAFCF7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7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3329"/>
                </a:solidFill>
                <a:latin typeface="Microsoft YaHei"/>
              </a:rPr>
              <a:t>能源价格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7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17064"/>
                </a:solidFill>
                <a:latin typeface="Microsoft YaHei"/>
              </a:rPr>
              <a:t>组合锁定长期成本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7" y="3675887"/>
            <a:ext cx="5230367" cy="1938528"/>
          </a:xfrm>
          <a:prstGeom prst="rect">
            <a:avLst/>
          </a:prstGeom>
          <a:solidFill>
            <a:srgbClr val="FAFCF7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3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3329"/>
                </a:solidFill>
                <a:latin typeface="Microsoft YaHei"/>
              </a:rPr>
              <a:t>供应商能力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3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17064"/>
                </a:solidFill>
                <a:latin typeface="Microsoft YaHei"/>
              </a:rPr>
              <a:t>提供工具和联合项目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7" y="3675887"/>
            <a:ext cx="5230367" cy="1938528"/>
          </a:xfrm>
          <a:prstGeom prst="rect">
            <a:avLst/>
          </a:prstGeom>
          <a:solidFill>
            <a:srgbClr val="FAFCF7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7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6B4F"/>
                </a:solidFill>
                <a:latin typeface="Microsoft YaHei"/>
              </a:rPr>
              <a:t>绿色溢价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7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17064"/>
                </a:solidFill>
                <a:latin typeface="Microsoft YaHei"/>
              </a:rPr>
              <a:t>同步开展客户价值验证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32519" y="2542032"/>
            <a:ext cx="1828799" cy="182880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83879" y="1993391"/>
            <a:ext cx="2926079" cy="292608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35239" y="1444751"/>
            <a:ext cx="4023359" cy="402336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2063" y="256032"/>
            <a:ext cx="438911" cy="438912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2999" y="329184"/>
            <a:ext cx="27431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6B4F"/>
                </a:solidFill>
                <a:latin typeface="Microsoft YaHei"/>
              </a:rPr>
              <a:t>路径选择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786384"/>
            <a:ext cx="102412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03329"/>
                </a:solidFill>
                <a:latin typeface="Microsoft YaHei UI"/>
              </a:rPr>
              <a:t>两种路径的价值与代价必须同时看清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F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06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064"/>
                </a:solidFill>
                <a:latin typeface="Microsoft YaHei"/>
              </a:rPr>
              <a:t>09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1" y="1463040"/>
            <a:ext cx="5358383" cy="4462272"/>
          </a:xfrm>
          <a:prstGeom prst="roundRect">
            <a:avLst/>
          </a:prstGeom>
          <a:solidFill>
            <a:srgbClr val="FAFCF7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48071" y="1755648"/>
            <a:ext cx="384047" cy="384048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1" y="1463040"/>
            <a:ext cx="5358383" cy="9144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E6B4F"/>
                </a:solidFill>
                <a:latin typeface="Microsoft YaHei"/>
              </a:rPr>
              <a:t>购买抵消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E6B4F"/>
                </a:solidFill>
                <a:latin typeface="Microsoft YaHe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59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329"/>
                </a:solidFill>
                <a:latin typeface="Microsoft YaHei"/>
              </a:rPr>
              <a:t>实施速度快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E6B4F"/>
                </a:solidFill>
                <a:latin typeface="Microsoft Ya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59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329"/>
                </a:solidFill>
                <a:latin typeface="Microsoft YaHei"/>
              </a:rPr>
              <a:t>初始投入低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E6B4F"/>
                </a:solidFill>
                <a:latin typeface="Microsoft YaHe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59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329"/>
                </a:solidFill>
                <a:latin typeface="Microsoft YaHei"/>
              </a:rPr>
              <a:t>减排真实性弱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E6B4F"/>
                </a:solidFill>
                <a:latin typeface="Microsoft YaHe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59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329"/>
                </a:solidFill>
                <a:latin typeface="Microsoft YaHei"/>
              </a:rPr>
              <a:t>长期成本不确定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1" y="1463040"/>
            <a:ext cx="5358383" cy="4462272"/>
          </a:xfrm>
          <a:prstGeom prst="roundRect">
            <a:avLst/>
          </a:prstGeom>
          <a:solidFill>
            <a:srgbClr val="FAFCF7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725911" y="1755648"/>
            <a:ext cx="384047" cy="384048"/>
          </a:xfrm>
          <a:prstGeom prst="ellipse">
            <a:avLst/>
          </a:prstGeom>
          <a:solidFill>
            <a:srgbClr val="C89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1" y="1463040"/>
            <a:ext cx="5358383" cy="91440"/>
          </a:xfrm>
          <a:prstGeom prst="rect">
            <a:avLst/>
          </a:prstGeom>
          <a:solidFill>
            <a:srgbClr val="C89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2881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C89B4B"/>
                </a:solidFill>
                <a:latin typeface="Microsoft YaHei"/>
              </a:rPr>
              <a:t>运营减排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710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89B4B"/>
                </a:solidFill>
                <a:latin typeface="Microsoft YaHe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3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329"/>
                </a:solidFill>
                <a:latin typeface="Microsoft YaHei"/>
              </a:rPr>
              <a:t>形成真实改善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89B4B"/>
                </a:solidFill>
                <a:latin typeface="Microsoft YaHe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3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329"/>
                </a:solidFill>
                <a:latin typeface="Microsoft YaHei"/>
              </a:rPr>
              <a:t>带来效率收益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4710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89B4B"/>
                </a:solidFill>
                <a:latin typeface="Microsoft YaHe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3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329"/>
                </a:solidFill>
                <a:latin typeface="Microsoft YaHei"/>
              </a:rPr>
              <a:t>改造周期长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89B4B"/>
                </a:solidFill>
                <a:latin typeface="Microsoft YaHe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3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329"/>
                </a:solidFill>
                <a:latin typeface="Microsoft YaHei"/>
              </a:rPr>
              <a:t>需要跨组织协同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32519" y="2542032"/>
            <a:ext cx="1828799" cy="182880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83879" y="1993391"/>
            <a:ext cx="2926079" cy="292608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35239" y="1444751"/>
            <a:ext cx="4023359" cy="402336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2063" y="256032"/>
            <a:ext cx="438911" cy="438912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2999" y="329184"/>
            <a:ext cx="27431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6B4F"/>
                </a:solidFill>
                <a:latin typeface="Microsoft YaHei"/>
              </a:rPr>
              <a:t>能力组合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786384"/>
            <a:ext cx="102412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03329"/>
                </a:solidFill>
                <a:latin typeface="Microsoft YaHei UI"/>
              </a:rPr>
              <a:t>业务结果与能力建设必须同步发生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F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06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064"/>
                </a:solidFill>
                <a:latin typeface="Microsoft YaHei"/>
              </a:rPr>
              <a:t>10 /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1" y="1572768"/>
            <a:ext cx="5230367" cy="73152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1" y="1792224"/>
            <a:ext cx="5047487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E6B4F"/>
                </a:solidFill>
                <a:latin typeface="Microsoft YaHei"/>
              </a:rPr>
              <a:t>业务侧负责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79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E6B4F"/>
                </a:solidFill>
                <a:latin typeface="Microsoft YaHe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3" y="2414016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329"/>
                </a:solidFill>
                <a:latin typeface="Microsoft YaHei"/>
              </a:rPr>
              <a:t>能源效率：设备、工艺和余热系统协同优化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E6B4F"/>
                </a:solidFill>
                <a:latin typeface="Microsoft YaHe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3" y="3163824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329"/>
                </a:solidFill>
                <a:latin typeface="Microsoft YaHei"/>
              </a:rPr>
              <a:t>绿色电力：自建、交易和长期协议组合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79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E6B4F"/>
                </a:solidFill>
                <a:latin typeface="Microsoft YaHe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3" y="3913632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329"/>
                </a:solidFill>
                <a:latin typeface="Microsoft YaHei"/>
              </a:rPr>
              <a:t>供应链减排：重点材料建立联合目标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E6B4F"/>
                </a:solidFill>
                <a:latin typeface="Microsoft YaHe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3" y="4663440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329"/>
                </a:solidFill>
                <a:latin typeface="Microsoft YaHei"/>
              </a:rPr>
              <a:t>低碳产品：把全生命周期影响纳入设计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7" y="1572768"/>
            <a:ext cx="5303519" cy="73152"/>
          </a:xfrm>
          <a:prstGeom prst="rect">
            <a:avLst/>
          </a:prstGeom>
          <a:solidFill>
            <a:srgbClr val="C89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7" y="1792224"/>
            <a:ext cx="51206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9B4B"/>
                </a:solidFill>
                <a:latin typeface="Microsoft YaHei"/>
              </a:rPr>
              <a:t>平台与职能侧负责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495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89B4B"/>
                </a:solidFill>
                <a:latin typeface="Microsoft YaHe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2414016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329"/>
                </a:solidFill>
                <a:latin typeface="Microsoft YaHei"/>
              </a:rPr>
              <a:t>数据缺口：建立审计证据链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5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89B4B"/>
                </a:solidFill>
                <a:latin typeface="Microsoft YaHe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3163824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329"/>
                </a:solidFill>
                <a:latin typeface="Microsoft YaHei"/>
              </a:rPr>
              <a:t>能源价格：组合锁定长期成本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5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89B4B"/>
                </a:solidFill>
                <a:latin typeface="Microsoft YaHe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3913632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329"/>
                </a:solidFill>
                <a:latin typeface="Microsoft YaHei"/>
              </a:rPr>
              <a:t>供应商能力：提供工具和联合项目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5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89B4B"/>
                </a:solidFill>
                <a:latin typeface="Microsoft YaHe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79" y="4663440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329"/>
                </a:solidFill>
                <a:latin typeface="Microsoft YaHei"/>
              </a:rPr>
              <a:t>绿色溢价：同步开展客户价值验证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32519" y="2542032"/>
            <a:ext cx="1828799" cy="182880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83879" y="1993391"/>
            <a:ext cx="2926079" cy="292608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35239" y="1444751"/>
            <a:ext cx="4023359" cy="402336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2063" y="256032"/>
            <a:ext cx="438911" cy="438912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2999" y="329184"/>
            <a:ext cx="27431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6B4F"/>
                </a:solidFill>
                <a:latin typeface="Microsoft YaHei"/>
              </a:rPr>
              <a:t>行动清单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786384"/>
            <a:ext cx="102412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03329"/>
                </a:solidFill>
                <a:latin typeface="Microsoft YaHei UI"/>
              </a:rPr>
              <a:t>未来八周的行动已拆解到责任和验收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F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06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064"/>
                </a:solidFill>
                <a:latin typeface="Microsoft YaHei"/>
              </a:rPr>
              <a:t>11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1" y="148132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6B4F"/>
                </a:solidFill>
                <a:latin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1" y="14630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329"/>
                </a:solidFill>
                <a:latin typeface="Microsoft YaHei"/>
              </a:rPr>
              <a:t>确认能源效率的负责人、交付物和完成标准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53311" y="1984248"/>
            <a:ext cx="9573768" cy="0"/>
          </a:xfrm>
          <a:prstGeom prst="line">
            <a:avLst/>
          </a:prstGeom>
          <a:ln w="9525">
            <a:solidFill>
              <a:srgbClr val="CF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3231" y="20756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6B4F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1" y="20574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329"/>
                </a:solidFill>
                <a:latin typeface="Microsoft YaHei"/>
              </a:rPr>
              <a:t>确认绿色电力的负责人、交付物和完成标准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53311" y="2578608"/>
            <a:ext cx="9573768" cy="0"/>
          </a:xfrm>
          <a:prstGeom prst="line">
            <a:avLst/>
          </a:prstGeom>
          <a:ln w="9525">
            <a:solidFill>
              <a:srgbClr val="CF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3231" y="26700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6B4F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1" y="26517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329"/>
                </a:solidFill>
                <a:latin typeface="Microsoft YaHei"/>
              </a:rPr>
              <a:t>确认供应链减排的负责人、交付物和完成标准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53311" y="3172968"/>
            <a:ext cx="9573768" cy="0"/>
          </a:xfrm>
          <a:prstGeom prst="line">
            <a:avLst/>
          </a:prstGeom>
          <a:ln w="9525">
            <a:solidFill>
              <a:srgbClr val="CF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1" y="326440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6B4F"/>
                </a:solidFill>
                <a:latin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1" y="324612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329"/>
                </a:solidFill>
                <a:latin typeface="Microsoft YaHei"/>
              </a:rPr>
              <a:t>确认低碳产品的负责人、交付物和完成标准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53311" y="3767328"/>
            <a:ext cx="9573768" cy="0"/>
          </a:xfrm>
          <a:prstGeom prst="line">
            <a:avLst/>
          </a:prstGeom>
          <a:ln w="9525">
            <a:solidFill>
              <a:srgbClr val="CF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13231" y="385876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6B4F"/>
                </a:solidFill>
                <a:latin typeface="Microsoft Ya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1" y="384048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329"/>
                </a:solidFill>
                <a:latin typeface="Microsoft YaHei"/>
              </a:rPr>
              <a:t>完成基线并关闭阶段评审问题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353311" y="4361688"/>
            <a:ext cx="9573768" cy="0"/>
          </a:xfrm>
          <a:prstGeom prst="line">
            <a:avLst/>
          </a:prstGeom>
          <a:ln w="9525">
            <a:solidFill>
              <a:srgbClr val="CF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3231" y="4453127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6B4F"/>
                </a:solidFill>
                <a:latin typeface="Microsoft YaHe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1" y="44348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329"/>
                </a:solidFill>
                <a:latin typeface="Microsoft YaHei"/>
              </a:rPr>
              <a:t>完成效率并关闭阶段评审问题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353311" y="4956048"/>
            <a:ext cx="9573768" cy="0"/>
          </a:xfrm>
          <a:prstGeom prst="line">
            <a:avLst/>
          </a:prstGeom>
          <a:ln w="9525">
            <a:solidFill>
              <a:srgbClr val="CF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3231" y="50474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6B4F"/>
                </a:solidFill>
                <a:latin typeface="Microsoft YaHei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1" y="50292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329"/>
                </a:solidFill>
                <a:latin typeface="Microsoft YaHei"/>
              </a:rPr>
              <a:t>完成替代并关闭阶段评审问题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353311" y="5550408"/>
            <a:ext cx="9573768" cy="0"/>
          </a:xfrm>
          <a:prstGeom prst="line">
            <a:avLst/>
          </a:prstGeom>
          <a:ln w="9525">
            <a:solidFill>
              <a:srgbClr val="CF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13231" y="56418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6B4F"/>
                </a:solidFill>
                <a:latin typeface="Microsoft YaHei"/>
              </a:rP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3311" y="56235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329"/>
                </a:solidFill>
                <a:latin typeface="Microsoft YaHei"/>
              </a:rPr>
              <a:t>完成协同并关闭阶段评审问题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32519" y="2542032"/>
            <a:ext cx="1828799" cy="182880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83879" y="1993391"/>
            <a:ext cx="2926079" cy="292608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35239" y="1444751"/>
            <a:ext cx="4023359" cy="402336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2063" y="256032"/>
            <a:ext cx="438911" cy="438912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2999" y="329184"/>
            <a:ext cx="27431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6B4F"/>
                </a:solidFill>
                <a:latin typeface="Microsoft YaHei"/>
              </a:rPr>
              <a:t>共同原则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786384"/>
            <a:ext cx="102412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03329"/>
                </a:solidFill>
                <a:latin typeface="Microsoft YaHei UI"/>
              </a:rPr>
              <a:t>团队需要坚持一条简单原则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F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06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064"/>
                </a:solidFill>
                <a:latin typeface="Microsoft YaHei"/>
              </a:rPr>
              <a:t>12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" y="1572768"/>
            <a:ext cx="91439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2E6B4F"/>
                </a:solidFill>
                <a:latin typeface="Microsoft YaHei UI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7" y="1901952"/>
            <a:ext cx="9006839" cy="22402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03329"/>
                </a:solidFill>
                <a:latin typeface="Microsoft YaHei UI"/>
              </a:rPr>
              <a:t>净零不是一份披露材料，而是一条重构运营和产品的长期路径。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17319" y="4617720"/>
            <a:ext cx="1371600" cy="0"/>
          </a:xfrm>
          <a:prstGeom prst="line">
            <a:avLst/>
          </a:prstGeom>
          <a:ln w="38100">
            <a:solidFill>
              <a:srgbClr val="2E6B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99231" y="4443984"/>
            <a:ext cx="47548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17064"/>
                </a:solidFill>
                <a:latin typeface="Microsoft YaHei"/>
              </a:rPr>
              <a:t>— 项目核心团队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32519" y="2542032"/>
            <a:ext cx="1828799" cy="182880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83879" y="1993391"/>
            <a:ext cx="2926079" cy="292608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35239" y="1444751"/>
            <a:ext cx="4023359" cy="4023360"/>
          </a:xfrm>
          <a:prstGeom prst="ellipse">
            <a:avLst/>
          </a:prstGeom>
          <a:solidFill>
            <a:srgbClr val="EEF3E9"/>
          </a:solidFill>
          <a:ln w="7315">
            <a:solidFill>
              <a:srgbClr val="CF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06639" y="0"/>
            <a:ext cx="4782311" cy="6858000"/>
          </a:xfrm>
          <a:prstGeom prst="roundRect">
            <a:avLst/>
          </a:prstGeom>
          <a:solidFill>
            <a:srgbClr val="FA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75319" y="658368"/>
            <a:ext cx="3200399" cy="3200400"/>
          </a:xfrm>
          <a:prstGeom prst="ellipse">
            <a:avLst/>
          </a:prstGeom>
          <a:solidFill>
            <a:srgbClr val="EEF3E9"/>
          </a:solidFill>
          <a:ln w="7315">
            <a:solidFill>
              <a:srgbClr val="2E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32519" y="1115568"/>
            <a:ext cx="2285999" cy="2286000"/>
          </a:xfrm>
          <a:prstGeom prst="ellipse">
            <a:avLst/>
          </a:prstGeom>
          <a:solidFill>
            <a:srgbClr val="EEF3E9"/>
          </a:solidFill>
          <a:ln w="7315">
            <a:solidFill>
              <a:srgbClr val="2E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89719" y="1572768"/>
            <a:ext cx="1371599" cy="1371600"/>
          </a:xfrm>
          <a:prstGeom prst="ellipse">
            <a:avLst/>
          </a:prstGeom>
          <a:solidFill>
            <a:srgbClr val="EEF3E9"/>
          </a:solidFill>
          <a:ln w="7315">
            <a:solidFill>
              <a:srgbClr val="2E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" y="1901952"/>
            <a:ext cx="6172199" cy="1325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03329"/>
                </a:solidFill>
                <a:latin typeface="Microsoft YaHei UI"/>
              </a:rPr>
              <a:t>优先投资能源效率和供应链协同，建立可审计碳数据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3" y="4078224"/>
            <a:ext cx="603503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17064"/>
                </a:solidFill>
                <a:latin typeface="Microsoft YaHei"/>
              </a:rPr>
              <a:t>下一步：确认责任人、启动首个阶段并按周复盘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3" y="614476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17064"/>
                </a:solidFill>
                <a:latin typeface="Microsoft YaHei"/>
              </a:rPr>
              <a:t>ESG 自然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制造集团 2030 净零路线</dc:title>
  <dc:subject>由企业 AI 工作平台基于语义页面角色与自适应模板生成</dc:subject>
  <dc:creator/>
  <cp:keywords>template=esg-canopy;layout_family=premium;schema=presentation_spec.v2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