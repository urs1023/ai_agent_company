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商业综合体</c:v>
                </c:pt>
              </c:strCache>
            </c:strRef>
          </c:tx>
          <c:spPr>
            <a:solidFill>
              <a:srgbClr val="F05A3E"/>
            </a:solidFill>
          </c:spPr>
          <c:cat>
            <c:strRef>
              <c:f>Sheet1!$A$2:$A$5</c:f>
              <c:strCache>
                <c:ptCount val="4"/>
                <c:pt idx="0">
                  <c:v>工作日白天</c:v>
                </c:pt>
                <c:pt idx="1">
                  <c:v>工作日夜间</c:v>
                </c:pt>
                <c:pt idx="2">
                  <c:v>周末白天</c:v>
                </c:pt>
                <c:pt idx="3">
                  <c:v>周末夜间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71.0</c:v>
                </c:pt>
                <c:pt idx="2">
                  <c:v>88.0</c:v>
                </c:pt>
                <c:pt idx="3">
                  <c:v>96.0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创意社区</c:v>
                </c:pt>
              </c:strCache>
            </c:strRef>
          </c:tx>
          <c:spPr>
            <a:solidFill>
              <a:srgbClr val="D5B26D"/>
            </a:solidFill>
          </c:spPr>
          <c:cat>
            <c:strRef>
              <c:f>Sheet1!$A$2:$A$5</c:f>
              <c:strCache>
                <c:ptCount val="4"/>
                <c:pt idx="0">
                  <c:v>工作日白天</c:v>
                </c:pt>
                <c:pt idx="1">
                  <c:v>工作日夜间</c:v>
                </c:pt>
                <c:pt idx="2">
                  <c:v>周末白天</c:v>
                </c:pt>
                <c:pt idx="3">
                  <c:v>周末夜间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55.0</c:v>
                </c:pt>
                <c:pt idx="1">
                  <c:v>48.0</c:v>
                </c:pt>
                <c:pt idx="2">
                  <c:v>66.0</c:v>
                </c:pt>
                <c:pt idx="3">
                  <c:v>61.0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39383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59" y="1097280"/>
            <a:ext cx="3154679" cy="4434840"/>
          </a:xfrm>
          <a:prstGeom prst="rect">
            <a:avLst/>
          </a:prstGeom>
          <a:solidFill>
            <a:srgbClr val="D5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3" y="126187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F05A3E"/>
                </a:solidFill>
                <a:latin typeface="Microsoft YaHei"/>
              </a:rPr>
              <a:t>影像叙事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1901952"/>
            <a:ext cx="699515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AF7F1"/>
                </a:solidFill>
                <a:latin typeface="Microsoft YaHei UI"/>
              </a:rPr>
              <a:t>一座旧厂房的新生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3" y="4160520"/>
            <a:ext cx="658367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7B0A7"/>
                </a:solidFill>
                <a:latin typeface="Microsoft YaHei"/>
              </a:rPr>
              <a:t>从闲置工业遗产到城市创意社区的品牌案例（演示数据）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5742432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7B0A7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1" y="384048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F05A3E"/>
                </a:solidFill>
                <a:latin typeface="Microsoft YaHei"/>
              </a:rPr>
              <a:t>共同原则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74980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AF7F1"/>
                </a:solidFill>
                <a:latin typeface="Microsoft YaHei UI"/>
              </a:rPr>
              <a:t>团队需要坚持一条简单原则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01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F05A3E"/>
                </a:solidFill>
                <a:latin typeface="Microsoft YaHei U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AF7F1"/>
                </a:solidFill>
                <a:latin typeface="Microsoft YaHei UI"/>
              </a:rPr>
              <a:t>我们没有把旧厂房变成年轻的样子，而是让它重新拥有年轻的生活。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F05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B0A7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1" y="384048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F05A3E"/>
                </a:solidFill>
                <a:latin typeface="Microsoft YaHei"/>
              </a:rPr>
              <a:t>关键抓手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74980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AF7F1"/>
                </a:solidFill>
                <a:latin typeface="Microsoft YaHei UI"/>
              </a:rPr>
              <a:t>形成结果需要同时推进四个抓手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1463040"/>
            <a:ext cx="11018519" cy="932688"/>
          </a:xfrm>
          <a:prstGeom prst="rect">
            <a:avLst/>
          </a:prstGeom>
          <a:solidFill>
            <a:srgbClr val="232326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5" y="1463040"/>
            <a:ext cx="146303" cy="932688"/>
          </a:xfrm>
          <a:prstGeom prst="rect">
            <a:avLst/>
          </a:prstGeom>
          <a:solidFill>
            <a:srgbClr val="F0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3" y="1737360"/>
            <a:ext cx="10488167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AF7F1"/>
                </a:solidFill>
                <a:latin typeface="Microsoft YaHei"/>
              </a:rPr>
              <a:t>历史叙事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3" y="2331720"/>
            <a:ext cx="10469879" cy="-14630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7B0A7"/>
                </a:solidFill>
                <a:latin typeface="Microsoft YaHei"/>
              </a:rPr>
              <a:t>让真实工艺、人物和材料成为内容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5" y="2651760"/>
            <a:ext cx="11018519" cy="932688"/>
          </a:xfrm>
          <a:prstGeom prst="rect">
            <a:avLst/>
          </a:prstGeom>
          <a:solidFill>
            <a:srgbClr val="232326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5" y="2651760"/>
            <a:ext cx="146303" cy="932688"/>
          </a:xfrm>
          <a:prstGeom prst="rect">
            <a:avLst/>
          </a:prstGeom>
          <a:solidFill>
            <a:srgbClr val="D5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3" y="2926080"/>
            <a:ext cx="10488167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AF7F1"/>
                </a:solidFill>
                <a:latin typeface="Microsoft YaHei"/>
              </a:rPr>
              <a:t>创作者社区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3" y="3520440"/>
            <a:ext cx="10469879" cy="-14630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7B0A7"/>
                </a:solidFill>
                <a:latin typeface="Microsoft YaHei"/>
              </a:rPr>
              <a:t>提供可负担空间和展示机会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5" y="3840480"/>
            <a:ext cx="11018519" cy="932688"/>
          </a:xfrm>
          <a:prstGeom prst="rect">
            <a:avLst/>
          </a:prstGeom>
          <a:solidFill>
            <a:srgbClr val="232326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5" y="3840480"/>
            <a:ext cx="146303" cy="932688"/>
          </a:xfrm>
          <a:prstGeom prst="rect">
            <a:avLst/>
          </a:prstGeom>
          <a:solidFill>
            <a:srgbClr val="F0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3" y="4114800"/>
            <a:ext cx="10488167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AF7F1"/>
                </a:solidFill>
                <a:latin typeface="Microsoft YaHei"/>
              </a:rPr>
              <a:t>夜间体验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3" y="4709160"/>
            <a:ext cx="10469879" cy="-14630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7B0A7"/>
                </a:solidFill>
                <a:latin typeface="Microsoft YaHei"/>
              </a:rPr>
              <a:t>用演出、餐饮和光环境延长停留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5" y="5029200"/>
            <a:ext cx="11018519" cy="932688"/>
          </a:xfrm>
          <a:prstGeom prst="rect">
            <a:avLst/>
          </a:prstGeom>
          <a:solidFill>
            <a:srgbClr val="232326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5" y="5029200"/>
            <a:ext cx="146303" cy="932688"/>
          </a:xfrm>
          <a:prstGeom prst="rect">
            <a:avLst/>
          </a:prstGeom>
          <a:solidFill>
            <a:srgbClr val="D5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3" y="5303520"/>
            <a:ext cx="10488167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AF7F1"/>
                </a:solidFill>
                <a:latin typeface="Microsoft YaHei"/>
              </a:rPr>
              <a:t>开放街区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" y="5897880"/>
            <a:ext cx="10469879" cy="-14630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7B0A7"/>
                </a:solidFill>
                <a:latin typeface="Microsoft YaHei"/>
              </a:rPr>
              <a:t>把厂区与周边城市生活连接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1" y="384048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F05A3E"/>
                </a:solidFill>
                <a:latin typeface="Microsoft YaHei"/>
              </a:rPr>
              <a:t>实施路径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74980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AF7F1"/>
                </a:solidFill>
                <a:latin typeface="Microsoft YaHei UI"/>
              </a:rPr>
              <a:t>五个阶段把方向转化为可验收成果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03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79" y="2350008"/>
            <a:ext cx="2044598" cy="2880360"/>
          </a:xfrm>
          <a:prstGeom prst="rect">
            <a:avLst/>
          </a:prstGeom>
          <a:solidFill>
            <a:srgbClr val="F05A3E"/>
          </a:solidFill>
          <a:ln w="7315">
            <a:solidFill>
              <a:srgbClr val="F05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8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718"/>
                </a:solidFill>
                <a:latin typeface="Microsoft YaHei"/>
              </a:rPr>
              <a:t>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8"/>
                </a:solidFill>
                <a:latin typeface="Microsoft YaHei"/>
              </a:rPr>
              <a:t>记录建筑与工人故事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9270" y="2350008"/>
            <a:ext cx="2044598" cy="2880360"/>
          </a:xfrm>
          <a:prstGeom prst="rect">
            <a:avLst/>
          </a:prstGeom>
          <a:solidFill>
            <a:srgbClr val="232326"/>
          </a:solidFill>
          <a:ln w="7315">
            <a:solidFill>
              <a:srgbClr val="F05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5A3E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2150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F7F1"/>
                </a:solidFill>
                <a:latin typeface="Microsoft YaHei"/>
              </a:rPr>
              <a:t>保留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7B0A7"/>
                </a:solidFill>
                <a:latin typeface="Microsoft YaHei"/>
              </a:rPr>
              <a:t>修复关键结构和材料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58460" y="2350008"/>
            <a:ext cx="2044598" cy="2880360"/>
          </a:xfrm>
          <a:prstGeom prst="rect">
            <a:avLst/>
          </a:prstGeom>
          <a:solidFill>
            <a:srgbClr val="232326"/>
          </a:solidFill>
          <a:ln w="7315">
            <a:solidFill>
              <a:srgbClr val="F05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1340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5A3E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1340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F7F1"/>
                </a:solidFill>
                <a:latin typeface="Microsoft YaHei"/>
              </a:rPr>
              <a:t>进入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1340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7B0A7"/>
                </a:solidFill>
                <a:latin typeface="Microsoft YaHei"/>
              </a:rPr>
              <a:t>首批创作者共同使用空间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7651" y="2350008"/>
            <a:ext cx="2044598" cy="2880360"/>
          </a:xfrm>
          <a:prstGeom prst="rect">
            <a:avLst/>
          </a:prstGeom>
          <a:solidFill>
            <a:srgbClr val="232326"/>
          </a:solidFill>
          <a:ln w="7315">
            <a:solidFill>
              <a:srgbClr val="F05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0531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5A3E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0531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F7F1"/>
                </a:solidFill>
                <a:latin typeface="Microsoft YaHei"/>
              </a:rPr>
              <a:t>点亮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1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7B0A7"/>
                </a:solidFill>
                <a:latin typeface="Microsoft YaHei"/>
              </a:rPr>
              <a:t>形成夜间活动和公共体验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76841" y="2350008"/>
            <a:ext cx="2044598" cy="2880360"/>
          </a:xfrm>
          <a:prstGeom prst="rect">
            <a:avLst/>
          </a:prstGeom>
          <a:solidFill>
            <a:srgbClr val="232326"/>
          </a:solidFill>
          <a:ln w="7315">
            <a:solidFill>
              <a:srgbClr val="F05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9721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5A3E"/>
                </a:solidFill>
                <a:latin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9721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F7F1"/>
                </a:solidFill>
                <a:latin typeface="Microsoft YaHei"/>
              </a:rPr>
              <a:t>生长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9721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7B0A7"/>
                </a:solidFill>
                <a:latin typeface="Microsoft YaHei"/>
              </a:rPr>
              <a:t>由社区持续生产内容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1" y="384048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F05A3E"/>
                </a:solidFill>
                <a:latin typeface="Microsoft YaHei"/>
              </a:rPr>
              <a:t>核心判断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74980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AF7F1"/>
                </a:solidFill>
                <a:latin typeface="Microsoft YaHei UI"/>
              </a:rPr>
              <a:t>用真实历史、创作者社区和夜间体验建立长期吸引力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04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F0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AF7F1"/>
                </a:solidFill>
                <a:latin typeface="Microsoft YaHei UI"/>
              </a:rPr>
              <a:t>用真实历史、创作者社区和夜间体验建立长期吸引力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7B0A7"/>
                </a:solidFill>
                <a:latin typeface="Microsoft YaHei"/>
              </a:rPr>
              <a:t>常驻创作者  ·  年度访客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1" y="384048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F05A3E"/>
                </a:solidFill>
                <a:latin typeface="Microsoft YaHei"/>
              </a:rPr>
              <a:t>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74980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AF7F1"/>
                </a:solidFill>
                <a:latin typeface="Microsoft YaHei UI"/>
              </a:rPr>
              <a:t>本次汇报回答四个关键问题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05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5A3E"/>
                </a:solidFill>
                <a:latin typeface="Microsoft YaHei UI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AF7F1"/>
                </a:solidFill>
                <a:latin typeface="Microsoft YaHei"/>
              </a:rPr>
              <a:t>为什么现在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7B0A7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5A3E"/>
                </a:solidFill>
                <a:latin typeface="Microsoft YaHei UI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AF7F1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7B0A7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5A3E"/>
                </a:solidFill>
                <a:latin typeface="Microsoft YaHei UI"/>
              </a:rPr>
              <a:t>03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AF7F1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7B0A7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5A3E"/>
                </a:solidFill>
                <a:latin typeface="Microsoft YaHei UI"/>
              </a:rP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AF7F1"/>
                </a:solidFill>
                <a:latin typeface="Microsoft YaHei"/>
              </a:rPr>
              <a:t>怎样落地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7B0A7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1" y="384048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F05A3E"/>
                </a:solidFill>
                <a:latin typeface="Microsoft YaHei"/>
              </a:rPr>
              <a:t>关键指标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74980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AF7F1"/>
                </a:solidFill>
                <a:latin typeface="Microsoft YaHei UI"/>
              </a:rPr>
              <a:t>四项指标界定当前状态与决策空间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05A3E"/>
                </a:solidFill>
                <a:latin typeface="Microsoft YaHei"/>
              </a:rPr>
              <a:t>用真实历史、创作者社区和夜间体验建立长期吸引力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06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1" y="2157984"/>
            <a:ext cx="6583679" cy="1828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F05A3E"/>
                </a:solidFill>
                <a:latin typeface="Microsoft YaHei UI"/>
              </a:rPr>
              <a:t>1964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4050791"/>
            <a:ext cx="62179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AF7F1"/>
                </a:solidFill>
                <a:latin typeface="Microsoft YaHei"/>
              </a:rPr>
              <a:t>建成年份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1" y="4690872"/>
            <a:ext cx="594359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B0A7"/>
                </a:solidFill>
                <a:latin typeface="Microsoft YaHei"/>
              </a:rPr>
              <a:t>保留城市工业记忆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2112264"/>
            <a:ext cx="160019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AF7F1"/>
                </a:solidFill>
                <a:latin typeface="Microsoft YaHei UI"/>
              </a:rPr>
              <a:t>180位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4271" y="2185416"/>
            <a:ext cx="1993391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F7F1"/>
                </a:solidFill>
                <a:latin typeface="Microsoft YaHei"/>
              </a:rPr>
              <a:t>常驻创作者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199" y="3008376"/>
            <a:ext cx="3858768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199" y="3410712"/>
            <a:ext cx="160019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AF7F1"/>
                </a:solidFill>
                <a:latin typeface="Microsoft YaHei UI"/>
              </a:rPr>
              <a:t>86万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1" y="3483864"/>
            <a:ext cx="1993391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F7F1"/>
                </a:solidFill>
                <a:latin typeface="Microsoft YaHei"/>
              </a:rPr>
              <a:t>年度访客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199" y="4306824"/>
            <a:ext cx="3858768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199" y="4709159"/>
            <a:ext cx="160019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AF7F1"/>
                </a:solidFill>
                <a:latin typeface="Microsoft YaHei UI"/>
              </a:rPr>
              <a:t>74%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1" y="4782312"/>
            <a:ext cx="1993391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F7F1"/>
                </a:solidFill>
                <a:latin typeface="Microsoft YaHei"/>
              </a:rPr>
              <a:t>空间出租率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199" y="5605272"/>
            <a:ext cx="3858768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1" y="384048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F05A3E"/>
                </a:solidFill>
                <a:latin typeface="Microsoft YaHei"/>
              </a:rPr>
              <a:t>路径选择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74980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AF7F1"/>
                </a:solidFill>
                <a:latin typeface="Microsoft YaHei UI"/>
              </a:rPr>
              <a:t>两种路径的价值与代价必须同时看清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07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1" y="1463040"/>
            <a:ext cx="5358383" cy="4462272"/>
          </a:xfrm>
          <a:prstGeom prst="rect">
            <a:avLst/>
          </a:prstGeom>
          <a:solidFill>
            <a:srgbClr val="232326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F0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5A3E"/>
                </a:solidFill>
                <a:latin typeface="Microsoft YaHei"/>
              </a:rPr>
              <a:t>商业综合体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5A3E"/>
                </a:solidFill>
                <a:latin typeface="Microsoft Ya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F7F1"/>
                </a:solidFill>
                <a:latin typeface="Microsoft YaHei"/>
              </a:rPr>
              <a:t>收益模型成熟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5A3E"/>
                </a:solidFill>
                <a:latin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F7F1"/>
                </a:solidFill>
                <a:latin typeface="Microsoft YaHei"/>
              </a:rPr>
              <a:t>招商速度快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5A3E"/>
                </a:solidFill>
                <a:latin typeface="Microsoft Ya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F7F1"/>
                </a:solidFill>
                <a:latin typeface="Microsoft YaHei"/>
              </a:rPr>
              <a:t>空间同质化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5A3E"/>
                </a:solidFill>
                <a:latin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F7F1"/>
                </a:solidFill>
                <a:latin typeface="Microsoft YaHei"/>
              </a:rPr>
              <a:t>历史感弱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1" y="1463040"/>
            <a:ext cx="5358383" cy="4462272"/>
          </a:xfrm>
          <a:prstGeom prst="rect">
            <a:avLst/>
          </a:prstGeom>
          <a:solidFill>
            <a:srgbClr val="232326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D5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5B26D"/>
                </a:solidFill>
                <a:latin typeface="Microsoft YaHei"/>
              </a:rPr>
              <a:t>创意社区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5B26D"/>
                </a:solidFill>
                <a:latin typeface="Microsoft Ya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F7F1"/>
                </a:solidFill>
                <a:latin typeface="Microsoft YaHei"/>
              </a:rPr>
              <a:t>内容持续生长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5B26D"/>
                </a:solidFill>
                <a:latin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F7F1"/>
                </a:solidFill>
                <a:latin typeface="Microsoft YaHei"/>
              </a:rPr>
              <a:t>城市认同强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5B26D"/>
                </a:solidFill>
                <a:latin typeface="Microsoft Ya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F7F1"/>
                </a:solidFill>
                <a:latin typeface="Microsoft YaHei"/>
              </a:rPr>
              <a:t>回报周期长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5B26D"/>
                </a:solidFill>
                <a:latin typeface="Microsoft YaHe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F7F1"/>
                </a:solidFill>
                <a:latin typeface="Microsoft YaHei"/>
              </a:rPr>
              <a:t>运营要求高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1" y="384048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F05A3E"/>
                </a:solidFill>
                <a:latin typeface="Microsoft YaHei"/>
              </a:rPr>
              <a:t>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74980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AF7F1"/>
                </a:solidFill>
                <a:latin typeface="Microsoft YaHei UI"/>
              </a:rPr>
              <a:t>数据表明差异集中在少数关键维度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08 / 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05A3E"/>
                </a:solidFill>
                <a:latin typeface="Microsoft YaHei"/>
              </a:rPr>
              <a:t>核心洞察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AF7F1"/>
                </a:solidFill>
                <a:latin typeface="Microsoft YaHei"/>
              </a:rPr>
              <a:t>夜间内容显著延长停留，是项目活力的主要来源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7B0A7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1" y="384048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F05A3E"/>
                </a:solidFill>
                <a:latin typeface="Microsoft YaHei"/>
              </a:rPr>
              <a:t>能力组合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74980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AF7F1"/>
                </a:solidFill>
                <a:latin typeface="Microsoft YaHei UI"/>
              </a:rPr>
              <a:t>业务结果与能力建设必须同步发生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09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F0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5A3E"/>
                </a:solidFill>
                <a:latin typeface="Microsoft YaHei"/>
              </a:rPr>
              <a:t>业务侧负责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5A3E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F7F1"/>
                </a:solidFill>
                <a:latin typeface="Microsoft YaHei"/>
              </a:rPr>
              <a:t>历史叙事：让真实工艺、人物和材料成为内容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5A3E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F7F1"/>
                </a:solidFill>
                <a:latin typeface="Microsoft YaHei"/>
              </a:rPr>
              <a:t>创作者社区：提供可负担空间和展示机会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5A3E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F7F1"/>
                </a:solidFill>
                <a:latin typeface="Microsoft YaHei"/>
              </a:rPr>
              <a:t>夜间体验：用演出、餐饮和光环境延长停留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5A3E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F7F1"/>
                </a:solidFill>
                <a:latin typeface="Microsoft YaHei"/>
              </a:rPr>
              <a:t>开放街区：把厂区与周边城市生活连接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D5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5B26D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5B26D"/>
                </a:solidFill>
                <a:latin typeface="Microsoft YaHe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F7F1"/>
                </a:solidFill>
                <a:latin typeface="Microsoft YaHei"/>
              </a:rPr>
              <a:t>过度商业化：保留公共与创作空间比例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5B26D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F7F1"/>
                </a:solidFill>
                <a:latin typeface="Microsoft YaHei"/>
              </a:rPr>
              <a:t>历史消费：建立真实档案和叙事审核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5B26D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F7F1"/>
                </a:solidFill>
                <a:latin typeface="Microsoft YaHei"/>
              </a:rPr>
              <a:t>租金上涨：设置创作者长期权益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5B26D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F7F1"/>
                </a:solidFill>
                <a:latin typeface="Microsoft YaHei"/>
              </a:rPr>
              <a:t>活动扰民：控制声场、时段和交通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1" y="384048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F05A3E"/>
                </a:solidFill>
                <a:latin typeface="Microsoft YaHei"/>
              </a:rPr>
              <a:t>风险管理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74980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AF7F1"/>
                </a:solidFill>
                <a:latin typeface="Microsoft YaHei UI"/>
              </a:rPr>
              <a:t>四类风险均已设置前置缓释动作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10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232326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5A3E"/>
                </a:solidFill>
                <a:latin typeface="Microsoft YaHei"/>
              </a:rPr>
              <a:t>过度商业化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B0A7"/>
                </a:solidFill>
                <a:latin typeface="Microsoft YaHei"/>
              </a:rPr>
              <a:t>保留公共与创作空间比例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232326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7F1"/>
                </a:solidFill>
                <a:latin typeface="Microsoft YaHei"/>
              </a:rPr>
              <a:t>历史消费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B0A7"/>
                </a:solidFill>
                <a:latin typeface="Microsoft YaHei"/>
              </a:rPr>
              <a:t>建立真实档案和叙事审核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232326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7F1"/>
                </a:solidFill>
                <a:latin typeface="Microsoft YaHei"/>
              </a:rPr>
              <a:t>租金上涨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B0A7"/>
                </a:solidFill>
                <a:latin typeface="Microsoft YaHei"/>
              </a:rPr>
              <a:t>设置创作者长期权益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232326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5A3E"/>
                </a:solidFill>
                <a:latin typeface="Microsoft YaHei"/>
              </a:rPr>
              <a:t>活动扰民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B0A7"/>
                </a:solidFill>
                <a:latin typeface="Microsoft YaHei"/>
              </a:rPr>
              <a:t>控制声场、时段和交通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1" y="384048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F05A3E"/>
                </a:solidFill>
                <a:latin typeface="Microsoft YaHei"/>
              </a:rPr>
              <a:t>交付计划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74980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AF7F1"/>
                </a:solidFill>
                <a:latin typeface="Microsoft YaHei UI"/>
              </a:rPr>
              <a:t>工作包、责任人与时间窗口已经对齐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11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79" y="1463040"/>
          <a:ext cx="109270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618"/>
                <a:gridCol w="3434225"/>
                <a:gridCol w="2497618"/>
                <a:gridCol w="2497618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8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F05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8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F05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8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F05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8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F05A3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发现</a:t>
                      </a:r>
                    </a:p>
                  </a:txBody>
                  <a:tcPr marL="91440" marR="91440" marT="54864" marB="54864" anchor="ctr"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记录建筑与工人故事</a:t>
                      </a:r>
                    </a:p>
                  </a:txBody>
                  <a:tcPr marL="91440" marR="91440" marT="54864" marB="54864" anchor="ctr"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23232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保留</a:t>
                      </a:r>
                    </a:p>
                  </a:txBody>
                  <a:tcPr marL="91440" marR="91440" marT="54864" marB="54864" anchor="ctr">
                    <a:solidFill>
                      <a:srgbClr val="1717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修复关键结构和材料</a:t>
                      </a:r>
                    </a:p>
                  </a:txBody>
                  <a:tcPr marL="91440" marR="91440" marT="54864" marB="54864" anchor="ctr">
                    <a:solidFill>
                      <a:srgbClr val="1717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717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17171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进入</a:t>
                      </a:r>
                    </a:p>
                  </a:txBody>
                  <a:tcPr marL="91440" marR="91440" marT="54864" marB="54864" anchor="ctr"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首批创作者共同使用空间</a:t>
                      </a:r>
                    </a:p>
                  </a:txBody>
                  <a:tcPr marL="91440" marR="91440" marT="54864" marB="54864" anchor="ctr"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23232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点亮</a:t>
                      </a:r>
                    </a:p>
                  </a:txBody>
                  <a:tcPr marL="91440" marR="91440" marT="54864" marB="54864" anchor="ctr">
                    <a:solidFill>
                      <a:srgbClr val="1717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形成夜间活动和公共体验</a:t>
                      </a:r>
                    </a:p>
                  </a:txBody>
                  <a:tcPr marL="91440" marR="91440" marT="54864" marB="54864" anchor="ctr">
                    <a:solidFill>
                      <a:srgbClr val="1717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717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17171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生长</a:t>
                      </a:r>
                    </a:p>
                  </a:txBody>
                  <a:tcPr marL="91440" marR="91440" marT="54864" marB="54864" anchor="ctr"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由社区持续生产内容</a:t>
                      </a:r>
                    </a:p>
                  </a:txBody>
                  <a:tcPr marL="91440" marR="91440" marT="54864" marB="54864" anchor="ctr"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2323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AF7F1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2323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1" y="384048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F05A3E"/>
                </a:solidFill>
                <a:latin typeface="Microsoft YaHei"/>
              </a:rPr>
              <a:t>行动清单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" y="74980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AF7F1"/>
                </a:solidFill>
                <a:latin typeface="Microsoft YaHei UI"/>
              </a:rPr>
              <a:t>未来八周的行动已拆解到责任和验收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7B0A7"/>
                </a:solidFill>
                <a:latin typeface="Microsoft YaHei"/>
              </a:rPr>
              <a:t>12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5A3E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AF7F1"/>
                </a:solidFill>
                <a:latin typeface="Microsoft YaHei"/>
              </a:rPr>
              <a:t>确认历史叙事的负责人、交付物和完成标准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5A3E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AF7F1"/>
                </a:solidFill>
                <a:latin typeface="Microsoft YaHei"/>
              </a:rPr>
              <a:t>确认创作者社区的负责人、交付物和完成标准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5A3E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AF7F1"/>
                </a:solidFill>
                <a:latin typeface="Microsoft YaHei"/>
              </a:rPr>
              <a:t>确认夜间体验的负责人、交付物和完成标准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5A3E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AF7F1"/>
                </a:solidFill>
                <a:latin typeface="Microsoft YaHei"/>
              </a:rPr>
              <a:t>确认开放街区的负责人、交付物和完成标准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5A3E"/>
                </a:solidFill>
                <a:latin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AF7F1"/>
                </a:solidFill>
                <a:latin typeface="Microsoft YaHei"/>
              </a:rPr>
              <a:t>完成发现并关闭阶段评审问题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5A3E"/>
                </a:solidFill>
                <a:latin typeface="Microsoft YaHe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AF7F1"/>
                </a:solidFill>
                <a:latin typeface="Microsoft YaHei"/>
              </a:rPr>
              <a:t>完成保留并关闭阶段评审问题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5A3E"/>
                </a:solidFill>
                <a:latin typeface="Microsoft YaHe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AF7F1"/>
                </a:solidFill>
                <a:latin typeface="Microsoft YaHei"/>
              </a:rPr>
              <a:t>完成进入并关闭阶段评审问题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39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5A3E"/>
                </a:solidFill>
                <a:latin typeface="Microsoft YaHe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AF7F1"/>
                </a:solidFill>
                <a:latin typeface="Microsoft YaHei"/>
              </a:rPr>
              <a:t>完成点亮并关闭阶段评审问题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171718"/>
          </a:solidFill>
          <a:ln w="7315">
            <a:solidFill>
              <a:srgbClr val="39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23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59" y="1097280"/>
            <a:ext cx="3154679" cy="4434840"/>
          </a:xfrm>
          <a:prstGeom prst="rect">
            <a:avLst/>
          </a:prstGeom>
          <a:solidFill>
            <a:srgbClr val="D5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1901952"/>
            <a:ext cx="699515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AF7F1"/>
                </a:solidFill>
                <a:latin typeface="Microsoft YaHei UI"/>
              </a:rPr>
              <a:t>用真实历史、创作者社区和夜间体验建立长期吸引力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3" y="4160520"/>
            <a:ext cx="658367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7B0A7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3" y="5742432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7B0A7"/>
                </a:solidFill>
                <a:latin typeface="Microsoft YaHei"/>
              </a:rPr>
              <a:t>影像叙事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一座旧厂房的新生</dc:title>
  <dc:subject>由企业 AI 工作平台基于语义页面角色与自适应模板生成</dc:subject>
  <dc:creator/>
  <cp:keywords>template=cinematic-story;layout_family=premium;schema=presentation_spec.v2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