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试点企业</c:v>
                </c:pt>
              </c:strCache>
            </c:strRef>
          </c:tx>
          <c:spPr>
            <a:solidFill>
              <a:srgbClr val="155D78"/>
            </a:solidFill>
          </c:spPr>
          <c:cat>
            <c:strRef>
              <c:f>Sheet1!$A$2:$A$5</c:f>
              <c:strCache>
                <c:ptCount val="4"/>
                <c:pt idx="0">
                  <c:v>场景选择</c:v>
                </c:pt>
                <c:pt idx="1">
                  <c:v>流程重构</c:v>
                </c:pt>
                <c:pt idx="2">
                  <c:v>平台复用</c:v>
                </c:pt>
                <c:pt idx="3">
                  <c:v>治理运营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58.0</c:v>
                </c:pt>
                <c:pt idx="1">
                  <c:v>42.0</c:v>
                </c:pt>
                <c:pt idx="2">
                  <c:v>37.0</c:v>
                </c:pt>
                <c:pt idx="3">
                  <c:v>31.0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规模企业</c:v>
                </c:pt>
              </c:strCache>
            </c:strRef>
          </c:tx>
          <c:spPr>
            <a:solidFill>
              <a:srgbClr val="D95D39"/>
            </a:solidFill>
          </c:spPr>
          <c:cat>
            <c:strRef>
              <c:f>Sheet1!$A$2:$A$5</c:f>
              <c:strCache>
                <c:ptCount val="4"/>
                <c:pt idx="0">
                  <c:v>场景选择</c:v>
                </c:pt>
                <c:pt idx="1">
                  <c:v>流程重构</c:v>
                </c:pt>
                <c:pt idx="2">
                  <c:v>平台复用</c:v>
                </c:pt>
                <c:pt idx="3">
                  <c:v>治理运营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84.0</c:v>
                </c:pt>
                <c:pt idx="1">
                  <c:v>79.0</c:v>
                </c:pt>
                <c:pt idx="2">
                  <c:v>76.0</c:v>
                </c:pt>
                <c:pt idx="3">
                  <c:v>72.0</c:v>
                </c:pt>
              </c:numCache>
            </c:numRef>
          </c:val>
        </c:ser>
        <c:axId val="2226939960"/>
        <c:axId val="2180972856"/>
      </c:barChart>
      <c:catAx>
        <c:axId val="2226939960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2180972856"/>
        <c:crosses val="autoZero"/>
        <c:auto val="1"/>
        <c:lblAlgn val="ctr"/>
        <c:lblOffset val="100"/>
        <c:noMultiLvlLbl val="0"/>
      </c:catAx>
      <c:valAx>
        <c:axId val="2180972856"/>
        <c:scaling/>
        <c:delete val="0"/>
        <c:axPos val="l"/>
        <c:majorGridlines>
          <c:spPr>
            <a:ln>
              <a:solidFill>
                <a:srgbClr val="D8D3C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226939960"/>
        <c:crosses val="autoZero"/>
      </c:valAx>
    </c:plotArea>
    <c:legend>
      <c:legendPos val="b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841247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682495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523743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364991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206239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047487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888735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729983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571231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412479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253727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094975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936223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1777471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841248"/>
            <a:ext cx="12191695" cy="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1682496"/>
            <a:ext cx="12191695" cy="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2523744"/>
            <a:ext cx="12191695" cy="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3364992"/>
            <a:ext cx="12191695" cy="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4206240"/>
            <a:ext cx="12191695" cy="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5047488"/>
            <a:ext cx="12191695" cy="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5888736"/>
            <a:ext cx="12191695" cy="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6729984"/>
            <a:ext cx="12191695" cy="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58367" y="987552"/>
            <a:ext cx="10881360" cy="0"/>
          </a:xfrm>
          <a:prstGeom prst="line">
            <a:avLst/>
          </a:prstGeom>
          <a:ln w="25400">
            <a:solidFill>
              <a:srgbClr val="1B29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58367" y="5413248"/>
            <a:ext cx="10881360" cy="0"/>
          </a:xfrm>
          <a:prstGeom prst="line">
            <a:avLst/>
          </a:prstGeom>
          <a:ln w="12700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973567" y="1234440"/>
            <a:ext cx="0" cy="3904488"/>
          </a:xfrm>
          <a:prstGeom prst="line">
            <a:avLst/>
          </a:prstGeom>
          <a:ln w="12700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321039" y="1417320"/>
            <a:ext cx="278891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55D78"/>
                </a:solidFill>
                <a:latin typeface="Microsoft YaHei"/>
              </a:rPr>
              <a:t>DATA / PRESS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3" y="530352"/>
            <a:ext cx="4754879" cy="34747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140">
                <a:solidFill>
                  <a:srgbClr val="155D78"/>
                </a:solidFill>
                <a:latin typeface="Microsoft YaHei"/>
              </a:rPr>
              <a:t>数据新闻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7" y="1627632"/>
            <a:ext cx="6812279" cy="1874519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000" b="1">
                <a:solidFill>
                  <a:srgbClr val="1B292E"/>
                </a:solidFill>
                <a:latin typeface="SimSun"/>
              </a:rPr>
              <a:t>中国企业 AI 应用成熟度报告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3" y="4041648"/>
            <a:ext cx="6583679" cy="9144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606B70"/>
                </a:solidFill>
                <a:latin typeface="Microsoft YaHei"/>
              </a:rPr>
              <a:t>基于 420 家企业的场景、投入、治理和成效观察（演示研究）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6383" y="6144768"/>
            <a:ext cx="502919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06B70"/>
                </a:solidFill>
                <a:latin typeface="Microsoft YaHei"/>
              </a:rPr>
              <a:t>企业 AI 工作平台 · 高质量模板库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841247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682495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523743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364991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206239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047487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888735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729983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571231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412479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253727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094975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936223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1777471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841248"/>
            <a:ext cx="12191695" cy="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1682496"/>
            <a:ext cx="12191695" cy="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2523744"/>
            <a:ext cx="12191695" cy="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3364992"/>
            <a:ext cx="12191695" cy="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4206240"/>
            <a:ext cx="12191695" cy="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5047488"/>
            <a:ext cx="12191695" cy="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5888736"/>
            <a:ext cx="12191695" cy="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6729984"/>
            <a:ext cx="12191695" cy="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66927" y="182880"/>
            <a:ext cx="2011679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140">
                <a:solidFill>
                  <a:srgbClr val="1B292E"/>
                </a:solidFill>
                <a:latin typeface="Microsoft YaHei"/>
              </a:rPr>
              <a:t>DATA PRESS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1999" y="182880"/>
            <a:ext cx="2926079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55D78"/>
                </a:solidFill>
                <a:latin typeface="Microsoft YaHei"/>
              </a:rPr>
              <a:t>证据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46919" y="182880"/>
            <a:ext cx="1920239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06B70"/>
                </a:solidFill>
                <a:latin typeface="Microsoft YaHei"/>
              </a:rPr>
              <a:t>PAGE 01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66927" y="530352"/>
            <a:ext cx="11009376" cy="0"/>
          </a:xfrm>
          <a:prstGeom prst="line">
            <a:avLst/>
          </a:prstGeom>
          <a:ln w="19050">
            <a:solidFill>
              <a:srgbClr val="1B29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66927" y="786384"/>
            <a:ext cx="1046987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1B292E"/>
                </a:solidFill>
                <a:latin typeface="SimSun"/>
              </a:rPr>
              <a:t>数据表明差异集中在少数关键维度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155D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06B70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06B70"/>
                </a:solidFill>
                <a:latin typeface="Microsoft YaHei"/>
              </a:rPr>
              <a:t>01 / 12</a:t>
            </a:r>
          </a:p>
        </p:txBody>
      </p:sp>
      <p:graphicFrame>
        <p:nvGraphicFramePr>
          <p:cNvPr id="34" name="Chart 33"/>
          <p:cNvGraphicFramePr>
            <a:graphicFrameLocks noGrp="1"/>
          </p:cNvGraphicFramePr>
          <p:nvPr/>
        </p:nvGraphicFramePr>
        <p:xfrm>
          <a:off x="658367" y="1463040"/>
          <a:ext cx="7635239" cy="431596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8595359" y="1554480"/>
            <a:ext cx="2240279" cy="34747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55D78"/>
                </a:solidFill>
                <a:latin typeface="Microsoft YaHei"/>
              </a:rPr>
              <a:t>核心洞察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77071" y="2121408"/>
            <a:ext cx="2514599" cy="21488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B292E"/>
                </a:solidFill>
                <a:latin typeface="Microsoft YaHei"/>
              </a:rPr>
              <a:t>领先企业的主要优势集中在组织和治理，而非模型本身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95359" y="4864608"/>
            <a:ext cx="2331719" cy="49377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06B70"/>
                </a:solidFill>
                <a:latin typeface="Microsoft YaHei"/>
              </a:rPr>
              <a:t>来源：模板演示数据，仅用于版式验证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841247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682495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523743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364991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206239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047487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888735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729983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571231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412479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253727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094975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936223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1777471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841248"/>
            <a:ext cx="12191695" cy="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1682496"/>
            <a:ext cx="12191695" cy="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2523744"/>
            <a:ext cx="12191695" cy="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3364992"/>
            <a:ext cx="12191695" cy="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4206240"/>
            <a:ext cx="12191695" cy="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5047488"/>
            <a:ext cx="12191695" cy="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5888736"/>
            <a:ext cx="12191695" cy="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6729984"/>
            <a:ext cx="12191695" cy="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66927" y="182880"/>
            <a:ext cx="2011679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140">
                <a:solidFill>
                  <a:srgbClr val="1B292E"/>
                </a:solidFill>
                <a:latin typeface="Microsoft YaHei"/>
              </a:rPr>
              <a:t>DATA PRESS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1999" y="182880"/>
            <a:ext cx="2926079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55D78"/>
                </a:solidFill>
                <a:latin typeface="Microsoft YaHei"/>
              </a:rPr>
              <a:t>交付计划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46919" y="182880"/>
            <a:ext cx="1920239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06B70"/>
                </a:solidFill>
                <a:latin typeface="Microsoft YaHei"/>
              </a:rPr>
              <a:t>PAGE 02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66927" y="530352"/>
            <a:ext cx="11009376" cy="0"/>
          </a:xfrm>
          <a:prstGeom prst="line">
            <a:avLst/>
          </a:prstGeom>
          <a:ln w="19050">
            <a:solidFill>
              <a:srgbClr val="1B29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66927" y="786384"/>
            <a:ext cx="1046987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1B292E"/>
                </a:solidFill>
                <a:latin typeface="SimSun"/>
              </a:rPr>
              <a:t>工作包、责任人与时间窗口已经对齐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155D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06B70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06B70"/>
                </a:solidFill>
                <a:latin typeface="Microsoft YaHei"/>
              </a:rPr>
              <a:t>02 / 12</a:t>
            </a:r>
          </a:p>
        </p:txBody>
      </p: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640079" y="1463040"/>
          <a:ext cx="10927078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1077"/>
                <a:gridCol w="3213847"/>
                <a:gridCol w="2571077"/>
                <a:gridCol w="2571077"/>
              </a:tblGrid>
              <a:tr h="75438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7F5EF"/>
                          </a:solidFill>
                          <a:latin typeface="Microsoft YaHei"/>
                        </a:rPr>
                        <a:t>工作包</a:t>
                      </a:r>
                    </a:p>
                  </a:txBody>
                  <a:tcPr marL="91440" marR="91440" marT="54864" marB="54864" anchor="ctr">
                    <a:solidFill>
                      <a:srgbClr val="155D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7F5EF"/>
                          </a:solidFill>
                          <a:latin typeface="Microsoft YaHei"/>
                        </a:rPr>
                        <a:t>核心交付</a:t>
                      </a:r>
                    </a:p>
                  </a:txBody>
                  <a:tcPr marL="91440" marR="91440" marT="54864" marB="54864" anchor="ctr">
                    <a:solidFill>
                      <a:srgbClr val="155D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7F5EF"/>
                          </a:solidFill>
                          <a:latin typeface="Microsoft YaHei"/>
                        </a:rPr>
                        <a:t>责任角色</a:t>
                      </a:r>
                    </a:p>
                  </a:txBody>
                  <a:tcPr marL="91440" marR="91440" marT="54864" marB="54864" anchor="ctr">
                    <a:solidFill>
                      <a:srgbClr val="155D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7F5EF"/>
                          </a:solidFill>
                          <a:latin typeface="Microsoft YaHei"/>
                        </a:rPr>
                        <a:t>完成窗口</a:t>
                      </a:r>
                    </a:p>
                  </a:txBody>
                  <a:tcPr marL="91440" marR="91440" marT="54864" marB="54864" anchor="ctr">
                    <a:solidFill>
                      <a:srgbClr val="155D78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92E"/>
                          </a:solidFill>
                          <a:latin typeface="Microsoft YaHei"/>
                        </a:rPr>
                        <a:t>探索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292E"/>
                          </a:solidFill>
                          <a:latin typeface="Microsoft YaHei"/>
                        </a:rPr>
                        <a:t>零散试验验证技术可能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292E"/>
                          </a:solidFill>
                          <a:latin typeface="Microsoft YaHei"/>
                        </a:rPr>
                        <a:t>专项负责人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292E"/>
                          </a:solidFill>
                          <a:latin typeface="Microsoft YaHei"/>
                        </a:rPr>
                        <a:t>T+2 周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92E"/>
                          </a:solidFill>
                          <a:latin typeface="Microsoft YaHei"/>
                        </a:rPr>
                        <a:t>聚焦</a:t>
                      </a:r>
                    </a:p>
                  </a:txBody>
                  <a:tcPr marL="91440" marR="91440" marT="54864" marB="54864" anchor="ctr"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292E"/>
                          </a:solidFill>
                          <a:latin typeface="Microsoft YaHei"/>
                        </a:rPr>
                        <a:t>选择可量化高价值场景</a:t>
                      </a:r>
                    </a:p>
                  </a:txBody>
                  <a:tcPr marL="91440" marR="91440" marT="54864" marB="54864" anchor="ctr"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292E"/>
                          </a:solidFill>
                          <a:latin typeface="Microsoft YaHei"/>
                        </a:rPr>
                        <a:t>专项负责人</a:t>
                      </a:r>
                    </a:p>
                  </a:txBody>
                  <a:tcPr marL="91440" marR="91440" marT="54864" marB="54864" anchor="ctr"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292E"/>
                          </a:solidFill>
                          <a:latin typeface="Microsoft YaHei"/>
                        </a:rPr>
                        <a:t>T+4 周</a:t>
                      </a:r>
                    </a:p>
                  </a:txBody>
                  <a:tcPr marL="91440" marR="91440" marT="54864" marB="54864" anchor="ctr">
                    <a:solidFill>
                      <a:srgbClr val="F7F5E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92E"/>
                          </a:solidFill>
                          <a:latin typeface="Microsoft YaHei"/>
                        </a:rPr>
                        <a:t>平台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292E"/>
                          </a:solidFill>
                          <a:latin typeface="Microsoft YaHei"/>
                        </a:rPr>
                        <a:t>形成可复用技术底座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292E"/>
                          </a:solidFill>
                          <a:latin typeface="Microsoft YaHei"/>
                        </a:rPr>
                        <a:t>专项负责人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292E"/>
                          </a:solidFill>
                          <a:latin typeface="Microsoft YaHei"/>
                        </a:rPr>
                        <a:t>T+6 周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92E"/>
                          </a:solidFill>
                          <a:latin typeface="Microsoft YaHei"/>
                        </a:rPr>
                        <a:t>规模</a:t>
                      </a:r>
                    </a:p>
                  </a:txBody>
                  <a:tcPr marL="91440" marR="91440" marT="54864" marB="54864" anchor="ctr"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292E"/>
                          </a:solidFill>
                          <a:latin typeface="Microsoft YaHei"/>
                        </a:rPr>
                        <a:t>跨团队复制并重构流程</a:t>
                      </a:r>
                    </a:p>
                  </a:txBody>
                  <a:tcPr marL="91440" marR="91440" marT="54864" marB="54864" anchor="ctr"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292E"/>
                          </a:solidFill>
                          <a:latin typeface="Microsoft YaHei"/>
                        </a:rPr>
                        <a:t>专项负责人</a:t>
                      </a:r>
                    </a:p>
                  </a:txBody>
                  <a:tcPr marL="91440" marR="91440" marT="54864" marB="54864" anchor="ctr"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292E"/>
                          </a:solidFill>
                          <a:latin typeface="Microsoft YaHei"/>
                        </a:rPr>
                        <a:t>T+8 周</a:t>
                      </a:r>
                    </a:p>
                  </a:txBody>
                  <a:tcPr marL="91440" marR="91440" marT="54864" marB="54864" anchor="ctr">
                    <a:solidFill>
                      <a:srgbClr val="F7F5E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92E"/>
                          </a:solidFill>
                          <a:latin typeface="Microsoft YaHei"/>
                        </a:rPr>
                        <a:t>运营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292E"/>
                          </a:solidFill>
                          <a:latin typeface="Microsoft YaHei"/>
                        </a:rPr>
                        <a:t>持续评测、优化和治理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292E"/>
                          </a:solidFill>
                          <a:latin typeface="Microsoft YaHei"/>
                        </a:rPr>
                        <a:t>专项负责人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292E"/>
                          </a:solidFill>
                          <a:latin typeface="Microsoft YaHei"/>
                        </a:rPr>
                        <a:t>T+10 周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841247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682495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523743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364991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206239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047487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888735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729983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571231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412479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253727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094975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936223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1777471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841248"/>
            <a:ext cx="12191695" cy="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1682496"/>
            <a:ext cx="12191695" cy="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2523744"/>
            <a:ext cx="12191695" cy="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3364992"/>
            <a:ext cx="12191695" cy="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4206240"/>
            <a:ext cx="12191695" cy="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5047488"/>
            <a:ext cx="12191695" cy="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5888736"/>
            <a:ext cx="12191695" cy="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6729984"/>
            <a:ext cx="12191695" cy="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66927" y="182880"/>
            <a:ext cx="2011679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140">
                <a:solidFill>
                  <a:srgbClr val="1B292E"/>
                </a:solidFill>
                <a:latin typeface="Microsoft YaHei"/>
              </a:rPr>
              <a:t>DATA PRESS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1999" y="182880"/>
            <a:ext cx="2926079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55D78"/>
                </a:solidFill>
                <a:latin typeface="Microsoft YaHei"/>
              </a:rPr>
              <a:t>风险管理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46919" y="182880"/>
            <a:ext cx="1920239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06B70"/>
                </a:solidFill>
                <a:latin typeface="Microsoft YaHei"/>
              </a:rPr>
              <a:t>PAGE 03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66927" y="530352"/>
            <a:ext cx="11009376" cy="0"/>
          </a:xfrm>
          <a:prstGeom prst="line">
            <a:avLst/>
          </a:prstGeom>
          <a:ln w="19050">
            <a:solidFill>
              <a:srgbClr val="1B29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66927" y="786384"/>
            <a:ext cx="1046987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1B292E"/>
                </a:solidFill>
                <a:latin typeface="SimSun"/>
              </a:rPr>
              <a:t>四类风险均已设置前置缓释动作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155D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06B70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06B70"/>
                </a:solidFill>
                <a:latin typeface="Microsoft YaHei"/>
              </a:rPr>
              <a:t>03 / 12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7" y="1463040"/>
            <a:ext cx="5230367" cy="1938528"/>
          </a:xfrm>
          <a:prstGeom prst="rect">
            <a:avLst/>
          </a:prstGeom>
          <a:solidFill>
            <a:srgbClr val="FFFFFF"/>
          </a:solidFill>
          <a:ln w="7315">
            <a:solidFill>
              <a:srgbClr val="D8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399" y="1700784"/>
            <a:ext cx="461771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55D78"/>
                </a:solidFill>
                <a:latin typeface="Microsoft YaHei"/>
              </a:rPr>
              <a:t>试点孤岛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399" y="2249424"/>
            <a:ext cx="4617719" cy="8412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06B70"/>
                </a:solidFill>
                <a:latin typeface="Microsoft YaHei"/>
              </a:rPr>
              <a:t>按组合而非单项目治理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44767" y="1463040"/>
            <a:ext cx="5230367" cy="1938528"/>
          </a:xfrm>
          <a:prstGeom prst="rect">
            <a:avLst/>
          </a:prstGeom>
          <a:solidFill>
            <a:srgbClr val="FFFFFF"/>
          </a:solidFill>
          <a:ln w="7315">
            <a:solidFill>
              <a:srgbClr val="D8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799" y="1700784"/>
            <a:ext cx="461771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B292E"/>
                </a:solidFill>
                <a:latin typeface="Microsoft YaHei"/>
              </a:rPr>
              <a:t>价值失真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799" y="2249424"/>
            <a:ext cx="4617719" cy="8412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06B70"/>
                </a:solidFill>
                <a:latin typeface="Microsoft YaHei"/>
              </a:rPr>
              <a:t>由业务和财务共同确认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8367" y="3675887"/>
            <a:ext cx="5230367" cy="1938528"/>
          </a:xfrm>
          <a:prstGeom prst="rect">
            <a:avLst/>
          </a:prstGeom>
          <a:solidFill>
            <a:srgbClr val="FFFFFF"/>
          </a:solidFill>
          <a:ln w="7315">
            <a:solidFill>
              <a:srgbClr val="D8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399" y="3913631"/>
            <a:ext cx="461771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B292E"/>
                </a:solidFill>
                <a:latin typeface="Microsoft YaHei"/>
              </a:rPr>
              <a:t>技术锁定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399" y="4462272"/>
            <a:ext cx="4617719" cy="8412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06B70"/>
                </a:solidFill>
                <a:latin typeface="Microsoft YaHei"/>
              </a:rPr>
              <a:t>保持模型和供应商可替换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44767" y="3675887"/>
            <a:ext cx="5230367" cy="1938528"/>
          </a:xfrm>
          <a:prstGeom prst="rect">
            <a:avLst/>
          </a:prstGeom>
          <a:solidFill>
            <a:srgbClr val="FFFFFF"/>
          </a:solidFill>
          <a:ln w="7315">
            <a:solidFill>
              <a:srgbClr val="D8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799" y="3913631"/>
            <a:ext cx="461771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55D78"/>
                </a:solidFill>
                <a:latin typeface="Microsoft YaHei"/>
              </a:rPr>
              <a:t>风险滞后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799" y="4462272"/>
            <a:ext cx="4617719" cy="8412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06B70"/>
                </a:solidFill>
                <a:latin typeface="Microsoft YaHei"/>
              </a:rPr>
              <a:t>上线前完成红队与监控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841247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682495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523743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364991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206239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047487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888735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729983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571231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412479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253727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094975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936223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1777471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841248"/>
            <a:ext cx="12191695" cy="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1682496"/>
            <a:ext cx="12191695" cy="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2523744"/>
            <a:ext cx="12191695" cy="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3364992"/>
            <a:ext cx="12191695" cy="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4206240"/>
            <a:ext cx="12191695" cy="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5047488"/>
            <a:ext cx="12191695" cy="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5888736"/>
            <a:ext cx="12191695" cy="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6729984"/>
            <a:ext cx="12191695" cy="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66927" y="182880"/>
            <a:ext cx="2011679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140">
                <a:solidFill>
                  <a:srgbClr val="1B292E"/>
                </a:solidFill>
                <a:latin typeface="Microsoft YaHei"/>
              </a:rPr>
              <a:t>DATA PRESS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1999" y="182880"/>
            <a:ext cx="2926079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55D78"/>
                </a:solidFill>
                <a:latin typeface="Microsoft YaHei"/>
              </a:rPr>
              <a:t>关键指标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46919" y="182880"/>
            <a:ext cx="1920239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06B70"/>
                </a:solidFill>
                <a:latin typeface="Microsoft YaHei"/>
              </a:rPr>
              <a:t>PAGE 04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66927" y="530352"/>
            <a:ext cx="11009376" cy="0"/>
          </a:xfrm>
          <a:prstGeom prst="line">
            <a:avLst/>
          </a:prstGeom>
          <a:ln w="19050">
            <a:solidFill>
              <a:srgbClr val="1B29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66927" y="786384"/>
            <a:ext cx="1046987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1B292E"/>
                </a:solidFill>
                <a:latin typeface="SimSun"/>
              </a:rPr>
              <a:t>四项指标界定当前状态与决策空间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5215" y="1216152"/>
            <a:ext cx="1046987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55D78"/>
                </a:solidFill>
                <a:latin typeface="Microsoft YaHei"/>
              </a:rPr>
              <a:t>规模化差距主要来自流程重构和治理能力，而非模型选择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155D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06B70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06B70"/>
                </a:solidFill>
                <a:latin typeface="Microsoft YaHei"/>
              </a:rPr>
              <a:t>04 / 12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7" y="2093976"/>
            <a:ext cx="566927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55D78"/>
                </a:solidFill>
                <a:latin typeface="Microsoft YaHei"/>
              </a:rPr>
              <a:t>01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44751" y="2075688"/>
            <a:ext cx="402335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B292E"/>
                </a:solidFill>
                <a:latin typeface="Microsoft YaHei"/>
              </a:rPr>
              <a:t>调研企业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92039" y="2093976"/>
            <a:ext cx="406907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06B70"/>
                </a:solidFill>
                <a:latin typeface="Microsoft YaHei"/>
              </a:rPr>
              <a:t>覆盖制造、金融、零售和服务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89719" y="2002536"/>
            <a:ext cx="1874519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55D78"/>
                </a:solidFill>
                <a:latin typeface="SimSun"/>
              </a:rPr>
              <a:t>420家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444751" y="2688336"/>
            <a:ext cx="9637776" cy="0"/>
          </a:xfrm>
          <a:prstGeom prst="line">
            <a:avLst/>
          </a:prstGeom>
          <a:ln w="12700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658367" y="3035808"/>
            <a:ext cx="566927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55D78"/>
                </a:solidFill>
                <a:latin typeface="Microsoft YaHei"/>
              </a:rPr>
              <a:t>02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44751" y="3017520"/>
            <a:ext cx="402335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B292E"/>
                </a:solidFill>
                <a:latin typeface="Microsoft YaHei"/>
              </a:rPr>
              <a:t>进入规模化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92039" y="3035808"/>
            <a:ext cx="406907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06B70"/>
                </a:solidFill>
                <a:latin typeface="Microsoft YaHei"/>
              </a:rPr>
              <a:t>至少三个场景稳定运行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89719" y="2944368"/>
            <a:ext cx="1874519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D95D39"/>
                </a:solidFill>
                <a:latin typeface="SimSun"/>
              </a:rPr>
              <a:t>37%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1444751" y="3630168"/>
            <a:ext cx="9637776" cy="0"/>
          </a:xfrm>
          <a:prstGeom prst="line">
            <a:avLst/>
          </a:prstGeom>
          <a:ln w="12700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658367" y="3977639"/>
            <a:ext cx="566927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55D78"/>
                </a:solidFill>
                <a:latin typeface="Microsoft YaHei"/>
              </a:rPr>
              <a:t>03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444751" y="3959351"/>
            <a:ext cx="402335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B292E"/>
                </a:solidFill>
                <a:latin typeface="Microsoft YaHei"/>
              </a:rPr>
              <a:t>领先者回报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892039" y="3977639"/>
            <a:ext cx="406907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06B70"/>
                </a:solidFill>
                <a:latin typeface="Microsoft YaHei"/>
              </a:rPr>
              <a:t>相对试点阶段企业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89719" y="3886200"/>
            <a:ext cx="1874519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55D78"/>
                </a:solidFill>
                <a:latin typeface="SimSun"/>
              </a:rPr>
              <a:t>1.8x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1444751" y="4572000"/>
            <a:ext cx="9637776" cy="0"/>
          </a:xfrm>
          <a:prstGeom prst="line">
            <a:avLst/>
          </a:prstGeom>
          <a:ln w="12700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658367" y="4919472"/>
            <a:ext cx="566927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55D78"/>
                </a:solidFill>
                <a:latin typeface="Microsoft YaHei"/>
              </a:rPr>
              <a:t>04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444751" y="4901183"/>
            <a:ext cx="402335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B292E"/>
                </a:solidFill>
                <a:latin typeface="Microsoft YaHei"/>
              </a:rPr>
              <a:t>治理缺口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892039" y="4919472"/>
            <a:ext cx="406907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06B70"/>
                </a:solidFill>
                <a:latin typeface="Microsoft YaHei"/>
              </a:rPr>
              <a:t>缺少评测、成本和风险机制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89719" y="4828032"/>
            <a:ext cx="1874519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D95D39"/>
                </a:solidFill>
                <a:latin typeface="SimSun"/>
              </a:rPr>
              <a:t>62%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1444751" y="5513831"/>
            <a:ext cx="9637776" cy="0"/>
          </a:xfrm>
          <a:prstGeom prst="line">
            <a:avLst/>
          </a:prstGeom>
          <a:ln w="12700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841247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682495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523743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364991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206239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047487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888735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729983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571231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412479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253727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094975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936223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1777471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841248"/>
            <a:ext cx="12191695" cy="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1682496"/>
            <a:ext cx="12191695" cy="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2523744"/>
            <a:ext cx="12191695" cy="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3364992"/>
            <a:ext cx="12191695" cy="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4206240"/>
            <a:ext cx="12191695" cy="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5047488"/>
            <a:ext cx="12191695" cy="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5888736"/>
            <a:ext cx="12191695" cy="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6729984"/>
            <a:ext cx="12191695" cy="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66927" y="182880"/>
            <a:ext cx="2011679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140">
                <a:solidFill>
                  <a:srgbClr val="1B292E"/>
                </a:solidFill>
                <a:latin typeface="Microsoft YaHei"/>
              </a:rPr>
              <a:t>DATA PRESS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1999" y="182880"/>
            <a:ext cx="2926079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55D78"/>
                </a:solidFill>
                <a:latin typeface="Microsoft YaHei"/>
              </a:rPr>
              <a:t>核心判断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46919" y="182880"/>
            <a:ext cx="1920239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06B70"/>
                </a:solidFill>
                <a:latin typeface="Microsoft YaHei"/>
              </a:rPr>
              <a:t>PAGE 05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66927" y="530352"/>
            <a:ext cx="11009376" cy="0"/>
          </a:xfrm>
          <a:prstGeom prst="line">
            <a:avLst/>
          </a:prstGeom>
          <a:ln w="19050">
            <a:solidFill>
              <a:srgbClr val="1B29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66927" y="786384"/>
            <a:ext cx="1046987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B292E"/>
                </a:solidFill>
                <a:latin typeface="SimSun"/>
              </a:rPr>
              <a:t>规模化差距主要来自流程重构和治理能力，而非模型选择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155D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06B70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06B70"/>
                </a:solidFill>
                <a:latin typeface="Microsoft YaHei"/>
              </a:rPr>
              <a:t>05 / 12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85215" y="1828800"/>
            <a:ext cx="100583" cy="3429000"/>
          </a:xfrm>
          <a:prstGeom prst="rect">
            <a:avLst/>
          </a:prstGeom>
          <a:solidFill>
            <a:srgbClr val="155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19" y="1874519"/>
            <a:ext cx="9601199" cy="22860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1B292E"/>
                </a:solidFill>
                <a:latin typeface="SimSun"/>
              </a:rPr>
              <a:t>规模化差距主要来自流程重构和治理能力，而非模型选择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7551" y="4553712"/>
            <a:ext cx="8778239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606B70"/>
                </a:solidFill>
                <a:latin typeface="Microsoft YaHei"/>
              </a:rPr>
              <a:t>进入规模化  ·  领先者回报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841247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682495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523743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364991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206239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047487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888735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729983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571231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412479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253727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094975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936223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1777471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841248"/>
            <a:ext cx="12191695" cy="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1682496"/>
            <a:ext cx="12191695" cy="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2523744"/>
            <a:ext cx="12191695" cy="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3364992"/>
            <a:ext cx="12191695" cy="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4206240"/>
            <a:ext cx="12191695" cy="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5047488"/>
            <a:ext cx="12191695" cy="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5888736"/>
            <a:ext cx="12191695" cy="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6729984"/>
            <a:ext cx="12191695" cy="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66927" y="182880"/>
            <a:ext cx="2011679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140">
                <a:solidFill>
                  <a:srgbClr val="1B292E"/>
                </a:solidFill>
                <a:latin typeface="Microsoft YaHei"/>
              </a:rPr>
              <a:t>DATA PRESS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1999" y="182880"/>
            <a:ext cx="2926079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55D78"/>
                </a:solidFill>
                <a:latin typeface="Microsoft YaHei"/>
              </a:rPr>
              <a:t>导航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46919" y="182880"/>
            <a:ext cx="1920239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06B70"/>
                </a:solidFill>
                <a:latin typeface="Microsoft YaHei"/>
              </a:rPr>
              <a:t>PAGE 06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66927" y="530352"/>
            <a:ext cx="11009376" cy="0"/>
          </a:xfrm>
          <a:prstGeom prst="line">
            <a:avLst/>
          </a:prstGeom>
          <a:ln w="19050">
            <a:solidFill>
              <a:srgbClr val="1B29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66927" y="786384"/>
            <a:ext cx="1046987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1B292E"/>
                </a:solidFill>
                <a:latin typeface="SimSun"/>
              </a:rPr>
              <a:t>本次汇报回答四个关键问题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155D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06B70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06B70"/>
                </a:solidFill>
                <a:latin typeface="Microsoft YaHei"/>
              </a:rPr>
              <a:t>06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7" y="1463040"/>
            <a:ext cx="6217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55D78"/>
                </a:solidFill>
                <a:latin typeface="SimSun"/>
              </a:rPr>
              <a:t>01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408175" y="1865376"/>
            <a:ext cx="4325112" cy="0"/>
          </a:xfrm>
          <a:prstGeom prst="line">
            <a:avLst/>
          </a:prstGeom>
          <a:ln w="12700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1408175" y="1444752"/>
            <a:ext cx="4297679" cy="42062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B292E"/>
                </a:solidFill>
                <a:latin typeface="Microsoft YaHei"/>
              </a:rPr>
              <a:t>为什么现在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08175" y="1901952"/>
            <a:ext cx="416051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06B70"/>
                </a:solidFill>
                <a:latin typeface="Microsoft YaHei"/>
              </a:rPr>
              <a:t>背景、变化和机会窗口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7" y="2587752"/>
            <a:ext cx="6217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55D78"/>
                </a:solidFill>
                <a:latin typeface="SimSun"/>
              </a:rPr>
              <a:t>02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408175" y="2990088"/>
            <a:ext cx="4325112" cy="0"/>
          </a:xfrm>
          <a:prstGeom prst="line">
            <a:avLst/>
          </a:prstGeom>
          <a:ln w="12700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1408175" y="2569464"/>
            <a:ext cx="4297679" cy="42062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B292E"/>
                </a:solidFill>
                <a:latin typeface="Microsoft YaHei"/>
              </a:rPr>
              <a:t>事实说明什么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08175" y="3026664"/>
            <a:ext cx="416051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06B70"/>
                </a:solidFill>
                <a:latin typeface="Microsoft YaHei"/>
              </a:rPr>
              <a:t>指标、证据和关键差异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81927" y="1463040"/>
            <a:ext cx="6217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55D78"/>
                </a:solidFill>
                <a:latin typeface="SimSun"/>
              </a:rPr>
              <a:t>03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7031735" y="1865376"/>
            <a:ext cx="4325112" cy="0"/>
          </a:xfrm>
          <a:prstGeom prst="line">
            <a:avLst/>
          </a:prstGeom>
          <a:ln w="12700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7031735" y="1444752"/>
            <a:ext cx="4297679" cy="42062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B292E"/>
                </a:solidFill>
                <a:latin typeface="Microsoft YaHei"/>
              </a:rPr>
              <a:t>应该如何选择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31735" y="1901952"/>
            <a:ext cx="416051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06B70"/>
                </a:solidFill>
                <a:latin typeface="Microsoft YaHei"/>
              </a:rPr>
              <a:t>方案取舍和风险边界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81927" y="2587752"/>
            <a:ext cx="6217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55D78"/>
                </a:solidFill>
                <a:latin typeface="SimSun"/>
              </a:rPr>
              <a:t>04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7031735" y="2990088"/>
            <a:ext cx="4325112" cy="0"/>
          </a:xfrm>
          <a:prstGeom prst="line">
            <a:avLst/>
          </a:prstGeom>
          <a:ln w="12700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7031735" y="2569464"/>
            <a:ext cx="4297679" cy="42062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B292E"/>
                </a:solidFill>
                <a:latin typeface="Microsoft YaHei"/>
              </a:rPr>
              <a:t>怎样落地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31735" y="3026664"/>
            <a:ext cx="416051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06B70"/>
                </a:solidFill>
                <a:latin typeface="Microsoft YaHei"/>
              </a:rPr>
              <a:t>路径、责任和验收标准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841247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682495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523743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364991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206239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047487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888735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729983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571231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412479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253727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094975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936223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1777471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841248"/>
            <a:ext cx="12191695" cy="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1682496"/>
            <a:ext cx="12191695" cy="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2523744"/>
            <a:ext cx="12191695" cy="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3364992"/>
            <a:ext cx="12191695" cy="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4206240"/>
            <a:ext cx="12191695" cy="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5047488"/>
            <a:ext cx="12191695" cy="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5888736"/>
            <a:ext cx="12191695" cy="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6729984"/>
            <a:ext cx="12191695" cy="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66927" y="182880"/>
            <a:ext cx="2011679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140">
                <a:solidFill>
                  <a:srgbClr val="1B292E"/>
                </a:solidFill>
                <a:latin typeface="Microsoft YaHei"/>
              </a:rPr>
              <a:t>DATA PRESS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1999" y="182880"/>
            <a:ext cx="2926079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55D78"/>
                </a:solidFill>
                <a:latin typeface="Microsoft YaHei"/>
              </a:rPr>
              <a:t>路径选择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46919" y="182880"/>
            <a:ext cx="1920239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06B70"/>
                </a:solidFill>
                <a:latin typeface="Microsoft YaHei"/>
              </a:rPr>
              <a:t>PAGE 07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66927" y="530352"/>
            <a:ext cx="11009376" cy="0"/>
          </a:xfrm>
          <a:prstGeom prst="line">
            <a:avLst/>
          </a:prstGeom>
          <a:ln w="19050">
            <a:solidFill>
              <a:srgbClr val="1B29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66927" y="786384"/>
            <a:ext cx="1046987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1B292E"/>
                </a:solidFill>
                <a:latin typeface="SimSun"/>
              </a:rPr>
              <a:t>两种路径的价值与代价必须同时看清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155D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06B70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06B70"/>
                </a:solidFill>
                <a:latin typeface="Microsoft YaHei"/>
              </a:rPr>
              <a:t>07 / 12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089903" y="1463040"/>
            <a:ext cx="0" cy="4434839"/>
          </a:xfrm>
          <a:prstGeom prst="line">
            <a:avLst/>
          </a:prstGeom>
          <a:ln w="19050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621791" y="1463040"/>
            <a:ext cx="5358383" cy="91440"/>
          </a:xfrm>
          <a:prstGeom prst="rect">
            <a:avLst/>
          </a:prstGeom>
          <a:solidFill>
            <a:srgbClr val="155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50975" y="1828800"/>
            <a:ext cx="4663439" cy="4389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55D78"/>
                </a:solidFill>
                <a:latin typeface="Microsoft YaHei"/>
              </a:rPr>
              <a:t>试点企业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9263" y="2578608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55D78"/>
                </a:solidFill>
                <a:latin typeface="Microsoft YaHei"/>
              </a:rPr>
              <a:t>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71599" y="2487168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B292E"/>
                </a:solidFill>
                <a:latin typeface="Microsoft YaHei"/>
              </a:rPr>
              <a:t>项目分散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9263" y="3182112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55D78"/>
                </a:solidFill>
                <a:latin typeface="Microsoft YaHei"/>
              </a:rPr>
              <a:t>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71599" y="3090672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B292E"/>
                </a:solidFill>
                <a:latin typeface="Microsoft YaHei"/>
              </a:rPr>
              <a:t>依赖个人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9263" y="3785616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55D78"/>
                </a:solidFill>
                <a:latin typeface="Microsoft YaHei"/>
              </a:rPr>
              <a:t>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71599" y="3694176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B292E"/>
                </a:solidFill>
                <a:latin typeface="Microsoft YaHei"/>
              </a:rPr>
              <a:t>价值口径弱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9263" y="4389120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55D78"/>
                </a:solidFill>
                <a:latin typeface="Microsoft YaHei"/>
              </a:rPr>
              <a:t>✓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71599" y="4297680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B292E"/>
                </a:solidFill>
                <a:latin typeface="Microsoft YaHei"/>
              </a:rPr>
              <a:t>基础能力重复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199631" y="1463040"/>
            <a:ext cx="5358383" cy="91440"/>
          </a:xfrm>
          <a:prstGeom prst="rect">
            <a:avLst/>
          </a:prstGeom>
          <a:solidFill>
            <a:srgbClr val="D95D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28815" y="1828800"/>
            <a:ext cx="4663439" cy="4389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D95D39"/>
                </a:solidFill>
                <a:latin typeface="Microsoft YaHei"/>
              </a:rPr>
              <a:t>规模企业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47103" y="2578608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D95D39"/>
                </a:solidFill>
                <a:latin typeface="Microsoft YaHei"/>
              </a:rPr>
              <a:t>✓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49439" y="2487168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B292E"/>
                </a:solidFill>
                <a:latin typeface="Microsoft YaHei"/>
              </a:rPr>
              <a:t>场景组合清楚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47103" y="3182112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D95D39"/>
                </a:solidFill>
                <a:latin typeface="Microsoft YaHei"/>
              </a:rPr>
              <a:t>✓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949439" y="3090672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B292E"/>
                </a:solidFill>
                <a:latin typeface="Microsoft YaHei"/>
              </a:rPr>
              <a:t>平台能力复用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47103" y="3785616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D95D39"/>
                </a:solidFill>
                <a:latin typeface="Microsoft YaHei"/>
              </a:rPr>
              <a:t>✓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49439" y="3694176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B292E"/>
                </a:solidFill>
                <a:latin typeface="Microsoft YaHei"/>
              </a:rPr>
              <a:t>流程真正改变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47103" y="4389120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D95D39"/>
                </a:solidFill>
                <a:latin typeface="Microsoft YaHei"/>
              </a:rPr>
              <a:t>✓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949439" y="4297680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B292E"/>
                </a:solidFill>
                <a:latin typeface="Microsoft YaHei"/>
              </a:rPr>
              <a:t>治理持续运行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841247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682495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523743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364991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206239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047487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888735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729983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571231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412479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253727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094975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936223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1777471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841248"/>
            <a:ext cx="12191695" cy="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1682496"/>
            <a:ext cx="12191695" cy="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2523744"/>
            <a:ext cx="12191695" cy="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3364992"/>
            <a:ext cx="12191695" cy="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4206240"/>
            <a:ext cx="12191695" cy="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5047488"/>
            <a:ext cx="12191695" cy="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5888736"/>
            <a:ext cx="12191695" cy="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6729984"/>
            <a:ext cx="12191695" cy="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66927" y="182880"/>
            <a:ext cx="2011679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140">
                <a:solidFill>
                  <a:srgbClr val="1B292E"/>
                </a:solidFill>
                <a:latin typeface="Microsoft YaHei"/>
              </a:rPr>
              <a:t>DATA PRESS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1999" y="182880"/>
            <a:ext cx="2926079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55D78"/>
                </a:solidFill>
                <a:latin typeface="Microsoft YaHei"/>
              </a:rPr>
              <a:t>能力组合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46919" y="182880"/>
            <a:ext cx="1920239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06B70"/>
                </a:solidFill>
                <a:latin typeface="Microsoft YaHei"/>
              </a:rPr>
              <a:t>PAGE 08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66927" y="530352"/>
            <a:ext cx="11009376" cy="0"/>
          </a:xfrm>
          <a:prstGeom prst="line">
            <a:avLst/>
          </a:prstGeom>
          <a:ln w="19050">
            <a:solidFill>
              <a:srgbClr val="1B29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66927" y="786384"/>
            <a:ext cx="1046987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1B292E"/>
                </a:solidFill>
                <a:latin typeface="SimSun"/>
              </a:rPr>
              <a:t>业务结果与能力建设必须同步发生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155D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06B70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06B70"/>
                </a:solidFill>
                <a:latin typeface="Microsoft YaHei"/>
              </a:rPr>
              <a:t>08 / 12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1" y="1572768"/>
            <a:ext cx="5230367" cy="73152"/>
          </a:xfrm>
          <a:prstGeom prst="rect">
            <a:avLst/>
          </a:prstGeom>
          <a:solidFill>
            <a:srgbClr val="155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1791" y="1792224"/>
            <a:ext cx="5047487" cy="4389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55D78"/>
                </a:solidFill>
                <a:latin typeface="Microsoft YaHei"/>
              </a:rPr>
              <a:t>业务侧负责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79" y="2505456"/>
            <a:ext cx="256031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55D78"/>
                </a:solidFill>
                <a:latin typeface="Microsoft YaHei"/>
              </a:rPr>
              <a:t>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9263" y="2414016"/>
            <a:ext cx="4700015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B292E"/>
                </a:solidFill>
                <a:latin typeface="Microsoft YaHei"/>
              </a:rPr>
              <a:t>场景组合：同时管理价值、可行性和复用性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79" y="3255264"/>
            <a:ext cx="256031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55D78"/>
                </a:solidFill>
                <a:latin typeface="Microsoft YaHei"/>
              </a:rPr>
              <a:t>•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9263" y="3163824"/>
            <a:ext cx="4700015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B292E"/>
                </a:solidFill>
                <a:latin typeface="Microsoft YaHei"/>
              </a:rPr>
              <a:t>流程重构：让 AI 改变角色分工和决策方式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79" y="4005072"/>
            <a:ext cx="256031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55D78"/>
                </a:solidFill>
                <a:latin typeface="Microsoft YaHei"/>
              </a:rPr>
              <a:t>•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9263" y="3913632"/>
            <a:ext cx="4700015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B292E"/>
                </a:solidFill>
                <a:latin typeface="Microsoft YaHei"/>
              </a:rPr>
              <a:t>统一底座：复用数据、模型、安全和观测能力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79" y="4754880"/>
            <a:ext cx="256031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55D78"/>
                </a:solidFill>
                <a:latin typeface="Microsoft YaHei"/>
              </a:rPr>
              <a:t>•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9263" y="4663440"/>
            <a:ext cx="4700015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B292E"/>
                </a:solidFill>
                <a:latin typeface="Microsoft YaHei"/>
              </a:rPr>
              <a:t>治理体系：建立评测、成本、风险和退出机制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36207" y="1572768"/>
            <a:ext cx="5303519" cy="73152"/>
          </a:xfrm>
          <a:prstGeom prst="rect">
            <a:avLst/>
          </a:prstGeom>
          <a:solidFill>
            <a:srgbClr val="D95D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36207" y="1792224"/>
            <a:ext cx="5120639" cy="4389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D95D39"/>
                </a:solidFill>
                <a:latin typeface="Microsoft YaHei"/>
              </a:rPr>
              <a:t>平台与职能侧负责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54495" y="2505456"/>
            <a:ext cx="256031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D95D39"/>
                </a:solidFill>
                <a:latin typeface="Microsoft YaHei"/>
              </a:rPr>
              <a:t>•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79" y="2414016"/>
            <a:ext cx="4773167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B292E"/>
                </a:solidFill>
                <a:latin typeface="Microsoft YaHei"/>
              </a:rPr>
              <a:t>试点孤岛：按组合而非单项目治理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54495" y="3255264"/>
            <a:ext cx="256031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D95D39"/>
                </a:solidFill>
                <a:latin typeface="Microsoft YaHei"/>
              </a:rPr>
              <a:t>•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83679" y="3163824"/>
            <a:ext cx="4773167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B292E"/>
                </a:solidFill>
                <a:latin typeface="Microsoft YaHei"/>
              </a:rPr>
              <a:t>价值失真：由业务和财务共同确认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54495" y="4005072"/>
            <a:ext cx="256031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D95D39"/>
                </a:solidFill>
                <a:latin typeface="Microsoft YaHei"/>
              </a:rPr>
              <a:t>•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83679" y="3913632"/>
            <a:ext cx="4773167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B292E"/>
                </a:solidFill>
                <a:latin typeface="Microsoft YaHei"/>
              </a:rPr>
              <a:t>技术锁定：保持模型和供应商可替换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54495" y="4754880"/>
            <a:ext cx="256031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D95D39"/>
                </a:solidFill>
                <a:latin typeface="Microsoft YaHei"/>
              </a:rPr>
              <a:t>•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83679" y="4663440"/>
            <a:ext cx="4773167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B292E"/>
                </a:solidFill>
                <a:latin typeface="Microsoft YaHei"/>
              </a:rPr>
              <a:t>风险滞后：上线前完成红队与监控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841247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682495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523743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364991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206239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047487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888735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729983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571231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412479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253727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094975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936223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1777471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841248"/>
            <a:ext cx="12191695" cy="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1682496"/>
            <a:ext cx="12191695" cy="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2523744"/>
            <a:ext cx="12191695" cy="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3364992"/>
            <a:ext cx="12191695" cy="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4206240"/>
            <a:ext cx="12191695" cy="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5047488"/>
            <a:ext cx="12191695" cy="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5888736"/>
            <a:ext cx="12191695" cy="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6729984"/>
            <a:ext cx="12191695" cy="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66927" y="182880"/>
            <a:ext cx="2011679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140">
                <a:solidFill>
                  <a:srgbClr val="1B292E"/>
                </a:solidFill>
                <a:latin typeface="Microsoft YaHei"/>
              </a:rPr>
              <a:t>DATA PRESS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1999" y="182880"/>
            <a:ext cx="2926079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55D78"/>
                </a:solidFill>
                <a:latin typeface="Microsoft YaHei"/>
              </a:rPr>
              <a:t>关键抓手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46919" y="182880"/>
            <a:ext cx="1920239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06B70"/>
                </a:solidFill>
                <a:latin typeface="Microsoft YaHei"/>
              </a:rPr>
              <a:t>PAGE 09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66927" y="530352"/>
            <a:ext cx="11009376" cy="0"/>
          </a:xfrm>
          <a:prstGeom prst="line">
            <a:avLst/>
          </a:prstGeom>
          <a:ln w="19050">
            <a:solidFill>
              <a:srgbClr val="1B29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66927" y="786384"/>
            <a:ext cx="1046987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1B292E"/>
                </a:solidFill>
                <a:latin typeface="SimSun"/>
              </a:rPr>
              <a:t>形成结果需要同时推进四个抓手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155D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06B70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06B70"/>
                </a:solidFill>
                <a:latin typeface="Microsoft YaHei"/>
              </a:rPr>
              <a:t>09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6383" y="1572768"/>
            <a:ext cx="240029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55D78"/>
                </a:solidFill>
                <a:latin typeface="SimSun"/>
              </a:rPr>
              <a:t>01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3" y="2267712"/>
            <a:ext cx="2336291" cy="7132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B292E"/>
                </a:solidFill>
                <a:latin typeface="Microsoft YaHei"/>
              </a:rPr>
              <a:t>场景组合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6383" y="3246120"/>
            <a:ext cx="2336291" cy="17830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06B70"/>
                </a:solidFill>
                <a:latin typeface="Microsoft YaHei"/>
              </a:rPr>
              <a:t>同时管理价值、可行性和复用性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3342131" y="1463040"/>
            <a:ext cx="0" cy="4315968"/>
          </a:xfrm>
          <a:prstGeom prst="line">
            <a:avLst/>
          </a:prstGeom>
          <a:ln w="12700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3506723" y="1572768"/>
            <a:ext cx="240029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55D78"/>
                </a:solidFill>
                <a:latin typeface="SimSun"/>
              </a:rPr>
              <a:t>02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06723" y="2267712"/>
            <a:ext cx="2336291" cy="7132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B292E"/>
                </a:solidFill>
                <a:latin typeface="Microsoft YaHei"/>
              </a:rPr>
              <a:t>流程重构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06723" y="3246120"/>
            <a:ext cx="2336291" cy="17830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06B70"/>
                </a:solidFill>
                <a:latin typeface="Microsoft YaHei"/>
              </a:rPr>
              <a:t>让 AI 改变角色分工和决策方式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6062471" y="1463040"/>
            <a:ext cx="0" cy="4315968"/>
          </a:xfrm>
          <a:prstGeom prst="line">
            <a:avLst/>
          </a:prstGeom>
          <a:ln w="12700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6227063" y="1572768"/>
            <a:ext cx="240029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55D78"/>
                </a:solidFill>
                <a:latin typeface="SimSun"/>
              </a:rPr>
              <a:t>03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27063" y="2267712"/>
            <a:ext cx="2336291" cy="7132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B292E"/>
                </a:solidFill>
                <a:latin typeface="Microsoft YaHei"/>
              </a:rPr>
              <a:t>统一底座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27063" y="3246120"/>
            <a:ext cx="2336291" cy="17830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06B70"/>
                </a:solidFill>
                <a:latin typeface="Microsoft YaHei"/>
              </a:rPr>
              <a:t>复用数据、模型、安全和观测能力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8782811" y="1463040"/>
            <a:ext cx="0" cy="4315968"/>
          </a:xfrm>
          <a:prstGeom prst="line">
            <a:avLst/>
          </a:prstGeom>
          <a:ln w="12700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8947403" y="1572768"/>
            <a:ext cx="240029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55D78"/>
                </a:solidFill>
                <a:latin typeface="SimSun"/>
              </a:rPr>
              <a:t>04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947403" y="2267712"/>
            <a:ext cx="2336291" cy="7132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B292E"/>
                </a:solidFill>
                <a:latin typeface="Microsoft YaHei"/>
              </a:rPr>
              <a:t>治理体系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947403" y="3246120"/>
            <a:ext cx="2336291" cy="17830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06B70"/>
                </a:solidFill>
                <a:latin typeface="Microsoft YaHei"/>
              </a:rPr>
              <a:t>建立评测、成本、风险和退出机制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841247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682495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523743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364991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206239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047487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888735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729983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571231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412479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253727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094975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936223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1777471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841248"/>
            <a:ext cx="12191695" cy="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1682496"/>
            <a:ext cx="12191695" cy="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2523744"/>
            <a:ext cx="12191695" cy="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3364992"/>
            <a:ext cx="12191695" cy="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4206240"/>
            <a:ext cx="12191695" cy="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5047488"/>
            <a:ext cx="12191695" cy="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5888736"/>
            <a:ext cx="12191695" cy="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6729984"/>
            <a:ext cx="12191695" cy="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66927" y="182880"/>
            <a:ext cx="2011679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140">
                <a:solidFill>
                  <a:srgbClr val="1B292E"/>
                </a:solidFill>
                <a:latin typeface="Microsoft YaHei"/>
              </a:rPr>
              <a:t>DATA PRESS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1999" y="182880"/>
            <a:ext cx="2926079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55D78"/>
                </a:solidFill>
                <a:latin typeface="Microsoft YaHei"/>
              </a:rPr>
              <a:t>实施路径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46919" y="182880"/>
            <a:ext cx="1920239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06B70"/>
                </a:solidFill>
                <a:latin typeface="Microsoft YaHei"/>
              </a:rPr>
              <a:t>PAGE 10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66927" y="530352"/>
            <a:ext cx="11009376" cy="0"/>
          </a:xfrm>
          <a:prstGeom prst="line">
            <a:avLst/>
          </a:prstGeom>
          <a:ln w="19050">
            <a:solidFill>
              <a:srgbClr val="1B29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66927" y="786384"/>
            <a:ext cx="1046987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1B292E"/>
                </a:solidFill>
                <a:latin typeface="SimSun"/>
              </a:rPr>
              <a:t>五个阶段把方向转化为可验收成果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155D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06B70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06B70"/>
                </a:solidFill>
                <a:latin typeface="Microsoft YaHei"/>
              </a:rPr>
              <a:t>10 / 12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32687" y="2962656"/>
            <a:ext cx="10177272" cy="0"/>
          </a:xfrm>
          <a:prstGeom prst="line">
            <a:avLst/>
          </a:prstGeom>
          <a:ln w="25400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731519" y="2761488"/>
            <a:ext cx="402335" cy="402336"/>
          </a:xfrm>
          <a:prstGeom prst="ellipse">
            <a:avLst/>
          </a:prstGeom>
          <a:solidFill>
            <a:srgbClr val="155D78"/>
          </a:solidFill>
          <a:ln w="7315">
            <a:solidFill>
              <a:srgbClr val="155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8095" y="2816352"/>
            <a:ext cx="329183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7F5EF"/>
                </a:solidFill>
                <a:latin typeface="Microsoft YaHei"/>
              </a:rPr>
              <a:t>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8015" y="2048256"/>
            <a:ext cx="1609343" cy="5029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B292E"/>
                </a:solidFill>
                <a:latin typeface="Microsoft YaHei"/>
              </a:rPr>
              <a:t>探索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39" y="1463040"/>
            <a:ext cx="1682495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06B70"/>
                </a:solidFill>
                <a:latin typeface="Microsoft YaHei"/>
              </a:rPr>
              <a:t>零散试验验证技术可能</a:t>
            </a:r>
          </a:p>
        </p:txBody>
      </p:sp>
      <p:sp>
        <p:nvSpPr>
          <p:cNvPr id="39" name="Oval 38"/>
          <p:cNvSpPr/>
          <p:nvPr/>
        </p:nvSpPr>
        <p:spPr>
          <a:xfrm>
            <a:off x="3275837" y="2761488"/>
            <a:ext cx="402335" cy="402336"/>
          </a:xfrm>
          <a:prstGeom prst="ellipse">
            <a:avLst/>
          </a:prstGeom>
          <a:solidFill>
            <a:srgbClr val="FFFFFF"/>
          </a:solidFill>
          <a:ln w="7315">
            <a:solidFill>
              <a:srgbClr val="155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312413" y="2816352"/>
            <a:ext cx="329183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55D78"/>
                </a:solidFill>
                <a:latin typeface="Microsoft YaHei"/>
              </a:rPr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672333" y="3346704"/>
            <a:ext cx="1609343" cy="5029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B292E"/>
                </a:solidFill>
                <a:latin typeface="Microsoft YaHei"/>
              </a:rPr>
              <a:t>聚焦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635757" y="3895344"/>
            <a:ext cx="1682495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06B70"/>
                </a:solidFill>
                <a:latin typeface="Microsoft YaHei"/>
              </a:rPr>
              <a:t>选择可量化高价值场景</a:t>
            </a:r>
          </a:p>
        </p:txBody>
      </p:sp>
      <p:sp>
        <p:nvSpPr>
          <p:cNvPr id="43" name="Oval 42"/>
          <p:cNvSpPr/>
          <p:nvPr/>
        </p:nvSpPr>
        <p:spPr>
          <a:xfrm>
            <a:off x="5820155" y="2761488"/>
            <a:ext cx="402335" cy="402336"/>
          </a:xfrm>
          <a:prstGeom prst="ellipse">
            <a:avLst/>
          </a:prstGeom>
          <a:solidFill>
            <a:srgbClr val="FFFFFF"/>
          </a:solidFill>
          <a:ln w="7315">
            <a:solidFill>
              <a:srgbClr val="155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856731" y="2816352"/>
            <a:ext cx="329183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55D78"/>
                </a:solidFill>
                <a:latin typeface="Microsoft YaHei"/>
              </a:rPr>
              <a:t>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216651" y="2048256"/>
            <a:ext cx="1609343" cy="5029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B292E"/>
                </a:solidFill>
                <a:latin typeface="Microsoft YaHei"/>
              </a:rPr>
              <a:t>平台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80075" y="1463040"/>
            <a:ext cx="1682495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06B70"/>
                </a:solidFill>
                <a:latin typeface="Microsoft YaHei"/>
              </a:rPr>
              <a:t>形成可复用技术底座</a:t>
            </a:r>
          </a:p>
        </p:txBody>
      </p:sp>
      <p:sp>
        <p:nvSpPr>
          <p:cNvPr id="47" name="Oval 46"/>
          <p:cNvSpPr/>
          <p:nvPr/>
        </p:nvSpPr>
        <p:spPr>
          <a:xfrm>
            <a:off x="8364473" y="2761488"/>
            <a:ext cx="402335" cy="402336"/>
          </a:xfrm>
          <a:prstGeom prst="ellipse">
            <a:avLst/>
          </a:prstGeom>
          <a:solidFill>
            <a:srgbClr val="FFFFFF"/>
          </a:solidFill>
          <a:ln w="7315">
            <a:solidFill>
              <a:srgbClr val="155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401049" y="2816352"/>
            <a:ext cx="329183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55D78"/>
                </a:solidFill>
                <a:latin typeface="Microsoft YaHei"/>
              </a:rPr>
              <a:t>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60969" y="3346704"/>
            <a:ext cx="1609343" cy="5029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B292E"/>
                </a:solidFill>
                <a:latin typeface="Microsoft YaHei"/>
              </a:rPr>
              <a:t>规模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724393" y="3895344"/>
            <a:ext cx="1682495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06B70"/>
                </a:solidFill>
                <a:latin typeface="Microsoft YaHei"/>
              </a:rPr>
              <a:t>跨团队复制并重构流程</a:t>
            </a:r>
          </a:p>
        </p:txBody>
      </p:sp>
      <p:sp>
        <p:nvSpPr>
          <p:cNvPr id="51" name="Oval 50"/>
          <p:cNvSpPr/>
          <p:nvPr/>
        </p:nvSpPr>
        <p:spPr>
          <a:xfrm>
            <a:off x="10908791" y="2761488"/>
            <a:ext cx="402335" cy="402336"/>
          </a:xfrm>
          <a:prstGeom prst="ellipse">
            <a:avLst/>
          </a:prstGeom>
          <a:solidFill>
            <a:srgbClr val="FFFFFF"/>
          </a:solidFill>
          <a:ln w="7315">
            <a:solidFill>
              <a:srgbClr val="155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945367" y="2816352"/>
            <a:ext cx="329183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55D78"/>
                </a:solidFill>
                <a:latin typeface="Microsoft YaHei"/>
              </a:rPr>
              <a:t>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305287" y="2048256"/>
            <a:ext cx="1609343" cy="5029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B292E"/>
                </a:solidFill>
                <a:latin typeface="Microsoft YaHei"/>
              </a:rPr>
              <a:t>运营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268711" y="1463040"/>
            <a:ext cx="1682495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06B70"/>
                </a:solidFill>
                <a:latin typeface="Microsoft YaHei"/>
              </a:rPr>
              <a:t>持续评测、优化和治理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841247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682495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523743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364991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206239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047487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888735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729983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571231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412479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253727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094975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936223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1777471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841248"/>
            <a:ext cx="12191695" cy="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1682496"/>
            <a:ext cx="12191695" cy="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2523744"/>
            <a:ext cx="12191695" cy="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3364992"/>
            <a:ext cx="12191695" cy="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4206240"/>
            <a:ext cx="12191695" cy="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5047488"/>
            <a:ext cx="12191695" cy="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5888736"/>
            <a:ext cx="12191695" cy="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6729984"/>
            <a:ext cx="12191695" cy="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66927" y="182880"/>
            <a:ext cx="2011679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140">
                <a:solidFill>
                  <a:srgbClr val="1B292E"/>
                </a:solidFill>
                <a:latin typeface="Microsoft YaHei"/>
              </a:rPr>
              <a:t>DATA PRESS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1999" y="182880"/>
            <a:ext cx="2926079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55D78"/>
                </a:solidFill>
                <a:latin typeface="Microsoft YaHei"/>
              </a:rPr>
              <a:t>共同原则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46919" y="182880"/>
            <a:ext cx="1920239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06B70"/>
                </a:solidFill>
                <a:latin typeface="Microsoft YaHei"/>
              </a:rPr>
              <a:t>PAGE 11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66927" y="530352"/>
            <a:ext cx="11009376" cy="0"/>
          </a:xfrm>
          <a:prstGeom prst="line">
            <a:avLst/>
          </a:prstGeom>
          <a:ln w="19050">
            <a:solidFill>
              <a:srgbClr val="1B29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66927" y="786384"/>
            <a:ext cx="1046987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1B292E"/>
                </a:solidFill>
                <a:latin typeface="SimSun"/>
              </a:rPr>
              <a:t>团队需要坚持一条简单原则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155D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06B70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06B70"/>
                </a:solidFill>
                <a:latin typeface="Microsoft YaHei"/>
              </a:rPr>
              <a:t>11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7" y="1572768"/>
            <a:ext cx="914399" cy="9144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300" b="1">
                <a:solidFill>
                  <a:srgbClr val="155D78"/>
                </a:solidFill>
                <a:latin typeface="SimSun"/>
              </a:rPr>
              <a:t>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89887" y="1901952"/>
            <a:ext cx="9006839" cy="22402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1B292E"/>
                </a:solidFill>
                <a:latin typeface="SimSun"/>
              </a:rPr>
              <a:t>企业 AI 的分水岭不是是否使用模型，而是是否改变了工作系统。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1417319" y="4617720"/>
            <a:ext cx="1371600" cy="0"/>
          </a:xfrm>
          <a:prstGeom prst="line">
            <a:avLst/>
          </a:prstGeom>
          <a:ln w="38100">
            <a:solidFill>
              <a:srgbClr val="155D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2999231" y="4443984"/>
            <a:ext cx="4754879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06B70"/>
                </a:solidFill>
                <a:latin typeface="Microsoft YaHei"/>
              </a:rPr>
              <a:t>— 项目核心团队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841247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682495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523743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364991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206239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047487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888735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729983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571231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412479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253727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094975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936223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1777471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841248"/>
            <a:ext cx="12191695" cy="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1682496"/>
            <a:ext cx="12191695" cy="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2523744"/>
            <a:ext cx="12191695" cy="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3364992"/>
            <a:ext cx="12191695" cy="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4206240"/>
            <a:ext cx="12191695" cy="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5047488"/>
            <a:ext cx="12191695" cy="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5888736"/>
            <a:ext cx="12191695" cy="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6729984"/>
            <a:ext cx="12191695" cy="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66927" y="182880"/>
            <a:ext cx="2011679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140">
                <a:solidFill>
                  <a:srgbClr val="1B292E"/>
                </a:solidFill>
                <a:latin typeface="Microsoft YaHei"/>
              </a:rPr>
              <a:t>DATA PRESS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1999" y="182880"/>
            <a:ext cx="2926079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55D78"/>
                </a:solidFill>
                <a:latin typeface="Microsoft YaHei"/>
              </a:rPr>
              <a:t>行动清单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46919" y="182880"/>
            <a:ext cx="1920239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06B70"/>
                </a:solidFill>
                <a:latin typeface="Microsoft YaHei"/>
              </a:rPr>
              <a:t>PAGE 12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66927" y="530352"/>
            <a:ext cx="11009376" cy="0"/>
          </a:xfrm>
          <a:prstGeom prst="line">
            <a:avLst/>
          </a:prstGeom>
          <a:ln w="19050">
            <a:solidFill>
              <a:srgbClr val="1B29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66927" y="786384"/>
            <a:ext cx="1046987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1B292E"/>
                </a:solidFill>
                <a:latin typeface="SimSun"/>
              </a:rPr>
              <a:t>未来八周的行动已拆解到责任和验收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155D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06B70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06B70"/>
                </a:solidFill>
                <a:latin typeface="Microsoft YaHei"/>
              </a:rPr>
              <a:t>12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1" y="1481328"/>
            <a:ext cx="50291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55D78"/>
                </a:solidFill>
                <a:latin typeface="Microsoft YaHei"/>
              </a:rPr>
              <a:t>01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53311" y="1463040"/>
            <a:ext cx="9555479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B292E"/>
                </a:solidFill>
                <a:latin typeface="Microsoft YaHei"/>
              </a:rPr>
              <a:t>确认场景组合的负责人、交付物和完成标准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1353311" y="1984248"/>
            <a:ext cx="9573768" cy="0"/>
          </a:xfrm>
          <a:prstGeom prst="line">
            <a:avLst/>
          </a:prstGeom>
          <a:ln w="952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713231" y="2075688"/>
            <a:ext cx="50291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55D78"/>
                </a:solidFill>
                <a:latin typeface="Microsoft YaHei"/>
              </a:rPr>
              <a:t>02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53311" y="2057400"/>
            <a:ext cx="9555479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B292E"/>
                </a:solidFill>
                <a:latin typeface="Microsoft YaHei"/>
              </a:rPr>
              <a:t>确认流程重构的负责人、交付物和完成标准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353311" y="2578608"/>
            <a:ext cx="9573768" cy="0"/>
          </a:xfrm>
          <a:prstGeom prst="line">
            <a:avLst/>
          </a:prstGeom>
          <a:ln w="952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713231" y="2670048"/>
            <a:ext cx="50291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55D78"/>
                </a:solidFill>
                <a:latin typeface="Microsoft YaHei"/>
              </a:rPr>
              <a:t>03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53311" y="2651760"/>
            <a:ext cx="9555479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B292E"/>
                </a:solidFill>
                <a:latin typeface="Microsoft YaHei"/>
              </a:rPr>
              <a:t>确认统一底座的负责人、交付物和完成标准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1353311" y="3172968"/>
            <a:ext cx="9573768" cy="0"/>
          </a:xfrm>
          <a:prstGeom prst="line">
            <a:avLst/>
          </a:prstGeom>
          <a:ln w="952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713231" y="3264408"/>
            <a:ext cx="50291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55D78"/>
                </a:solidFill>
                <a:latin typeface="Microsoft YaHei"/>
              </a:rPr>
              <a:t>04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53311" y="3246120"/>
            <a:ext cx="9555479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B292E"/>
                </a:solidFill>
                <a:latin typeface="Microsoft YaHei"/>
              </a:rPr>
              <a:t>确认治理体系的负责人、交付物和完成标准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1353311" y="3767328"/>
            <a:ext cx="9573768" cy="0"/>
          </a:xfrm>
          <a:prstGeom prst="line">
            <a:avLst/>
          </a:prstGeom>
          <a:ln w="952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713231" y="3858768"/>
            <a:ext cx="50291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55D78"/>
                </a:solidFill>
                <a:latin typeface="Microsoft YaHei"/>
              </a:rPr>
              <a:t>05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353311" y="3840480"/>
            <a:ext cx="9555479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B292E"/>
                </a:solidFill>
                <a:latin typeface="Microsoft YaHei"/>
              </a:rPr>
              <a:t>完成探索并关闭阶段评审问题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1353311" y="4361688"/>
            <a:ext cx="9573768" cy="0"/>
          </a:xfrm>
          <a:prstGeom prst="line">
            <a:avLst/>
          </a:prstGeom>
          <a:ln w="952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713231" y="4453127"/>
            <a:ext cx="50291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55D78"/>
                </a:solidFill>
                <a:latin typeface="Microsoft YaHei"/>
              </a:rPr>
              <a:t>06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353311" y="4434840"/>
            <a:ext cx="9555479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B292E"/>
                </a:solidFill>
                <a:latin typeface="Microsoft YaHei"/>
              </a:rPr>
              <a:t>完成聚焦并关闭阶段评审问题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1353311" y="4956048"/>
            <a:ext cx="9573768" cy="0"/>
          </a:xfrm>
          <a:prstGeom prst="line">
            <a:avLst/>
          </a:prstGeom>
          <a:ln w="952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713231" y="5047488"/>
            <a:ext cx="50291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55D78"/>
                </a:solidFill>
                <a:latin typeface="Microsoft YaHei"/>
              </a:rPr>
              <a:t>07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353311" y="5029200"/>
            <a:ext cx="9555479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B292E"/>
                </a:solidFill>
                <a:latin typeface="Microsoft YaHei"/>
              </a:rPr>
              <a:t>完成平台并关闭阶段评审问题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1353311" y="5550408"/>
            <a:ext cx="9573768" cy="0"/>
          </a:xfrm>
          <a:prstGeom prst="line">
            <a:avLst/>
          </a:prstGeom>
          <a:ln w="952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713231" y="5641848"/>
            <a:ext cx="50291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55D78"/>
                </a:solidFill>
                <a:latin typeface="Microsoft YaHei"/>
              </a:rPr>
              <a:t>08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353311" y="5623560"/>
            <a:ext cx="9555479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B292E"/>
                </a:solidFill>
                <a:latin typeface="Microsoft YaHei"/>
              </a:rPr>
              <a:t>完成规模并关闭阶段评审问题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841247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682495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523743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364991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206239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047487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888735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729983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571231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412479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253727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094975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936223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1777471" y="0"/>
            <a:ext cx="0" cy="685800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841248"/>
            <a:ext cx="12191695" cy="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1682496"/>
            <a:ext cx="12191695" cy="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2523744"/>
            <a:ext cx="12191695" cy="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3364992"/>
            <a:ext cx="12191695" cy="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4206240"/>
            <a:ext cx="12191695" cy="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5047488"/>
            <a:ext cx="12191695" cy="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5888736"/>
            <a:ext cx="12191695" cy="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6729984"/>
            <a:ext cx="12191695" cy="0"/>
          </a:xfrm>
          <a:prstGeom prst="line">
            <a:avLst/>
          </a:prstGeom>
          <a:ln w="4445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58367" y="987552"/>
            <a:ext cx="10881360" cy="0"/>
          </a:xfrm>
          <a:prstGeom prst="line">
            <a:avLst/>
          </a:prstGeom>
          <a:ln w="25400">
            <a:solidFill>
              <a:srgbClr val="1B29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58367" y="5413248"/>
            <a:ext cx="10881360" cy="0"/>
          </a:xfrm>
          <a:prstGeom prst="line">
            <a:avLst/>
          </a:prstGeom>
          <a:ln w="12700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973567" y="1234440"/>
            <a:ext cx="0" cy="3904488"/>
          </a:xfrm>
          <a:prstGeom prst="line">
            <a:avLst/>
          </a:prstGeom>
          <a:ln w="12700">
            <a:solidFill>
              <a:srgbClr val="D8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321039" y="1417320"/>
            <a:ext cx="278891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55D78"/>
                </a:solidFill>
                <a:latin typeface="Microsoft YaHei"/>
              </a:rPr>
              <a:t>DATA / PRESS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" y="1627632"/>
            <a:ext cx="6812279" cy="1325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1B292E"/>
                </a:solidFill>
                <a:latin typeface="SimSun"/>
              </a:rPr>
              <a:t>规模化差距主要来自流程重构和治理能力，而非模型选择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3" y="4041648"/>
            <a:ext cx="6583679" cy="6583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606B70"/>
                </a:solidFill>
                <a:latin typeface="Microsoft YaHei"/>
              </a:rPr>
              <a:t>下一步：确认责任人、启动首个阶段并按周复盘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3" y="6144768"/>
            <a:ext cx="502919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606B70"/>
                </a:solidFill>
                <a:latin typeface="Microsoft YaHei"/>
              </a:rPr>
              <a:t>数据新闻  · 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中国企业 AI 应用成熟度报告</dc:title>
  <dc:subject>由企业 AI 工作平台基于语义页面角色与自适应模板生成</dc:subject>
  <dc:creator/>
  <cp:keywords>template=data-press;layout_family=premium;schema=presentation_spec.v2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