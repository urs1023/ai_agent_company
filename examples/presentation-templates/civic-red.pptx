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拆除重建</c:v>
                </c:pt>
              </c:strCache>
            </c:strRef>
          </c:tx>
          <c:spPr>
            <a:solidFill>
              <a:srgbClr val="A71924"/>
            </a:solidFill>
          </c:spPr>
          <c:cat>
            <c:strRef>
              <c:f>Sheet1!$A$2:$A$5</c:f>
              <c:strCache>
                <c:ptCount val="4"/>
                <c:pt idx="0">
                  <c:v>安全</c:v>
                </c:pt>
                <c:pt idx="1">
                  <c:v>公共服务</c:v>
                </c:pt>
                <c:pt idx="2">
                  <c:v>产业</c:v>
                </c:pt>
                <c:pt idx="3">
                  <c:v>历史保护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92.0</c:v>
                </c:pt>
                <c:pt idx="1">
                  <c:v>78.0</c:v>
                </c:pt>
                <c:pt idx="2">
                  <c:v>64.0</c:v>
                </c:pt>
                <c:pt idx="3">
                  <c:v>83.0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有机更新</c:v>
                </c:pt>
              </c:strCache>
            </c:strRef>
          </c:tx>
          <c:spPr>
            <a:solidFill>
              <a:srgbClr val="D7B06A"/>
            </a:solidFill>
          </c:spPr>
          <c:cat>
            <c:strRef>
              <c:f>Sheet1!$A$2:$A$5</c:f>
              <c:strCache>
                <c:ptCount val="4"/>
                <c:pt idx="0">
                  <c:v>安全</c:v>
                </c:pt>
                <c:pt idx="1">
                  <c:v>公共服务</c:v>
                </c:pt>
                <c:pt idx="2">
                  <c:v>产业</c:v>
                </c:pt>
                <c:pt idx="3">
                  <c:v>历史保护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61.0</c:v>
                </c:pt>
                <c:pt idx="1">
                  <c:v>55.0</c:v>
                </c:pt>
                <c:pt idx="2">
                  <c:v>72.0</c:v>
                </c:pt>
                <c:pt idx="3">
                  <c:v>41.0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DCF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19" y="5285232"/>
            <a:ext cx="10744199" cy="73152"/>
          </a:xfrm>
          <a:prstGeom prst="rect">
            <a:avLst/>
          </a:prstGeom>
          <a:solidFill>
            <a:srgbClr val="D7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79" y="146304"/>
            <a:ext cx="15087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汇报材料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3" y="1417320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A71924"/>
                </a:solidFill>
                <a:latin typeface="Microsoft YaHei"/>
              </a:rPr>
              <a:t>政务红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79" y="2029968"/>
            <a:ext cx="1001267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29201F"/>
                </a:solidFill>
                <a:latin typeface="Microsoft YaHei"/>
              </a:rPr>
              <a:t>城市更新重点项目汇报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59" y="4041648"/>
            <a:ext cx="91439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E5A58"/>
                </a:solidFill>
                <a:latin typeface="Microsoft YaHei"/>
              </a:rPr>
              <a:t>民生改善、产业导入和历史保护的年度进展（演示数据）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79" y="5897880"/>
            <a:ext cx="448055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5A58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本次汇报回答四个关键问题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71924"/>
                </a:solidFill>
                <a:latin typeface="Microsoft YaHei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01F"/>
                </a:solidFill>
                <a:latin typeface="Microsoft YaHei"/>
              </a:rPr>
              <a:t>为什么现在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71924"/>
                </a:solidFill>
                <a:latin typeface="Microsoft YaHei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01F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71924"/>
                </a:solidFill>
                <a:latin typeface="Microsoft YaHei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01F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71924"/>
                </a:solidFill>
                <a:latin typeface="Microsoft YaHei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01F"/>
                </a:solidFill>
                <a:latin typeface="Microsoft YaHei"/>
              </a:rPr>
              <a:t>怎样落地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交付计划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工作包、责任人与时间窗口已经对齐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02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79" y="1463040"/>
          <a:ext cx="109270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39"/>
                <a:gridCol w="3642359"/>
                <a:gridCol w="2428239"/>
                <a:gridCol w="242823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7F2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A719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7F2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A719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7F2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A719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7F2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A71924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前期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完成规划、征询和资金方案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一期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实施基础设施与安全改造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二期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推进公共空间和建筑活化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招商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遴选产业与运营主体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AF7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运营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建立长期绩效评估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01F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五个阶段把方向转化为可验收成果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79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71924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01F"/>
                </a:solidFill>
                <a:latin typeface="Microsoft YaHei"/>
              </a:rPr>
              <a:t>前期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5A58"/>
                </a:solidFill>
                <a:latin typeface="Microsoft YaHei"/>
              </a:rPr>
              <a:t>完成规划、征询和资金方案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9270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2150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71924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150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01F"/>
                </a:solidFill>
                <a:latin typeface="Microsoft YaHei"/>
              </a:rPr>
              <a:t>一期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150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5A58"/>
                </a:solidFill>
                <a:latin typeface="Microsoft YaHei"/>
              </a:rPr>
              <a:t>实施基础设施与安全改造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8460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1340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71924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1340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01F"/>
                </a:solidFill>
                <a:latin typeface="Microsoft YaHei"/>
              </a:rPr>
              <a:t>二期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1340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5A58"/>
                </a:solidFill>
                <a:latin typeface="Microsoft YaHei"/>
              </a:rPr>
              <a:t>推进公共空间和建筑活化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7651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0531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71924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0531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01F"/>
                </a:solidFill>
                <a:latin typeface="Microsoft YaHei"/>
              </a:rPr>
              <a:t>招商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531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5A58"/>
                </a:solidFill>
                <a:latin typeface="Microsoft YaHei"/>
              </a:rPr>
              <a:t>遴选产业与运营主体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6841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9721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71924"/>
                </a:solidFill>
                <a:latin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9721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01F"/>
                </a:solidFill>
                <a:latin typeface="Microsoft YaHei"/>
              </a:rPr>
              <a:t>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9721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5A58"/>
                </a:solidFill>
                <a:latin typeface="Microsoft YaHei"/>
              </a:rPr>
              <a:t>建立长期绩效评估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关键指标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四项指标界定当前状态与决策空间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71924"/>
                </a:solidFill>
                <a:latin typeface="Microsoft YaHei"/>
              </a:rPr>
              <a:t>批准二期实施并同步启动运营主体遴选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2093976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1" y="2075688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01F"/>
                </a:solidFill>
                <a:latin typeface="Microsoft YaHei"/>
              </a:rPr>
              <a:t>更新面积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39" y="2093976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覆盖三个重点片区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2002536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71924"/>
                </a:solidFill>
                <a:latin typeface="Microsoft YaHei"/>
              </a:rPr>
              <a:t>18.6万㎡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4751" y="2688336"/>
            <a:ext cx="9637776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7" y="3035808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1" y="3017520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01F"/>
                </a:solidFill>
                <a:latin typeface="Microsoft YaHei"/>
              </a:rPr>
              <a:t>受益居民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39" y="3035808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基础设施和公共服务改善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944368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7B06A"/>
                </a:solidFill>
                <a:latin typeface="Microsoft YaHei"/>
              </a:rPr>
              <a:t>4,280户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44751" y="3630168"/>
            <a:ext cx="9637776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7" y="3977639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1" y="3959351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01F"/>
                </a:solidFill>
                <a:latin typeface="Microsoft YaHei"/>
              </a:rPr>
              <a:t>历史建筑活化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39" y="3977639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保留风貌并导入新功能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886200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71924"/>
                </a:solidFill>
                <a:latin typeface="Microsoft YaHei"/>
              </a:rPr>
              <a:t>63%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44751" y="4572000"/>
            <a:ext cx="9637776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7" y="4919472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1" y="4901183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01F"/>
                </a:solidFill>
                <a:latin typeface="Microsoft YaHei"/>
              </a:rPr>
              <a:t>社会投资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39" y="4919472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5A58"/>
                </a:solidFill>
                <a:latin typeface="Microsoft YaHei"/>
              </a:rPr>
              <a:t>财政资金发挥撬动作用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4828032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7B06A"/>
                </a:solidFill>
                <a:latin typeface="Microsoft YaHei"/>
              </a:rPr>
              <a:t>32亿元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44751" y="5513831"/>
            <a:ext cx="9637776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批准二期实施并同步启动运营主体遴选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9201F"/>
                </a:solidFill>
                <a:latin typeface="Microsoft YaHei"/>
              </a:rPr>
              <a:t>批准二期实施并同步启动运营主体遴选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E5A58"/>
                </a:solidFill>
                <a:latin typeface="Microsoft YaHei"/>
              </a:rPr>
              <a:t>受益居民  ·  历史建筑活化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路径选择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两种路径的价值与代价必须同时看清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1" y="1554480"/>
            <a:ext cx="5266943" cy="4370832"/>
          </a:xfrm>
          <a:prstGeom prst="rect">
            <a:avLst/>
          </a:prstGeom>
          <a:solidFill>
            <a:srgbClr val="D7B06A"/>
          </a:solidFill>
          <a:ln w="7315">
            <a:solidFill>
              <a:srgbClr val="292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71924"/>
                </a:solidFill>
                <a:latin typeface="Microsoft YaHei"/>
              </a:rPr>
              <a:t>拆除重建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71924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施工效率高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71924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容量提升快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71924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文化损失大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71924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社会协调强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1" y="1554480"/>
            <a:ext cx="5266943" cy="4370832"/>
          </a:xfrm>
          <a:prstGeom prst="rect">
            <a:avLst/>
          </a:prstGeom>
          <a:solidFill>
            <a:srgbClr val="A71924"/>
          </a:solidFill>
          <a:ln w="7315">
            <a:solidFill>
              <a:srgbClr val="292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D7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7B06A"/>
                </a:solidFill>
                <a:latin typeface="Microsoft YaHei"/>
              </a:rPr>
              <a:t>有机更新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7B06A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保留城市记忆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7B06A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民生改善渐进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7B06A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周期较长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7B06A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01F"/>
                </a:solidFill>
                <a:latin typeface="Microsoft YaHei"/>
              </a:rPr>
              <a:t>运营要求更高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关键抓手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形成结果需要同时推进四个抓手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01F"/>
                </a:solidFill>
                <a:latin typeface="Microsoft YaHei"/>
              </a:rPr>
              <a:t>民生优先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5A58"/>
                </a:solidFill>
                <a:latin typeface="Microsoft YaHei"/>
              </a:rPr>
              <a:t>先解决安全、交通和公共服务短板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D7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01F"/>
                </a:solidFill>
                <a:latin typeface="Microsoft YaHei"/>
              </a:rPr>
              <a:t>保护利用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5A58"/>
                </a:solidFill>
                <a:latin typeface="Microsoft YaHei"/>
              </a:rPr>
              <a:t>历史建筑分级保护与适应性使用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01F"/>
                </a:solidFill>
                <a:latin typeface="Microsoft YaHei"/>
              </a:rPr>
              <a:t>产业导入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5A58"/>
                </a:solidFill>
                <a:latin typeface="Microsoft YaHei"/>
              </a:rPr>
              <a:t>引入长期运营和就业能力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D7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01F"/>
                </a:solidFill>
                <a:latin typeface="Microsoft YaHei"/>
              </a:rPr>
              <a:t>多元共治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5A58"/>
                </a:solidFill>
                <a:latin typeface="Microsoft YaHei"/>
              </a:rPr>
              <a:t>居民、业主和运营主体共同参与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能力组合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业务结果与能力建设必须同步发生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71924"/>
                </a:solidFill>
                <a:latin typeface="Microsoft YaHei"/>
              </a:rPr>
              <a:t>业务侧负责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71924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民生优先：先解决安全、交通和公共服务短板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71924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保护利用：历史建筑分级保护与适应性使用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71924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产业导入：引入长期运营和就业能力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71924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多元共治：居民、业主和运营主体共同参与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D7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7B06A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7B06A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居民协调：公开方案和分层沟通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7B06A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保护冲突：专家评审和过程监督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7B06A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资金缺口：分期实施与社会资本组合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7B06A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01F"/>
                </a:solidFill>
                <a:latin typeface="Microsoft YaHei"/>
              </a:rPr>
              <a:t>运营空置：改造前同步完成招商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四类风险均已设置前置缓释动作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居民协调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5A58"/>
                </a:solidFill>
                <a:latin typeface="Microsoft YaHei"/>
              </a:rPr>
              <a:t>公开方案和分层沟通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9201F"/>
                </a:solidFill>
                <a:latin typeface="Microsoft YaHei"/>
              </a:rPr>
              <a:t>保护冲突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5A58"/>
                </a:solidFill>
                <a:latin typeface="Microsoft YaHei"/>
              </a:rPr>
              <a:t>专家评审和过程监督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9201F"/>
                </a:solidFill>
                <a:latin typeface="Microsoft YaHei"/>
              </a:rPr>
              <a:t>资金缺口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5A58"/>
                </a:solidFill>
                <a:latin typeface="Microsoft YaHei"/>
              </a:rPr>
              <a:t>分期实施与社会资本组合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DC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运营空置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5A58"/>
                </a:solidFill>
                <a:latin typeface="Microsoft YaHei"/>
              </a:rPr>
              <a:t>改造前同步完成招商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数据表明差异集中在少数关键维度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10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71924"/>
                </a:solidFill>
                <a:latin typeface="Microsoft YaHei"/>
              </a:rPr>
              <a:t>核心洞察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9201F"/>
                </a:solidFill>
                <a:latin typeface="Microsoft YaHei"/>
              </a:rPr>
              <a:t>有机更新在民生和历史保护维度形成更均衡结果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5A58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未来八周的行动已拆解到责任和验收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确认民生优先的负责人、交付物和完成标准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确认保护利用的负责人、交付物和完成标准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确认产业导入的负责人、交付物和完成标准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确认多元共治的负责人、交付物和完成标准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完成前期并关闭阶段评审问题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完成一期并关闭阶段评审问题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完成二期并关闭阶段评审问题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71924"/>
                </a:solidFill>
                <a:latin typeface="Microsoft YaHe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01F"/>
                </a:solidFill>
                <a:latin typeface="Microsoft YaHei"/>
              </a:rPr>
              <a:t>完成招商并关闭阶段评审问题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38912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1" y="274320"/>
            <a:ext cx="283463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共同原则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80467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01F"/>
                </a:solidFill>
                <a:latin typeface="Microsoft YaHei"/>
              </a:rPr>
              <a:t>团队需要坚持一条简单原则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D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5A58"/>
                </a:solidFill>
                <a:latin typeface="Microsoft YaHei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A71924"/>
                </a:solidFill>
                <a:latin typeface="Microsoft YaHe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01F"/>
                </a:solidFill>
                <a:latin typeface="Microsoft YaHei"/>
              </a:rPr>
              <a:t>城市更新不是把旧的全部换新，而是让有价值的部分继续生长。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A71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5A58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A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19" y="5285232"/>
            <a:ext cx="10744199" cy="73152"/>
          </a:xfrm>
          <a:prstGeom prst="rect">
            <a:avLst/>
          </a:prstGeom>
          <a:solidFill>
            <a:srgbClr val="D7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79" y="146304"/>
            <a:ext cx="15087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F7F2"/>
                </a:solidFill>
                <a:latin typeface="Microsoft YaHei"/>
              </a:rPr>
              <a:t>汇报材料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79" y="2029968"/>
            <a:ext cx="1001267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29201F"/>
                </a:solidFill>
                <a:latin typeface="Microsoft YaHei"/>
              </a:rPr>
              <a:t>批准二期实施并同步启动运营主体遴选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59" y="4041648"/>
            <a:ext cx="914399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E5A58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9" y="5897880"/>
            <a:ext cx="448055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E5A58"/>
                </a:solidFill>
                <a:latin typeface="Microsoft YaHei"/>
              </a:rPr>
              <a:t>政务红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城市更新重点项目汇报</dc:title>
  <dc:subject>由企业 AI 工作平台基于语义页面角色与自适应模板生成</dc:subject>
  <dc:creator/>
  <cp:keywords>template=civic-red;layout_family=premium;schema=presentation_spec.v2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