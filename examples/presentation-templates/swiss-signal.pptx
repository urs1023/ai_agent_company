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广覆盖</c:v>
                </c:pt>
              </c:strCache>
            </c:strRef>
          </c:tx>
          <c:spPr>
            <a:solidFill>
              <a:srgbClr val="E21D2D"/>
            </a:solidFill>
          </c:spPr>
          <c:cat>
            <c:strRef>
              <c:f>Sheet1!$A$2:$A$5</c:f>
              <c:strCache>
                <c:ptCount val="4"/>
                <c:pt idx="0">
                  <c:v>市场 A</c:v>
                </c:pt>
                <c:pt idx="1">
                  <c:v>市场 B</c:v>
                </c:pt>
                <c:pt idx="2">
                  <c:v>市场 C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86.0</c:v>
                </c:pt>
                <c:pt idx="1">
                  <c:v>79.0</c:v>
                </c:pt>
                <c:pt idx="2">
                  <c:v>72.0</c:v>
                </c:pt>
                <c:pt idx="3">
                  <c:v>41.0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深市场</c:v>
                </c:pt>
              </c:strCache>
            </c:strRef>
          </c:tx>
          <c:spPr>
            <a:solidFill>
              <a:srgbClr val="111111"/>
            </a:solidFill>
          </c:spPr>
          <c:cat>
            <c:strRef>
              <c:f>Sheet1!$A$2:$A$5</c:f>
              <c:strCache>
                <c:ptCount val="4"/>
                <c:pt idx="0">
                  <c:v>市场 A</c:v>
                </c:pt>
                <c:pt idx="1">
                  <c:v>市场 B</c:v>
                </c:pt>
                <c:pt idx="2">
                  <c:v>市场 C</c:v>
                </c:pt>
                <c:pt idx="3">
                  <c:v>其他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64.0</c:v>
                </c:pt>
                <c:pt idx="1">
                  <c:v>58.0</c:v>
                </c:pt>
                <c:pt idx="2">
                  <c:v>53.0</c:v>
                </c:pt>
                <c:pt idx="3">
                  <c:v>46.0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8D8D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13231" y="4828032"/>
            <a:ext cx="1142999" cy="1143000"/>
          </a:xfrm>
          <a:prstGeom prst="rect">
            <a:avLst/>
          </a:prstGeom>
          <a:solidFill>
            <a:srgbClr val="E2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3999" y="3657600"/>
            <a:ext cx="2240279" cy="1371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0" b="1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231" y="841248"/>
            <a:ext cx="10762488" cy="0"/>
          </a:xfrm>
          <a:prstGeom prst="line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19" y="420624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E21D2D"/>
                </a:solidFill>
                <a:latin typeface="Arial"/>
              </a:rPr>
              <a:t>瑞士信号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1" y="1828800"/>
            <a:ext cx="1060703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111111"/>
                </a:solidFill>
                <a:latin typeface="Arial"/>
              </a:rPr>
              <a:t>增长战略的一个关键选择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" y="3383280"/>
            <a:ext cx="804671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66666"/>
                </a:solidFill>
                <a:latin typeface="Arial"/>
              </a:rPr>
              <a:t>扩大覆盖还是深化核心市场：基于证据的资源取舍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9" y="6126480"/>
            <a:ext cx="292607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7" y="530352"/>
            <a:ext cx="108813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6655" y="182880"/>
            <a:ext cx="310895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111111"/>
                </a:solidFill>
                <a:latin typeface="Arial"/>
              </a:rPr>
              <a:t>共同原则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9" y="640080"/>
            <a:ext cx="1097279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21D2D"/>
                </a:solidFill>
                <a:latin typeface="Arial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" y="749808"/>
            <a:ext cx="937259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"/>
              </a:rPr>
              <a:t>团队需要坚持一条简单原则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01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E21D2D"/>
                </a:solidFill>
                <a:latin typeface="Arial"/>
              </a:rPr>
              <a:t>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Arial"/>
              </a:rPr>
              <a:t>战略不是选择更多机会，而是决定哪些机会值得拒绝。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E21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Arial"/>
              </a:rPr>
              <a:t>— 项目核心团队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7" y="530352"/>
            <a:ext cx="108813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6655" y="182880"/>
            <a:ext cx="310895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111111"/>
                </a:solidFill>
                <a:latin typeface="Arial"/>
              </a:rPr>
              <a:t>核心判断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9" y="640080"/>
            <a:ext cx="1097279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21D2D"/>
                </a:solidFill>
                <a:latin typeface="Arial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" y="749808"/>
            <a:ext cx="937259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11111"/>
                </a:solidFill>
                <a:latin typeface="Arial"/>
              </a:rPr>
              <a:t>未来十二个月只做一件事：在三个核心市场建立可复制优势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02 /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E2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11111"/>
                </a:solidFill>
                <a:latin typeface="Arial"/>
              </a:rPr>
              <a:t>未来十二个月只做一件事：在三个核心市场建立可复制优势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66666"/>
                </a:solidFill>
                <a:latin typeface="Arial"/>
              </a:rPr>
              <a:t>客户价值  ·  服务成本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7" y="530352"/>
            <a:ext cx="108813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6655" y="182880"/>
            <a:ext cx="310895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111111"/>
                </a:solidFill>
                <a:latin typeface="Arial"/>
              </a:rPr>
              <a:t>路径选择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9" y="640080"/>
            <a:ext cx="1097279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21D2D"/>
                </a:solidFill>
                <a:latin typeface="Arial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" y="749808"/>
            <a:ext cx="937259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"/>
              </a:rPr>
              <a:t>两种路径的价值与代价必须同时看清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03 / 12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89903" y="1463040"/>
            <a:ext cx="0" cy="4434839"/>
          </a:xfrm>
          <a:prstGeom prst="line">
            <a:avLst/>
          </a:prstGeom>
          <a:ln w="190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E2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21D2D"/>
                </a:solidFill>
                <a:latin typeface="Arial"/>
              </a:rPr>
              <a:t>广覆盖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21D2D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线索数量多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21D2D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品牌曝光广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21D2D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资源分散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21D2D"/>
                </a:solidFill>
                <a:latin typeface="Arial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交付成本高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深市场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ial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客户密度高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口碑形成快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ial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短期覆盖窄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ial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需要坚定取舍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7" y="530352"/>
            <a:ext cx="108813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6655" y="182880"/>
            <a:ext cx="310895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111111"/>
                </a:solidFill>
                <a:latin typeface="Arial"/>
              </a:rPr>
              <a:t>风险管理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9" y="640080"/>
            <a:ext cx="1097279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21D2D"/>
                </a:solidFill>
                <a:latin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" y="749808"/>
            <a:ext cx="937259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"/>
              </a:rPr>
              <a:t>四类风险均已设置前置缓释动作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04 /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F7F7F7"/>
          </a:solidFill>
          <a:ln w="731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21D2D"/>
                </a:solidFill>
                <a:latin typeface="Arial"/>
              </a:rPr>
              <a:t>机会损失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保留轻量覆盖通道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F7F7F7"/>
          </a:solidFill>
          <a:ln w="731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局部竞争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建立差异化服务标准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F7F7F7"/>
          </a:solidFill>
          <a:ln w="731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团队依赖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沉淀标准化打法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F7F7F7"/>
          </a:solidFill>
          <a:ln w="731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21D2D"/>
                </a:solidFill>
                <a:latin typeface="Arial"/>
              </a:rPr>
              <a:t>扩张过早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设置密度达标门槛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7" y="530352"/>
            <a:ext cx="108813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6655" y="182880"/>
            <a:ext cx="310895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111111"/>
                </a:solidFill>
                <a:latin typeface="Arial"/>
              </a:rPr>
              <a:t>关键指标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9" y="640080"/>
            <a:ext cx="1097279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21D2D"/>
                </a:solidFill>
                <a:latin typeface="Arial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" y="749808"/>
            <a:ext cx="937259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"/>
              </a:rPr>
              <a:t>四项指标界定当前状态与决策空间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1D2D"/>
                </a:solidFill>
                <a:latin typeface="Arial"/>
              </a:rPr>
              <a:t>未来十二个月只做一件事：在三个核心市场建立可复制优势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05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1" y="2157984"/>
            <a:ext cx="6583679" cy="1828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E21D2D"/>
                </a:solidFill>
                <a:latin typeface="Arial"/>
              </a:rPr>
              <a:t>3城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1" y="4050791"/>
            <a:ext cx="62179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核心市场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1" y="4690872"/>
            <a:ext cx="594359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贡献 64% 的新增收入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199" y="2112264"/>
            <a:ext cx="160019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Arial"/>
              </a:rPr>
              <a:t>2.4x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4271" y="2185416"/>
            <a:ext cx="1993391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客户价值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15199" y="3008376"/>
            <a:ext cx="3858768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315199" y="3410712"/>
            <a:ext cx="160019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Arial"/>
              </a:rPr>
              <a:t>-18%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34271" y="3483864"/>
            <a:ext cx="1993391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服务成本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315199" y="4306824"/>
            <a:ext cx="3858768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315199" y="4709159"/>
            <a:ext cx="160019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Arial"/>
              </a:rPr>
              <a:t>76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4271" y="4782312"/>
            <a:ext cx="1993391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推荐指数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315199" y="5605272"/>
            <a:ext cx="3858768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7" y="530352"/>
            <a:ext cx="108813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6655" y="182880"/>
            <a:ext cx="310895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111111"/>
                </a:solidFill>
                <a:latin typeface="Arial"/>
              </a:rPr>
              <a:t>能力组合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9" y="640080"/>
            <a:ext cx="1097279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21D2D"/>
                </a:solidFill>
                <a:latin typeface="Arial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" y="749808"/>
            <a:ext cx="937259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"/>
              </a:rPr>
              <a:t>业务结果与能力建设必须同步发生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06 /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E2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21D2D"/>
                </a:solidFill>
                <a:latin typeface="Arial"/>
              </a:rPr>
              <a:t>业务侧负责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21D2D"/>
                </a:solidFill>
                <a:latin typeface="Arial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市场密度：围绕核心城市建立供给和服务优势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21D2D"/>
                </a:solidFill>
                <a:latin typeface="Arial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行业聚焦：优先进入价值和复购更高的行业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21D2D"/>
                </a:solidFill>
                <a:latin typeface="Arial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渠道共建：与高质量伙伴共享线索和交付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21D2D"/>
                </a:solidFill>
                <a:latin typeface="Arial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案例复制：把成功路径变成标准打法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平台与职能侧负责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机会损失：保留轻量覆盖通道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局部竞争：建立差异化服务标准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团队依赖：沉淀标准化打法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扩张过早：设置密度达标门槛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7" y="530352"/>
            <a:ext cx="108813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6655" y="182880"/>
            <a:ext cx="310895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111111"/>
                </a:solidFill>
                <a:latin typeface="Arial"/>
              </a:rPr>
              <a:t>关键抓手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9" y="640080"/>
            <a:ext cx="1097279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21D2D"/>
                </a:solidFill>
                <a:latin typeface="Arial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" y="749808"/>
            <a:ext cx="937259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"/>
              </a:rPr>
              <a:t>形成结果需要同时推进四个抓手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07 /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5" y="1463040"/>
            <a:ext cx="5381243" cy="2121408"/>
          </a:xfrm>
          <a:prstGeom prst="rect">
            <a:avLst/>
          </a:prstGeom>
          <a:solidFill>
            <a:srgbClr val="F7F7F7"/>
          </a:solidFill>
          <a:ln w="731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5" y="1463040"/>
            <a:ext cx="82295" cy="2121408"/>
          </a:xfrm>
          <a:prstGeom prst="rect">
            <a:avLst/>
          </a:prstGeom>
          <a:solidFill>
            <a:srgbClr val="E2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3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市场密度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3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Arial"/>
              </a:rPr>
              <a:t>围绕核心城市建立供给和服务优势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22491" y="1463040"/>
            <a:ext cx="5381243" cy="2121408"/>
          </a:xfrm>
          <a:prstGeom prst="rect">
            <a:avLst/>
          </a:prstGeom>
          <a:solidFill>
            <a:srgbClr val="F7F7F7"/>
          </a:solidFill>
          <a:ln w="731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2491" y="1463040"/>
            <a:ext cx="82295" cy="21214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5099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行业聚焦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5099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Arial"/>
              </a:rPr>
              <a:t>优先进入价值和复购更高的行业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5" y="3840479"/>
            <a:ext cx="5381243" cy="2121408"/>
          </a:xfrm>
          <a:prstGeom prst="rect">
            <a:avLst/>
          </a:prstGeom>
          <a:solidFill>
            <a:srgbClr val="F7F7F7"/>
          </a:solidFill>
          <a:ln w="731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5215" y="3840479"/>
            <a:ext cx="82295" cy="2121408"/>
          </a:xfrm>
          <a:prstGeom prst="rect">
            <a:avLst/>
          </a:prstGeom>
          <a:solidFill>
            <a:srgbClr val="E2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3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渠道共建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3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Arial"/>
              </a:rPr>
              <a:t>与高质量伙伴共享线索和交付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22491" y="3840479"/>
            <a:ext cx="5381243" cy="2121408"/>
          </a:xfrm>
          <a:prstGeom prst="rect">
            <a:avLst/>
          </a:prstGeom>
          <a:solidFill>
            <a:srgbClr val="F7F7F7"/>
          </a:solidFill>
          <a:ln w="731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22491" y="3840479"/>
            <a:ext cx="82295" cy="21214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5099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案例复制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5099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Arial"/>
              </a:rPr>
              <a:t>把成功路径变成标准打法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7" y="530352"/>
            <a:ext cx="108813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6655" y="182880"/>
            <a:ext cx="310895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111111"/>
                </a:solidFill>
                <a:latin typeface="Arial"/>
              </a:rPr>
              <a:t>实施路径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9" y="640080"/>
            <a:ext cx="1097279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21D2D"/>
                </a:solidFill>
                <a:latin typeface="Arial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" y="749808"/>
            <a:ext cx="937259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"/>
              </a:rPr>
              <a:t>五个阶段把方向转化为可验收成果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08 / 12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687" y="2962656"/>
            <a:ext cx="10177272" cy="0"/>
          </a:xfrm>
          <a:prstGeom prst="line">
            <a:avLst/>
          </a:prstGeom>
          <a:ln w="254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iamond 33"/>
          <p:cNvSpPr/>
          <p:nvPr/>
        </p:nvSpPr>
        <p:spPr>
          <a:xfrm>
            <a:off x="731519" y="2761488"/>
            <a:ext cx="402335" cy="402336"/>
          </a:xfrm>
          <a:prstGeom prst="diamond">
            <a:avLst/>
          </a:prstGeom>
          <a:solidFill>
            <a:srgbClr val="E21D2D"/>
          </a:solidFill>
          <a:ln w="7315">
            <a:solidFill>
              <a:srgbClr val="E2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5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5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选择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39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确认三座核心城市</a:t>
            </a:r>
          </a:p>
        </p:txBody>
      </p:sp>
      <p:sp>
        <p:nvSpPr>
          <p:cNvPr id="38" name="Diamond 37"/>
          <p:cNvSpPr/>
          <p:nvPr/>
        </p:nvSpPr>
        <p:spPr>
          <a:xfrm>
            <a:off x="3275837" y="2761488"/>
            <a:ext cx="402335" cy="402336"/>
          </a:xfrm>
          <a:prstGeom prst="diamond">
            <a:avLst/>
          </a:prstGeom>
          <a:solidFill>
            <a:srgbClr val="F7F7F7"/>
          </a:solidFill>
          <a:ln w="7315">
            <a:solidFill>
              <a:srgbClr val="E2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12413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21D2D"/>
                </a:solidFill>
                <a:latin typeface="Arial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72333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聚焦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35757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集中销售与交付资源</a:t>
            </a:r>
          </a:p>
        </p:txBody>
      </p:sp>
      <p:sp>
        <p:nvSpPr>
          <p:cNvPr id="42" name="Diamond 41"/>
          <p:cNvSpPr/>
          <p:nvPr/>
        </p:nvSpPr>
        <p:spPr>
          <a:xfrm>
            <a:off x="5820155" y="2761488"/>
            <a:ext cx="402335" cy="402336"/>
          </a:xfrm>
          <a:prstGeom prst="diamond">
            <a:avLst/>
          </a:prstGeom>
          <a:solidFill>
            <a:srgbClr val="F7F7F7"/>
          </a:solidFill>
          <a:ln w="7315">
            <a:solidFill>
              <a:srgbClr val="E2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6731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21D2D"/>
                </a:solidFill>
                <a:latin typeface="Arial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6651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突破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80075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拿下行业标杆客户</a:t>
            </a:r>
          </a:p>
        </p:txBody>
      </p:sp>
      <p:sp>
        <p:nvSpPr>
          <p:cNvPr id="46" name="Diamond 45"/>
          <p:cNvSpPr/>
          <p:nvPr/>
        </p:nvSpPr>
        <p:spPr>
          <a:xfrm>
            <a:off x="8364473" y="2761488"/>
            <a:ext cx="402335" cy="402336"/>
          </a:xfrm>
          <a:prstGeom prst="diamond">
            <a:avLst/>
          </a:prstGeom>
          <a:solidFill>
            <a:srgbClr val="F7F7F7"/>
          </a:solidFill>
          <a:ln w="7315">
            <a:solidFill>
              <a:srgbClr val="E2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01049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21D2D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60969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复制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24393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形成渠道和案例组合</a:t>
            </a:r>
          </a:p>
        </p:txBody>
      </p:sp>
      <p:sp>
        <p:nvSpPr>
          <p:cNvPr id="50" name="Diamond 49"/>
          <p:cNvSpPr/>
          <p:nvPr/>
        </p:nvSpPr>
        <p:spPr>
          <a:xfrm>
            <a:off x="10908791" y="2761488"/>
            <a:ext cx="402335" cy="402336"/>
          </a:xfrm>
          <a:prstGeom prst="diamond">
            <a:avLst/>
          </a:prstGeom>
          <a:solidFill>
            <a:srgbClr val="F7F7F7"/>
          </a:solidFill>
          <a:ln w="7315">
            <a:solidFill>
              <a:srgbClr val="E2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45367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21D2D"/>
                </a:solidFill>
                <a:latin typeface="Arial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05287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扩张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68711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用成熟模型进入相邻市场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7" y="530352"/>
            <a:ext cx="108813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6655" y="182880"/>
            <a:ext cx="310895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111111"/>
                </a:solidFill>
                <a:latin typeface="Arial"/>
              </a:rPr>
              <a:t>证据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9" y="640080"/>
            <a:ext cx="1097279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21D2D"/>
                </a:solidFill>
                <a:latin typeface="Arial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" y="749808"/>
            <a:ext cx="937259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"/>
              </a:rPr>
              <a:t>数据表明差异集中在少数关键维度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09 / 12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1D2D"/>
                </a:solidFill>
                <a:latin typeface="Arial"/>
              </a:rPr>
              <a:t>核心洞察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Arial"/>
              </a:rPr>
              <a:t>前三个市场的价值和效率同时领先，具备集中投入条件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7" y="530352"/>
            <a:ext cx="108813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6655" y="182880"/>
            <a:ext cx="310895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111111"/>
                </a:solidFill>
                <a:latin typeface="Arial"/>
              </a:rPr>
              <a:t>行动清单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9" y="640080"/>
            <a:ext cx="1097279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21D2D"/>
                </a:solidFill>
                <a:latin typeface="Arial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" y="749808"/>
            <a:ext cx="937259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"/>
              </a:rPr>
              <a:t>未来八周的行动已拆解到责任和验收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10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21D2D"/>
                </a:solidFill>
                <a:latin typeface="Arial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确认市场密度的负责人、交付物和完成标准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21D2D"/>
                </a:solidFill>
                <a:latin typeface="Arial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确认行业聚焦的负责人、交付物和完成标准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21D2D"/>
                </a:solidFill>
                <a:latin typeface="Arial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确认渠道共建的负责人、交付物和完成标准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21D2D"/>
                </a:solidFill>
                <a:latin typeface="Arial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确认案例复制的负责人、交付物和完成标准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21D2D"/>
                </a:solidFill>
                <a:latin typeface="Arial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完成选择并关闭阶段评审问题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21D2D"/>
                </a:solidFill>
                <a:latin typeface="Arial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完成聚焦并关闭阶段评审问题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21D2D"/>
                </a:solidFill>
                <a:latin typeface="Arial"/>
              </a:rPr>
              <a:t>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完成突破并关闭阶段评审问题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21D2D"/>
                </a:solidFill>
                <a:latin typeface="Arial"/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完成复制并关闭阶段评审问题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7" y="530352"/>
            <a:ext cx="108813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6655" y="182880"/>
            <a:ext cx="310895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111111"/>
                </a:solidFill>
                <a:latin typeface="Arial"/>
              </a:rPr>
              <a:t>交付计划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9" y="640080"/>
            <a:ext cx="1097279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21D2D"/>
                </a:solidFill>
                <a:latin typeface="Arial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" y="749808"/>
            <a:ext cx="937259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"/>
              </a:rPr>
              <a:t>工作包、责任人与时间窗口已经对齐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11 / 12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79" y="1463040"/>
          <a:ext cx="109270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618"/>
                <a:gridCol w="3434225"/>
                <a:gridCol w="2497618"/>
                <a:gridCol w="2497618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E2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E2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E2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E21D2D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选择</a:t>
                      </a:r>
                    </a:p>
                  </a:txBody>
                  <a:tcPr marL="91440" marR="91440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确认三座核心城市</a:t>
                      </a:r>
                    </a:p>
                  </a:txBody>
                  <a:tcPr marL="91440" marR="91440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F7F7F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聚焦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集中销售与交付资源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突破</a:t>
                      </a:r>
                    </a:p>
                  </a:txBody>
                  <a:tcPr marL="91440" marR="91440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拿下行业标杆客户</a:t>
                      </a:r>
                    </a:p>
                  </a:txBody>
                  <a:tcPr marL="91440" marR="91440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F7F7F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复制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形成渠道和案例组合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扩张</a:t>
                      </a:r>
                    </a:p>
                  </a:txBody>
                  <a:tcPr marL="91440" marR="91440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用成熟模型进入相邻市场</a:t>
                      </a:r>
                    </a:p>
                  </a:txBody>
                  <a:tcPr marL="91440" marR="91440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7" y="530352"/>
            <a:ext cx="1088136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6655" y="182880"/>
            <a:ext cx="310895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111111"/>
                </a:solidFill>
                <a:latin typeface="Arial"/>
              </a:rPr>
              <a:t>导航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9" y="640080"/>
            <a:ext cx="1097279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21D2D"/>
                </a:solidFill>
                <a:latin typeface="Arial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" y="749808"/>
            <a:ext cx="937259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Arial"/>
              </a:rPr>
              <a:t>本次汇报回答四个关键问题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完整业务示例 · 所有数字均为模板演示数据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12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21D2D"/>
                </a:solidFill>
                <a:latin typeface="Arial"/>
              </a:rPr>
              <a:t>01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为什么现在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背景、变化和机会窗口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21D2D"/>
                </a:solidFill>
                <a:latin typeface="Arial"/>
              </a:rPr>
              <a:t>02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事实说明什么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指标、证据和关键差异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21D2D"/>
                </a:solidFill>
                <a:latin typeface="Arial"/>
              </a:rPr>
              <a:t>03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应该如何选择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方案取舍和风险边界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21D2D"/>
                </a:solidFill>
                <a:latin typeface="Arial"/>
              </a:rPr>
              <a:t>04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怎样落地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Arial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13231" y="4828032"/>
            <a:ext cx="1142999" cy="1143000"/>
          </a:xfrm>
          <a:prstGeom prst="rect">
            <a:avLst/>
          </a:prstGeom>
          <a:solidFill>
            <a:srgbClr val="E2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3999" y="3657600"/>
            <a:ext cx="2240279" cy="1371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0" b="1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231" y="841248"/>
            <a:ext cx="10762488" cy="0"/>
          </a:xfrm>
          <a:prstGeom prst="line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1" y="1828800"/>
            <a:ext cx="1060703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11111"/>
                </a:solidFill>
                <a:latin typeface="Arial"/>
              </a:rPr>
              <a:t>未来十二个月只做一件事：在三个核心市场建立可复制优势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" y="3383280"/>
            <a:ext cx="804671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66666"/>
                </a:solidFill>
                <a:latin typeface="Arial"/>
              </a:rPr>
              <a:t>下一步：确认责任人、启动首个阶段并按周复盘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6126480"/>
            <a:ext cx="292607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Arial"/>
              </a:rPr>
              <a:t>瑞士信号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增长战略的一个关键选择</dc:title>
  <dc:subject>由企业 AI 工作平台基于语义页面角色与自适应模板生成</dc:subject>
  <dc:creator/>
  <cp:keywords>template=swiss-signal;layout_family=premium;schema=presentation_spec.v2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