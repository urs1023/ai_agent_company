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通用聊天</c:v>
                </c:pt>
              </c:strCache>
            </c:strRef>
          </c:tx>
          <c:spPr>
            <a:solidFill>
              <a:srgbClr val="6257E8"/>
            </a:solidFill>
          </c:spPr>
          <c:cat>
            <c:strRef>
              <c:f>Sheet1!$A$2:$A$5</c:f>
              <c:strCache>
                <c:ptCount val="4"/>
                <c:pt idx="0">
                  <c:v>查制度</c:v>
                </c:pt>
                <c:pt idx="1">
                  <c:v>审合同</c:v>
                </c:pt>
                <c:pt idx="2">
                  <c:v>写方案</c:v>
                </c:pt>
                <c:pt idx="3">
                  <c:v>查项目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</c:v>
                </c:pt>
                <c:pt idx="1">
                  <c:v>76.0</c:v>
                </c:pt>
                <c:pt idx="2">
                  <c:v>83.0</c:v>
                </c:pt>
                <c:pt idx="3">
                  <c:v>91.0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企业知识助手</c:v>
                </c:pt>
              </c:strCache>
            </c:strRef>
          </c:tx>
          <c:spPr>
            <a:solidFill>
              <a:srgbClr val="18AFA4"/>
            </a:solidFill>
          </c:spPr>
          <c:cat>
            <c:strRef>
              <c:f>Sheet1!$A$2:$A$5</c:f>
              <c:strCache>
                <c:ptCount val="4"/>
                <c:pt idx="0">
                  <c:v>查制度</c:v>
                </c:pt>
                <c:pt idx="1">
                  <c:v>审合同</c:v>
                </c:pt>
                <c:pt idx="2">
                  <c:v>写方案</c:v>
                </c:pt>
                <c:pt idx="3">
                  <c:v>查项目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51.0</c:v>
                </c:pt>
                <c:pt idx="1">
                  <c:v>43.0</c:v>
                </c:pt>
                <c:pt idx="2">
                  <c:v>46.0</c:v>
                </c:pt>
                <c:pt idx="3">
                  <c:v>58.0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4DAF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79" y="274320"/>
            <a:ext cx="3017519" cy="301752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39" y="3611880"/>
            <a:ext cx="3017519" cy="30175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17319" y="1024128"/>
            <a:ext cx="9372599" cy="48006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1417320"/>
            <a:ext cx="1874519" cy="438912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4831" y="1508760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6257E8"/>
                </a:solidFill>
                <a:latin typeface="Microsoft YaHei"/>
              </a:rPr>
              <a:t>极光玻璃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212848"/>
            <a:ext cx="832103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71A3D"/>
                </a:solidFill>
                <a:latin typeface="Microsoft YaHei UI"/>
              </a:rPr>
              <a:t>企业知识助手产品发布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1" y="4206240"/>
            <a:ext cx="72237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2698B"/>
                </a:solidFill>
                <a:latin typeface="Microsoft YaHei"/>
              </a:rPr>
              <a:t>把分散知识转化为可信回答、协同流程和可复用能力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1" y="5285232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698B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核心判断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1A3D"/>
                </a:solidFill>
                <a:latin typeface="Microsoft YaHei UI"/>
              </a:rPr>
              <a:t>以可信检索和工作流执行为双核心，先服务高频专业任务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01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1A3D"/>
                </a:solidFill>
                <a:latin typeface="Microsoft YaHei UI"/>
              </a:rPr>
              <a:t>以可信检索和工作流执行为双核心，先服务高频专业任务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2698B"/>
                </a:solidFill>
                <a:latin typeface="Microsoft YaHei"/>
              </a:rPr>
              <a:t>答案可追溯率  ·  首发场景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关键抓手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5" y="1463040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3D"/>
                </a:solidFill>
                <a:latin typeface="Microsoft YaHei"/>
              </a:rPr>
              <a:t>可信回答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698B"/>
                </a:solidFill>
                <a:latin typeface="Microsoft YaHei"/>
              </a:rPr>
              <a:t>答案展示来源、位置和权限边界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1" y="1463040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3D"/>
                </a:solidFill>
                <a:latin typeface="Microsoft YaHei"/>
              </a:rPr>
              <a:t>多模态理解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698B"/>
                </a:solidFill>
                <a:latin typeface="Microsoft YaHei"/>
              </a:rPr>
              <a:t>同时理解正文、图片、图表和表格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" y="3840479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3D"/>
                </a:solidFill>
                <a:latin typeface="Microsoft YaHei"/>
              </a:rPr>
              <a:t>任务执行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698B"/>
                </a:solidFill>
                <a:latin typeface="Microsoft YaHei"/>
              </a:rPr>
              <a:t>从问答自然过渡到可审计操作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2491" y="3840479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A3D"/>
                </a:solidFill>
                <a:latin typeface="Microsoft YaHei"/>
              </a:rPr>
              <a:t>持续学习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698B"/>
                </a:solidFill>
                <a:latin typeface="Microsoft YaHei"/>
              </a:rPr>
              <a:t>把成功工作沉淀为团队能力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257E8"/>
                </a:solidFill>
                <a:latin typeface="Microsoft YaHei"/>
              </a:rPr>
              <a:t>以可信检索和工作流执行为双核心，先服务高频专业任务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03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1" y="2020824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" y="2313432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6257E8"/>
                </a:solidFill>
                <a:latin typeface="Microsoft YaHei UI"/>
              </a:rPr>
              <a:t>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59" y="2331720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3D"/>
                </a:solidFill>
                <a:latin typeface="Microsoft YaHei"/>
              </a:rPr>
              <a:t>检索时间下降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59" y="2862072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698B"/>
                </a:solidFill>
                <a:latin typeface="Microsoft YaHei"/>
              </a:rPr>
              <a:t>合同、制度和项目资料统一查找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1" y="2020824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2313432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8AFA4"/>
                </a:solidFill>
                <a:latin typeface="Microsoft YaHei UI"/>
              </a:rPr>
              <a:t>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331720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3D"/>
                </a:solidFill>
                <a:latin typeface="Microsoft YaHei"/>
              </a:rPr>
              <a:t>答案可追溯率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2862072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698B"/>
                </a:solidFill>
                <a:latin typeface="Microsoft YaHei"/>
              </a:rPr>
              <a:t>关键结论关联原文来源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" y="4014216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" y="4306824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6257E8"/>
                </a:solidFill>
                <a:latin typeface="Microsoft YaHei UI"/>
              </a:rPr>
              <a:t>12个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59" y="4325112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3D"/>
                </a:solidFill>
                <a:latin typeface="Microsoft YaHei"/>
              </a:rPr>
              <a:t>首发场景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59" y="4855464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698B"/>
                </a:solidFill>
                <a:latin typeface="Microsoft YaHei"/>
              </a:rPr>
              <a:t>覆盖法务、销售和项目交付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1" y="4014216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4306824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8AFA4"/>
                </a:solidFill>
                <a:latin typeface="Microsoft YaHei UI"/>
              </a:rPr>
              <a:t>6周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325112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A3D"/>
                </a:solidFill>
                <a:latin typeface="Microsoft YaHei"/>
              </a:rPr>
              <a:t>首次上线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9" y="4855464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698B"/>
                </a:solidFill>
                <a:latin typeface="Microsoft YaHei"/>
              </a:rPr>
              <a:t>从数据接入到受控发布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实施路径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79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57E8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3D"/>
                </a:solidFill>
                <a:latin typeface="Microsoft YaHei"/>
              </a:rPr>
              <a:t>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98B"/>
                </a:solidFill>
                <a:latin typeface="Microsoft YaHei"/>
              </a:rPr>
              <a:t>选择高频且高价值任务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9270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150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57E8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3D"/>
                </a:solidFill>
                <a:latin typeface="Microsoft YaHei"/>
              </a:rPr>
              <a:t>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150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98B"/>
                </a:solidFill>
                <a:latin typeface="Microsoft YaHei"/>
              </a:rPr>
              <a:t>建立资料和权限边界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8460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1340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57E8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1340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3D"/>
                </a:solidFill>
                <a:latin typeface="Microsoft YaHei"/>
              </a:rPr>
              <a:t>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98B"/>
                </a:solidFill>
                <a:latin typeface="Microsoft YaHei"/>
              </a:rPr>
              <a:t>用真实问题评测准确率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7651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1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57E8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1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3D"/>
                </a:solidFill>
                <a:latin typeface="Microsoft YaHei"/>
              </a:rPr>
              <a:t>发布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0531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98B"/>
                </a:solidFill>
                <a:latin typeface="Microsoft YaHei"/>
              </a:rPr>
              <a:t>小范围上线并收集反馈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76841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9721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57E8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9721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3D"/>
                </a:solidFill>
                <a:latin typeface="Microsoft YaHei"/>
              </a:rPr>
              <a:t>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9721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98B"/>
                </a:solidFill>
                <a:latin typeface="Microsoft YaHei"/>
              </a:rPr>
              <a:t>复制到更多团队和流程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路径选择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257E8"/>
                </a:solidFill>
                <a:latin typeface="Microsoft YaHei"/>
              </a:rPr>
              <a:t>通用聊天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57E8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上手快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57E8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覆盖广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57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缺少企业来源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257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无法完成流程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AFA4"/>
                </a:solidFill>
                <a:latin typeface="Microsoft YaHei"/>
              </a:rPr>
              <a:t>企业知识助手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AFA4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知识可追溯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AFA4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权限可控制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AFA4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任务可执行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AFA4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A3D"/>
                </a:solidFill>
                <a:latin typeface="Microsoft YaHei"/>
              </a:rPr>
              <a:t>效果可评测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06 / 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257E8"/>
                </a:solidFill>
                <a:latin typeface="Microsoft YaHei"/>
              </a:rPr>
              <a:t>核心洞察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1A3D"/>
                </a:solidFill>
                <a:latin typeface="Microsoft YaHei"/>
              </a:rPr>
              <a:t>专业场景中，受控知识与工作流使完成率显著提高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98B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能力组合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07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57E8"/>
                </a:solidFill>
                <a:latin typeface="Microsoft YaHei"/>
              </a:rPr>
              <a:t>业务侧负责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257E8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可信回答：答案展示来源、位置和权限边界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257E8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多模态理解：同时理解正文、图片、图表和表格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257E8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任务执行：从问答自然过渡到可审计操作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257E8"/>
                </a:solidFill>
                <a:latin typeface="Microsoft YaHe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持续学习：把成功工作沉淀为团队能力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AFA4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AFA4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答案幻觉：强制来源和拒答机制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AFA4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权限穿透：继承原系统访问控制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AFA4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知识过期：设置更新和失效策略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AFA4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A3D"/>
                </a:solidFill>
                <a:latin typeface="Microsoft YaHei"/>
              </a:rPr>
              <a:t>采用不足：嵌入现有工作入口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共同原则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08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6257E8"/>
                </a:solidFill>
                <a:latin typeface="Microsoft YaHei UI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1A3D"/>
                </a:solidFill>
                <a:latin typeface="Microsoft YaHei UI"/>
              </a:rPr>
              <a:t>真正的企业助手，不只回答得快，还必须回答得有依据。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62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698B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风险管理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答案幻觉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98B"/>
                </a:solidFill>
                <a:latin typeface="Microsoft YaHei"/>
              </a:rPr>
              <a:t>强制来源和拒答机制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3D"/>
                </a:solidFill>
                <a:latin typeface="Microsoft YaHei"/>
              </a:rPr>
              <a:t>权限穿透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98B"/>
                </a:solidFill>
                <a:latin typeface="Microsoft YaHei"/>
              </a:rPr>
              <a:t>继承原系统访问控制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A3D"/>
                </a:solidFill>
                <a:latin typeface="Microsoft YaHei"/>
              </a:rPr>
              <a:t>知识过期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98B"/>
                </a:solidFill>
                <a:latin typeface="Microsoft YaHei"/>
              </a:rPr>
              <a:t>设置更新和失效策略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采用不足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98B"/>
                </a:solidFill>
                <a:latin typeface="Microsoft YaHei"/>
              </a:rPr>
              <a:t>嵌入现有工作入口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交付计划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10 /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EF2FF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625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F2FF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625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F2FF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625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F2FF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6257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发现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选择高频且高价值任务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接入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建立资料和权限边界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验证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用真实问题评测准确率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发布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小范围上线并收集反馈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EEF2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扩展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复制到更多团队和流程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A3D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行动清单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11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确认可信回答的负责人、交付物和完成标准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确认多模态理解的负责人、交付物和完成标准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确认任务执行的负责人、交付物和完成标准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确认持续学习的负责人、交付物和完成标准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完成发现并关闭阶段评审问题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完成接入并关闭阶段评审问题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完成验证并关闭阶段评审问题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257E8"/>
                </a:solidFill>
                <a:latin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A3D"/>
                </a:solidFill>
                <a:latin typeface="Microsoft YaHei"/>
              </a:rPr>
              <a:t>完成发布并关闭阶段评审问题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257E8"/>
                </a:solidFill>
                <a:latin typeface="Microsoft YaHei"/>
              </a:rPr>
              <a:t>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A3D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98B"/>
                </a:solidFill>
                <a:latin typeface="Microsoft YaHei"/>
              </a:rP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257E8"/>
                </a:solidFill>
                <a:latin typeface="Microsoft YaHei UI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3D"/>
                </a:solidFill>
                <a:latin typeface="Microsoft YaHei"/>
              </a:rPr>
              <a:t>为什么现在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98B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257E8"/>
                </a:solidFill>
                <a:latin typeface="Microsoft YaHei UI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3D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98B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257E8"/>
                </a:solidFill>
                <a:latin typeface="Microsoft YaHei UI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3D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98B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257E8"/>
                </a:solidFill>
                <a:latin typeface="Microsoft YaHei UI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4D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A3D"/>
                </a:solidFill>
                <a:latin typeface="Microsoft YaHei"/>
              </a:rPr>
              <a:t>怎样落地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98B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19" y="45720"/>
            <a:ext cx="2194559" cy="219456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39" y="4663440"/>
            <a:ext cx="2103119" cy="21031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79" y="274320"/>
            <a:ext cx="3017519" cy="3017520"/>
          </a:xfrm>
          <a:prstGeom prst="ellipse">
            <a:avLst/>
          </a:prstGeom>
          <a:solidFill>
            <a:srgbClr val="18A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39" y="3611880"/>
            <a:ext cx="3017519" cy="3017520"/>
          </a:xfrm>
          <a:prstGeom prst="ellipse">
            <a:avLst/>
          </a:prstGeom>
          <a:solidFill>
            <a:srgbClr val="62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17319" y="1024128"/>
            <a:ext cx="9372599" cy="48006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1417320"/>
            <a:ext cx="1874519" cy="438912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212848"/>
            <a:ext cx="832103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1A3D"/>
                </a:solidFill>
                <a:latin typeface="Microsoft YaHei UI"/>
              </a:rPr>
              <a:t>以可信检索和工作流执行为双核心，先服务高频专业任务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1" y="4206240"/>
            <a:ext cx="72237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2698B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1" y="5285232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2698B"/>
                </a:solidFill>
                <a:latin typeface="Microsoft YaHei"/>
              </a:rPr>
              <a:t>极光玻璃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企业知识助手产品发布</dc:title>
  <dc:subject>由企业 AI 工作平台基于语义页面角色与自适应模板生成</dc:subject>
  <dc:creator/>
  <cp:keywords>template=aurora-glass;layout_family=premium;schema=presentation_spec.v2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