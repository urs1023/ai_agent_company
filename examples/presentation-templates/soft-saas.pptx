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工单支持</c:v>
                </c:pt>
              </c:strCache>
            </c:strRef>
          </c:tx>
          <c:spPr>
            <a:solidFill>
              <a:srgbClr val="7058A3"/>
            </a:solidFill>
          </c:spPr>
          <c:cat>
            <c:strRef>
              <c:f>Sheet1!$A$2:$A$5</c:f>
              <c:strCache>
                <c:ptCount val="4"/>
                <c:pt idx="0">
                  <c:v>上线</c:v>
                </c:pt>
                <c:pt idx="1">
                  <c:v>采用</c:v>
                </c:pt>
                <c:pt idx="2">
                  <c:v>价值</c:v>
                </c:pt>
                <c:pt idx="3">
                  <c:v>扩容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93.0</c:v>
                </c:pt>
                <c:pt idx="1">
                  <c:v>64.0</c:v>
                </c:pt>
                <c:pt idx="2">
                  <c:v>52.0</c:v>
                </c:pt>
                <c:pt idx="3">
                  <c:v>28.0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客户成功</c:v>
                </c:pt>
              </c:strCache>
            </c:strRef>
          </c:tx>
          <c:spPr>
            <a:solidFill>
              <a:srgbClr val="E9A05A"/>
            </a:solidFill>
          </c:spPr>
          <c:cat>
            <c:strRef>
              <c:f>Sheet1!$A$2:$A$5</c:f>
              <c:strCache>
                <c:ptCount val="4"/>
                <c:pt idx="0">
                  <c:v>上线</c:v>
                </c:pt>
                <c:pt idx="1">
                  <c:v>采用</c:v>
                </c:pt>
                <c:pt idx="2">
                  <c:v>价值</c:v>
                </c:pt>
                <c:pt idx="3">
                  <c:v>扩容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88.0</c:v>
                </c:pt>
                <c:pt idx="1">
                  <c:v>46.0</c:v>
                </c:pt>
                <c:pt idx="2">
                  <c:v>31.0</c:v>
                </c:pt>
                <c:pt idx="3">
                  <c:v>16.0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ED8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7" y="658368"/>
            <a:ext cx="10881359" cy="54864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5007" y="1207008"/>
            <a:ext cx="2880359" cy="4389120"/>
          </a:xfrm>
          <a:prstGeom prst="roundRect">
            <a:avLst/>
          </a:prstGeom>
          <a:solidFill>
            <a:srgbClr val="F5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199" y="1627632"/>
            <a:ext cx="2057399" cy="7498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58199" y="2798064"/>
            <a:ext cx="2057399" cy="7498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58199" y="3968496"/>
            <a:ext cx="2057399" cy="7498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7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058A3"/>
                </a:solidFill>
                <a:latin typeface="Microsoft YaHei"/>
              </a:rPr>
              <a:t>柔和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1" y="1901952"/>
            <a:ext cx="64007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292535"/>
                </a:solidFill>
                <a:latin typeface="Microsoft YaHei UI"/>
              </a:rPr>
              <a:t>客户成功运营系统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7" y="4078224"/>
            <a:ext cx="612647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96274"/>
                </a:solidFill>
                <a:latin typeface="Microsoft YaHei"/>
              </a:rPr>
              <a:t>从上线交付到价值实现的 SaaS 客户全旅程（演示数据）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7" y="5623560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274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能力组合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业务结果与能力建设必须同步发生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01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7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58A3"/>
                </a:solidFill>
                <a:latin typeface="Microsoft YaHei"/>
              </a:rPr>
              <a:t>业务侧负责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058A3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成功计划：共同定义业务目标、里程碑和证据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058A3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角色采用：围绕关键岗位设计使用路径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058A3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价值复盘：按季度量化收益和未达差距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058A3"/>
                </a:solidFill>
                <a:latin typeface="Microsoft YaHe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扩展经营：从已验证价值自然进入新场景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E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9A05A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A05A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目标模糊：签约后两周内完成成功计划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A05A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关键人缺席：建立客户高层赞助机制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A05A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采用停滞：跟踪角色级领先指标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9A05A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92535"/>
                </a:solidFill>
                <a:latin typeface="Microsoft YaHei"/>
              </a:rPr>
              <a:t>价值不可见：统一收益计算口径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关键抓手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形成结果需要同时推进四个抓手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5" y="1463040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7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535"/>
                </a:solidFill>
                <a:latin typeface="Microsoft YaHei"/>
              </a:rPr>
              <a:t>成功计划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274"/>
                </a:solidFill>
                <a:latin typeface="Microsoft YaHei"/>
              </a:rPr>
              <a:t>共同定义业务目标、里程碑和证据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1" y="1463040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E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535"/>
                </a:solidFill>
                <a:latin typeface="Microsoft YaHei"/>
              </a:rPr>
              <a:t>角色采用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274"/>
                </a:solidFill>
                <a:latin typeface="Microsoft YaHei"/>
              </a:rPr>
              <a:t>围绕关键岗位设计使用路径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" y="3840479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7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535"/>
                </a:solidFill>
                <a:latin typeface="Microsoft YaHei"/>
              </a:rPr>
              <a:t>价值复盘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274"/>
                </a:solidFill>
                <a:latin typeface="Microsoft YaHei"/>
              </a:rPr>
              <a:t>按季度量化收益和未达差距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2491" y="3840479"/>
            <a:ext cx="5381243" cy="21214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E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2535"/>
                </a:solidFill>
                <a:latin typeface="Microsoft YaHei"/>
              </a:rPr>
              <a:t>扩展经营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274"/>
                </a:solidFill>
                <a:latin typeface="Microsoft YaHei"/>
              </a:rPr>
              <a:t>从已验证价值自然进入新场景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四项指标界定当前状态与决策空间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058A3"/>
                </a:solidFill>
                <a:latin typeface="Microsoft YaHei"/>
              </a:rPr>
              <a:t>以客户业务结果而非功能使用定义成功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03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1" y="2020824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" y="2313432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7058A3"/>
                </a:solidFill>
                <a:latin typeface="Microsoft YaHei UI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59" y="2331720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535"/>
                </a:solidFill>
                <a:latin typeface="Microsoft YaHei"/>
              </a:rPr>
              <a:t>按期上线率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59" y="2862072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274"/>
                </a:solidFill>
                <a:latin typeface="Microsoft YaHei"/>
              </a:rPr>
              <a:t>标准化启动和数据准备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1" y="2020824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2313432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E9A05A"/>
                </a:solidFill>
                <a:latin typeface="Microsoft YaHei UI"/>
              </a:rPr>
              <a:t>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331720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535"/>
                </a:solidFill>
                <a:latin typeface="Microsoft YaHei"/>
              </a:rPr>
              <a:t>核心功能采用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59" y="2862072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274"/>
                </a:solidFill>
                <a:latin typeface="Microsoft YaHei"/>
              </a:rPr>
              <a:t>关键角色形成稳定使用习惯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" y="4014216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" y="4306824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7058A3"/>
                </a:solidFill>
                <a:latin typeface="Microsoft YaHei UI"/>
              </a:rPr>
              <a:t>28%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59" y="4325112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535"/>
                </a:solidFill>
                <a:latin typeface="Microsoft YaHei"/>
              </a:rPr>
              <a:t>年度扩容率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59" y="4855464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274"/>
                </a:solidFill>
                <a:latin typeface="Microsoft YaHei"/>
              </a:rPr>
              <a:t>价值复盘带动增购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1" y="4014216"/>
            <a:ext cx="5230367" cy="175564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4306824"/>
            <a:ext cx="2057399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E9A05A"/>
                </a:solidFill>
                <a:latin typeface="Microsoft YaHei UI"/>
              </a:rPr>
              <a:t>4.7/5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325112"/>
            <a:ext cx="2331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2535"/>
                </a:solidFill>
                <a:latin typeface="Microsoft YaHei"/>
              </a:rPr>
              <a:t>客户满意度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9" y="4855464"/>
            <a:ext cx="2395727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96274"/>
                </a:solidFill>
                <a:latin typeface="Microsoft YaHei"/>
              </a:rPr>
              <a:t>交付与支持体验持续改善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导航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本次汇报回答四个关键问题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04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058A3"/>
                </a:solidFill>
                <a:latin typeface="Microsoft YaHei UI"/>
              </a:rPr>
              <a:t>01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535"/>
                </a:solidFill>
                <a:latin typeface="Microsoft YaHei"/>
              </a:rPr>
              <a:t>为什么现在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274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058A3"/>
                </a:solidFill>
                <a:latin typeface="Microsoft YaHei UI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535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274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058A3"/>
                </a:solidFill>
                <a:latin typeface="Microsoft YaHei UI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535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274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058A3"/>
                </a:solidFill>
                <a:latin typeface="Microsoft YaHei UI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2535"/>
                </a:solidFill>
                <a:latin typeface="Microsoft YaHei"/>
              </a:rPr>
              <a:t>怎样落地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96274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核心判断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以客户业务结果而非功能使用定义成功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7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92535"/>
                </a:solidFill>
                <a:latin typeface="Microsoft YaHei UI"/>
              </a:rPr>
              <a:t>以客户业务结果而非功能使用定义成功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96274"/>
                </a:solidFill>
                <a:latin typeface="Microsoft YaHei"/>
              </a:rPr>
              <a:t>核心功能采用  ·  年度扩容率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数据表明差异集中在少数关键维度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06 / 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058A3"/>
                </a:solidFill>
                <a:latin typeface="Microsoft YaHei"/>
              </a:rPr>
              <a:t>核心洞察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92535"/>
                </a:solidFill>
                <a:latin typeface="Microsoft YaHei"/>
              </a:rPr>
              <a:t>主动客户成功体系在采用、价值和扩容阶段优势显著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274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路径选择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两种路径的价值与代价必须同时看清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705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58A3"/>
                </a:solidFill>
                <a:latin typeface="Microsoft YaHei"/>
              </a:rPr>
              <a:t>工单支持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058A3"/>
                </a:solidFill>
                <a:latin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响应问题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058A3"/>
                </a:solidFill>
                <a:latin typeface="Microsoft Ya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成本可控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058A3"/>
                </a:solidFill>
                <a:latin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被动发生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058A3"/>
                </a:solidFill>
                <a:latin typeface="Microsoft Ya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难以证明价值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1463040"/>
            <a:ext cx="5358383" cy="4462272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E9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E9A05A"/>
                </a:solidFill>
                <a:latin typeface="Microsoft YaHei"/>
              </a:rPr>
              <a:t>客户成功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9A05A"/>
                </a:solidFill>
                <a:latin typeface="Microsoft YaHe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主动经营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9A05A"/>
                </a:solidFill>
                <a:latin typeface="Microsoft YaHe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关注结果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9A05A"/>
                </a:solidFill>
                <a:latin typeface="Microsoft YaHe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需要协同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9A05A"/>
                </a:solidFill>
                <a:latin typeface="Microsoft Ya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92535"/>
                </a:solidFill>
                <a:latin typeface="Microsoft YaHei"/>
              </a:rPr>
              <a:t>带动续约扩容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实施路径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五个阶段把方向转化为可验收成果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79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58A3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535"/>
                </a:solidFill>
                <a:latin typeface="Microsoft YaHei"/>
              </a:rPr>
              <a:t>签约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274"/>
                </a:solidFill>
                <a:latin typeface="Microsoft YaHei"/>
              </a:rPr>
              <a:t>完成目标和责任对齐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9270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150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58A3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535"/>
                </a:solidFill>
                <a:latin typeface="Microsoft YaHei"/>
              </a:rPr>
              <a:t>上线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2150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274"/>
                </a:solidFill>
                <a:latin typeface="Microsoft YaHei"/>
              </a:rPr>
              <a:t>按期完成配置与数据准备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8460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1340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58A3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1340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535"/>
                </a:solidFill>
                <a:latin typeface="Microsoft YaHei"/>
              </a:rPr>
              <a:t>采用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1340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274"/>
                </a:solidFill>
                <a:latin typeface="Microsoft YaHei"/>
              </a:rPr>
              <a:t>推动核心角色形成习惯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7651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0531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58A3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0531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535"/>
                </a:solidFill>
                <a:latin typeface="Microsoft YaHei"/>
              </a:rPr>
              <a:t>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0531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274"/>
                </a:solidFill>
                <a:latin typeface="Microsoft YaHei"/>
              </a:rPr>
              <a:t>用业务结果验证投入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76841" y="2743200"/>
            <a:ext cx="2044598" cy="233172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9721" y="2944368"/>
            <a:ext cx="1678838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58A3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9721" y="3547872"/>
            <a:ext cx="166055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92535"/>
                </a:solidFill>
                <a:latin typeface="Microsoft YaHei"/>
              </a:rPr>
              <a:t>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9721" y="4261104"/>
            <a:ext cx="166055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96274"/>
                </a:solidFill>
                <a:latin typeface="Microsoft YaHei"/>
              </a:rPr>
              <a:t>进入续约与增购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交付计划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工作包、责任人与时间窗口已经对齐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09 /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18"/>
                <a:gridCol w="3434225"/>
                <a:gridCol w="2497618"/>
                <a:gridCol w="24976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4FA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7058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4FA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7058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4FA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7058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4FA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7058A3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签约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完成目标和责任对齐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上线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按期完成配置与数据准备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采用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推动核心角色形成习惯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价值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用业务结果验证投入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5F4F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扩展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进入续约与增购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92535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风险管理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四类风险均已设置前置缓释动作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目标模糊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274"/>
                </a:solidFill>
                <a:latin typeface="Microsoft YaHei"/>
              </a:rPr>
              <a:t>签约后两周内完成成功计划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92535"/>
                </a:solidFill>
                <a:latin typeface="Microsoft YaHei"/>
              </a:rPr>
              <a:t>关键人缺席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274"/>
                </a:solidFill>
                <a:latin typeface="Microsoft YaHei"/>
              </a:rPr>
              <a:t>建立客户高层赞助机制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92535"/>
                </a:solidFill>
                <a:latin typeface="Microsoft YaHei"/>
              </a:rPr>
              <a:t>采用停滞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274"/>
                </a:solidFill>
                <a:latin typeface="Microsoft YaHei"/>
              </a:rPr>
              <a:t>跟踪角色级领先指标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价值不可见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96274"/>
                </a:solidFill>
                <a:latin typeface="Microsoft YaHei"/>
              </a:rPr>
              <a:t>统一收益计算口径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共同原则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团队需要坚持一条简单原则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11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7058A3"/>
                </a:solidFill>
                <a:latin typeface="Microsoft YaHei UI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92535"/>
                </a:solidFill>
                <a:latin typeface="Microsoft YaHei UI"/>
              </a:rPr>
              <a:t>客户成功不是让客户使用更多功能，而是让客户获得更好的结果。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70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96274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1" y="292608"/>
            <a:ext cx="2011679" cy="420624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393192"/>
            <a:ext cx="164591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058A3"/>
                </a:solidFill>
                <a:latin typeface="Microsoft YaHei"/>
              </a:rPr>
              <a:t>行动清单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84124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92535"/>
                </a:solidFill>
                <a:latin typeface="Microsoft YaHei UI"/>
              </a:rPr>
              <a:t>未来八周的行动已拆解到责任和验收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96274"/>
                </a:solidFill>
                <a:latin typeface="Microsoft YaHei"/>
              </a:rP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确认成功计划的负责人、交付物和完成标准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确认角色采用的负责人、交付物和完成标准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确认价值复盘的负责人、交付物和完成标准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确认扩展经营的负责人、交付物和完成标准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完成签约并关闭阶段评审问题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完成上线并关闭阶段评审问题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完成采用并关闭阶段评审问题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ED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58A3"/>
                </a:solidFill>
                <a:latin typeface="Microsoft YaHe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92535"/>
                </a:solidFill>
                <a:latin typeface="Microsoft YaHei"/>
              </a:rPr>
              <a:t>完成价值并关闭阶段评审问题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15399" y="45720"/>
            <a:ext cx="3154679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19" y="5532120"/>
            <a:ext cx="2560319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7" y="658368"/>
            <a:ext cx="10881359" cy="54864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5007" y="1207008"/>
            <a:ext cx="2880359" cy="4389120"/>
          </a:xfrm>
          <a:prstGeom prst="roundRect">
            <a:avLst/>
          </a:prstGeom>
          <a:solidFill>
            <a:srgbClr val="F5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58199" y="1627632"/>
            <a:ext cx="2057399" cy="7498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58199" y="2798064"/>
            <a:ext cx="2057399" cy="7498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58199" y="3968496"/>
            <a:ext cx="2057399" cy="749808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DE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1" y="1901952"/>
            <a:ext cx="64007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92535"/>
                </a:solidFill>
                <a:latin typeface="Microsoft YaHei UI"/>
              </a:rPr>
              <a:t>以客户业务结果而非功能使用定义成功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7" y="4078224"/>
            <a:ext cx="612647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96274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7" y="5623560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96274"/>
                </a:solidFill>
                <a:latin typeface="Microsoft YaHei"/>
              </a:rPr>
              <a:t>柔和 SaaS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客户成功运营系统</dc:title>
  <dc:subject>由企业 AI 工作平台基于语义页面角色与自适应模板生成</dc:subject>
  <dc:creator/>
  <cp:keywords>template=soft-saas;layout_family=premium;schema=presentation_spec.v2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