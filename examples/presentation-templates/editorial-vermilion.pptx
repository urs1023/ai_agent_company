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流量打法</c:v>
                </c:pt>
              </c:strCache>
            </c:strRef>
          </c:tx>
          <c:spPr>
            <a:solidFill>
              <a:srgbClr val="D94C32"/>
            </a:solidFill>
          </c:spPr>
          <c:cat>
            <c:strRef>
              <c:f>Sheet1!$A$2:$A$5</c:f>
              <c:strCache>
                <c:ptCount val="4"/>
                <c:pt idx="0">
                  <c:v>内容信任</c:v>
                </c:pt>
                <c:pt idx="1">
                  <c:v>场景体验</c:v>
                </c:pt>
                <c:pt idx="2">
                  <c:v>会员权益</c:v>
                </c:pt>
                <c:pt idx="3">
                  <c:v>价格优惠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82.0</c:v>
                </c:pt>
                <c:pt idx="1">
                  <c:v>74.0</c:v>
                </c:pt>
                <c:pt idx="2">
                  <c:v>69.0</c:v>
                </c:pt>
                <c:pt idx="3">
                  <c:v>51.0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信任打法</c:v>
                </c:pt>
              </c:strCache>
            </c:strRef>
          </c:tx>
          <c:spPr>
            <a:solidFill>
              <a:srgbClr val="294754"/>
            </a:solidFill>
          </c:spPr>
          <c:cat>
            <c:strRef>
              <c:f>Sheet1!$A$2:$A$5</c:f>
              <c:strCache>
                <c:ptCount val="4"/>
                <c:pt idx="0">
                  <c:v>内容信任</c:v>
                </c:pt>
                <c:pt idx="1">
                  <c:v>场景体验</c:v>
                </c:pt>
                <c:pt idx="2">
                  <c:v>会员权益</c:v>
                </c:pt>
                <c:pt idx="3">
                  <c:v>价格优惠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63.0</c:v>
                </c:pt>
                <c:pt idx="1">
                  <c:v>58.0</c:v>
                </c:pt>
                <c:pt idx="2">
                  <c:v>47.0</c:v>
                </c:pt>
                <c:pt idx="3">
                  <c:v>72.0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D6CCBE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82879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7" y="493776"/>
            <a:ext cx="3310127" cy="5513832"/>
          </a:xfrm>
          <a:prstGeom prst="rect">
            <a:avLst/>
          </a:prstGeom>
          <a:solidFill>
            <a:srgbClr val="29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914400"/>
            <a:ext cx="246887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0E7"/>
                </a:solidFill>
                <a:latin typeface="Microsoft YaHei"/>
              </a:rPr>
              <a:t>PERSPECTIVE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7" y="3977639"/>
            <a:ext cx="2651759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F5F0E7"/>
                </a:solidFill>
                <a:latin typeface="SimSun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D94C32"/>
                </a:solidFill>
                <a:latin typeface="Microsoft YaHei"/>
              </a:rPr>
              <a:t>编辑部红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" y="1901952"/>
            <a:ext cx="662939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201D1A"/>
                </a:solidFill>
                <a:latin typeface="SimSun"/>
              </a:rPr>
              <a:t>2026 城市消费趋势观察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" y="4078224"/>
            <a:ext cx="67665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6259"/>
                </a:solidFill>
                <a:latin typeface="Microsoft YaHei"/>
              </a:rPr>
              <a:t>六类行为变化正在重写品牌增长方式（演示研究）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59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导航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本次汇报回答四个关键问题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01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4C32"/>
                </a:solidFill>
                <a:latin typeface="SimSun"/>
              </a:rPr>
              <a:t>01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1D1A"/>
                </a:solidFill>
                <a:latin typeface="Microsoft YaHei"/>
              </a:rPr>
              <a:t>为什么现在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4C32"/>
                </a:solidFill>
                <a:latin typeface="SimSun"/>
              </a:rPr>
              <a:t>02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1D1A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4C32"/>
                </a:solidFill>
                <a:latin typeface="SimSun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1D1A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4C32"/>
                </a:solidFill>
                <a:latin typeface="SimSun"/>
              </a:rPr>
              <a:t>04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1D1A"/>
                </a:solidFill>
                <a:latin typeface="Microsoft YaHei"/>
              </a:rPr>
              <a:t>怎样落地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共同原则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团队需要坚持一条简单原则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02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D94C32"/>
                </a:solidFill>
                <a:latin typeface="SimSun"/>
              </a:rPr>
              <a:t>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01D1A"/>
                </a:solidFill>
                <a:latin typeface="SimSun"/>
              </a:rPr>
              <a:t>消费者不是减少了需求，而是提高了相信一个品牌的门槛。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D9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259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证据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数据表明差异集中在少数关键维度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03 / 12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C32"/>
                </a:solidFill>
                <a:latin typeface="Microsoft YaHei"/>
              </a:rPr>
              <a:t>核心洞察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01D1A"/>
                </a:solidFill>
                <a:latin typeface="Microsoft YaHei"/>
              </a:rPr>
              <a:t>新消费人群更重视信任和体验，单纯价格驱动边际下降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259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核心判断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01D1A"/>
                </a:solidFill>
                <a:latin typeface="SimSun"/>
              </a:rPr>
              <a:t>品牌增长从大规模曝光转向高信任内容、场景体验和精细复购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04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01D1A"/>
                </a:solidFill>
                <a:latin typeface="SimSun"/>
              </a:rPr>
              <a:t>品牌增长从大规模曝光转向高信任内容、场景体验和精细复购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B6259"/>
                </a:solidFill>
                <a:latin typeface="Microsoft YaHei"/>
              </a:rPr>
              <a:t>偏好即时体验  ·  会员复购贡献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能力组合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业务结果与能力建设必须同步发生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05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4C32"/>
                </a:solidFill>
                <a:latin typeface="Microsoft YaHei"/>
              </a:rPr>
              <a:t>业务侧负责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C32"/>
                </a:solidFill>
                <a:latin typeface="Microsoft YaHe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可信内容：用真实体验和专业解释代替口号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C32"/>
                </a:solidFill>
                <a:latin typeface="Microsoft YaHe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场景连接：围绕生活时刻设计产品和服务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C32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会员关系：从积分体系升级为差异化权益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4C32"/>
                </a:solidFill>
                <a:latin typeface="Microsoft YaHe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价值表达：让可持续承诺可验证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29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94754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4754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趋势跟风：坚持品牌核心能力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4754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内容失真：使用真实用户和证据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4754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体验断裂：统一线上线下触点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94754"/>
                </a:solidFill>
                <a:latin typeface="Microsoft YaHe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1D1A"/>
                </a:solidFill>
                <a:latin typeface="Microsoft YaHei"/>
              </a:rPr>
              <a:t>指标短视：同时跟踪品牌与经营结果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交付计划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工作包、责任人与时间窗口已经对齐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06 / 12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79" y="1463040"/>
          <a:ext cx="109270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618"/>
                <a:gridCol w="3434225"/>
                <a:gridCol w="2497618"/>
                <a:gridCol w="2497618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5F0E7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D94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0E7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D94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0E7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D94C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F0E7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D94C3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洞察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识别关键人群和生活变化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命题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确定品牌可拥有的场景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验证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用小规模内容和体验测试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放大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联动渠道和会员体系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F5F0E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沉淀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形成年度品牌资产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1D1A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关键抓手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形成结果需要同时推进四个抓手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07 / 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7" y="1463040"/>
            <a:ext cx="5138928" cy="0"/>
          </a:xfrm>
          <a:prstGeom prst="line">
            <a:avLst/>
          </a:prstGeom>
          <a:ln w="25400">
            <a:solidFill>
              <a:srgbClr val="D9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7" y="173736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1D1A"/>
                </a:solidFill>
                <a:latin typeface="Microsoft YaHei"/>
              </a:rPr>
              <a:t>可信内容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" y="239572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用真实体验和专业解释代替口号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44767" y="1463040"/>
            <a:ext cx="5138928" cy="0"/>
          </a:xfrm>
          <a:prstGeom prst="line">
            <a:avLst/>
          </a:prstGeom>
          <a:ln w="2540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44767" y="173736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1D1A"/>
                </a:solidFill>
                <a:latin typeface="Microsoft YaHei"/>
              </a:rPr>
              <a:t>场景连接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7" y="239572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围绕生活时刻设计产品和服务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7" y="3657600"/>
            <a:ext cx="5138928" cy="0"/>
          </a:xfrm>
          <a:prstGeom prst="line">
            <a:avLst/>
          </a:prstGeom>
          <a:ln w="25400">
            <a:solidFill>
              <a:srgbClr val="D94C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7" y="393192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1D1A"/>
                </a:solidFill>
                <a:latin typeface="Microsoft YaHei"/>
              </a:rPr>
              <a:t>会员关系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" y="459028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从积分体系升级为差异化权益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44767" y="3657600"/>
            <a:ext cx="5138928" cy="0"/>
          </a:xfrm>
          <a:prstGeom prst="line">
            <a:avLst/>
          </a:prstGeom>
          <a:ln w="2540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44767" y="3931920"/>
            <a:ext cx="502919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1D1A"/>
                </a:solidFill>
                <a:latin typeface="Microsoft YaHei"/>
              </a:rPr>
              <a:t>价值表达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7" y="4590288"/>
            <a:ext cx="4983479" cy="8046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让可持续承诺可验证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路径选择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两种路径的价值与代价必须同时看清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08 / 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3" y="1463040"/>
            <a:ext cx="0" cy="4434839"/>
          </a:xfrm>
          <a:prstGeom prst="line">
            <a:avLst/>
          </a:prstGeom>
          <a:ln w="1905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4C32"/>
                </a:solidFill>
                <a:latin typeface="Microsoft YaHei"/>
              </a:rPr>
              <a:t>流量打法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4C32"/>
                </a:solidFill>
                <a:latin typeface="Microsoft Ya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曝光见效快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4C32"/>
                </a:solidFill>
                <a:latin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便于规模化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4C32"/>
                </a:solidFill>
                <a:latin typeface="Microsoft Ya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成本波动大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4C32"/>
                </a:solidFill>
                <a:latin typeface="Microsoft YaHe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信任沉淀弱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29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94754"/>
                </a:solidFill>
                <a:latin typeface="Microsoft YaHei"/>
              </a:rPr>
              <a:t>信任打法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4754"/>
                </a:solidFill>
                <a:latin typeface="Microsoft YaHe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复购贡献高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4754"/>
                </a:solidFill>
                <a:latin typeface="Microsoft Ya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品牌资产强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4754"/>
                </a:solidFill>
                <a:latin typeface="Microsoft YaHe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建设周期长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94754"/>
                </a:solidFill>
                <a:latin typeface="Microsoft YaHe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1D1A"/>
                </a:solidFill>
                <a:latin typeface="Microsoft YaHei"/>
              </a:rPr>
              <a:t>内容要求高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行动清单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未来八周的行动已拆解到责任和验收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09 /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确认可信内容的负责人、交付物和完成标准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确认场景连接的负责人、交付物和完成标准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确认会员关系的负责人、交付物和完成标准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确认价值表达的负责人、交付物和完成标准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完成洞察并关闭阶段评审问题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完成命题并关闭阶段评审问题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完成验证并关闭阶段评审问题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1D1A"/>
                </a:solidFill>
                <a:latin typeface="Microsoft YaHei"/>
              </a:rPr>
              <a:t>完成放大并关闭阶段评审问题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风险管理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四类风险均已设置前置缓释动作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10 / 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FBF8F1"/>
          </a:solidFill>
          <a:ln w="7315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趋势跟风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坚持品牌核心能力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FBF8F1"/>
          </a:solidFill>
          <a:ln w="7315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1D1A"/>
                </a:solidFill>
                <a:latin typeface="Microsoft YaHei"/>
              </a:rPr>
              <a:t>内容失真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使用真实用户和证据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FBF8F1"/>
          </a:solidFill>
          <a:ln w="7315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1D1A"/>
                </a:solidFill>
                <a:latin typeface="Microsoft YaHei"/>
              </a:rPr>
              <a:t>体验断裂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统一线上线下触点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FBF8F1"/>
          </a:solidFill>
          <a:ln w="7315">
            <a:solidFill>
              <a:srgbClr val="D6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D94C32"/>
                </a:solidFill>
                <a:latin typeface="Microsoft YaHei"/>
              </a:rPr>
              <a:t>指标短视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259"/>
                </a:solidFill>
                <a:latin typeface="Microsoft YaHei"/>
              </a:rPr>
              <a:t>同时跟踪品牌与经营结果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实施路径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五个阶段把方向转化为可验收成果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11 / 12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19" y="2761488"/>
            <a:ext cx="402335" cy="402336"/>
          </a:xfrm>
          <a:prstGeom prst="ellipse">
            <a:avLst/>
          </a:prstGeom>
          <a:solidFill>
            <a:srgbClr val="D94C32"/>
          </a:solidFill>
          <a:ln w="7315">
            <a:solidFill>
              <a:srgbClr val="D94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5F0E7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1D1A"/>
                </a:solidFill>
                <a:latin typeface="Microsoft YaHei"/>
              </a:rPr>
              <a:t>洞察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259"/>
                </a:solidFill>
                <a:latin typeface="Microsoft YaHei"/>
              </a:rPr>
              <a:t>识别关键人群和生活变化</a:t>
            </a:r>
          </a:p>
        </p:txBody>
      </p:sp>
      <p:sp>
        <p:nvSpPr>
          <p:cNvPr id="25" name="Oval 24"/>
          <p:cNvSpPr/>
          <p:nvPr/>
        </p:nvSpPr>
        <p:spPr>
          <a:xfrm>
            <a:off x="3275837" y="2761488"/>
            <a:ext cx="402335" cy="402336"/>
          </a:xfrm>
          <a:prstGeom prst="ellipse">
            <a:avLst/>
          </a:prstGeom>
          <a:solidFill>
            <a:srgbClr val="FBF8F1"/>
          </a:solidFill>
          <a:ln w="7315">
            <a:solidFill>
              <a:srgbClr val="D94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C32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1D1A"/>
                </a:solidFill>
                <a:latin typeface="Microsoft YaHei"/>
              </a:rPr>
              <a:t>命题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259"/>
                </a:solidFill>
                <a:latin typeface="Microsoft YaHei"/>
              </a:rPr>
              <a:t>确定品牌可拥有的场景</a:t>
            </a:r>
          </a:p>
        </p:txBody>
      </p:sp>
      <p:sp>
        <p:nvSpPr>
          <p:cNvPr id="29" name="Oval 28"/>
          <p:cNvSpPr/>
          <p:nvPr/>
        </p:nvSpPr>
        <p:spPr>
          <a:xfrm>
            <a:off x="5820155" y="2761488"/>
            <a:ext cx="402335" cy="402336"/>
          </a:xfrm>
          <a:prstGeom prst="ellipse">
            <a:avLst/>
          </a:prstGeom>
          <a:solidFill>
            <a:srgbClr val="FBF8F1"/>
          </a:solidFill>
          <a:ln w="7315">
            <a:solidFill>
              <a:srgbClr val="D94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C32"/>
                </a:solidFill>
                <a:latin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1D1A"/>
                </a:solidFill>
                <a:latin typeface="Microsoft YaHei"/>
              </a:rPr>
              <a:t>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259"/>
                </a:solidFill>
                <a:latin typeface="Microsoft YaHei"/>
              </a:rPr>
              <a:t>用小规模内容和体验测试</a:t>
            </a:r>
          </a:p>
        </p:txBody>
      </p:sp>
      <p:sp>
        <p:nvSpPr>
          <p:cNvPr id="33" name="Oval 32"/>
          <p:cNvSpPr/>
          <p:nvPr/>
        </p:nvSpPr>
        <p:spPr>
          <a:xfrm>
            <a:off x="8364473" y="2761488"/>
            <a:ext cx="402335" cy="402336"/>
          </a:xfrm>
          <a:prstGeom prst="ellipse">
            <a:avLst/>
          </a:prstGeom>
          <a:solidFill>
            <a:srgbClr val="FBF8F1"/>
          </a:solidFill>
          <a:ln w="7315">
            <a:solidFill>
              <a:srgbClr val="D94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C32"/>
                </a:solidFill>
                <a:latin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1D1A"/>
                </a:solidFill>
                <a:latin typeface="Microsoft YaHei"/>
              </a:rPr>
              <a:t>放大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259"/>
                </a:solidFill>
                <a:latin typeface="Microsoft YaHei"/>
              </a:rPr>
              <a:t>联动渠道和会员体系</a:t>
            </a:r>
          </a:p>
        </p:txBody>
      </p:sp>
      <p:sp>
        <p:nvSpPr>
          <p:cNvPr id="37" name="Oval 36"/>
          <p:cNvSpPr/>
          <p:nvPr/>
        </p:nvSpPr>
        <p:spPr>
          <a:xfrm>
            <a:off x="10908791" y="2761488"/>
            <a:ext cx="402335" cy="402336"/>
          </a:xfrm>
          <a:prstGeom prst="ellipse">
            <a:avLst/>
          </a:prstGeom>
          <a:solidFill>
            <a:srgbClr val="FBF8F1"/>
          </a:solidFill>
          <a:ln w="7315">
            <a:solidFill>
              <a:srgbClr val="D94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C32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01D1A"/>
                </a:solidFill>
                <a:latin typeface="Microsoft YaHei"/>
              </a:rPr>
              <a:t>沉淀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6259"/>
                </a:solidFill>
                <a:latin typeface="Microsoft YaHei"/>
              </a:rPr>
              <a:t>形成年度品牌资产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64591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7" y="274320"/>
            <a:ext cx="2560319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120">
                <a:solidFill>
                  <a:srgbClr val="D94C32"/>
                </a:solidFill>
                <a:latin typeface="Microsoft YaHei"/>
              </a:rPr>
              <a:t>关键指标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59" y="411480"/>
            <a:ext cx="818388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7" y="667512"/>
            <a:ext cx="1042415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四项指标界定当前状态与决策空间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C32"/>
                </a:solidFill>
                <a:latin typeface="Microsoft YaHei"/>
              </a:rPr>
              <a:t>品牌增长从大规模曝光转向高信任内容、场景体验和精细复购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6259"/>
                </a:solidFill>
                <a:latin typeface="Microsoft YaHei"/>
              </a:rPr>
              <a:t>12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D94C32"/>
                </a:solidFill>
                <a:latin typeface="SimSun"/>
              </a:rPr>
              <a:t>57%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1D1A"/>
                </a:solidFill>
                <a:latin typeface="Microsoft YaHei"/>
              </a:rPr>
              <a:t>先看内容再购买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内容成为主要决策入口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5273" y="2203704"/>
            <a:ext cx="0" cy="324612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3644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43%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472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1D1A"/>
                </a:solidFill>
                <a:latin typeface="Microsoft YaHei"/>
              </a:rPr>
              <a:t>偏好即时体验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472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线下场景重新获得价值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67043" y="2203704"/>
            <a:ext cx="0" cy="324612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6821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2.1x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49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1D1A"/>
                </a:solidFill>
                <a:latin typeface="Microsoft YaHei"/>
              </a:rPr>
              <a:t>会员复购贡献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49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高质量关系优于一次促销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8813" y="2203704"/>
            <a:ext cx="0" cy="3246120"/>
          </a:xfrm>
          <a:prstGeom prst="line">
            <a:avLst/>
          </a:prstGeom>
          <a:ln w="1270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999981" y="2523744"/>
            <a:ext cx="2320289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31%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8269" y="3685032"/>
            <a:ext cx="2311145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01D1A"/>
                </a:solidFill>
                <a:latin typeface="Microsoft YaHei"/>
              </a:rPr>
              <a:t>关注可持续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8269" y="4325112"/>
            <a:ext cx="2274569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59"/>
                </a:solidFill>
                <a:latin typeface="Microsoft YaHei"/>
              </a:rPr>
              <a:t>价值观影响品牌偏好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2687" y="0"/>
            <a:ext cx="0" cy="6858000"/>
          </a:xfrm>
          <a:prstGeom prst="line">
            <a:avLst/>
          </a:prstGeom>
          <a:ln w="8890">
            <a:solidFill>
              <a:srgbClr val="2947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80467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38988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97510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314553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730752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315968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901184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486400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6071616"/>
            <a:ext cx="12191695" cy="0"/>
          </a:xfrm>
          <a:prstGeom prst="line">
            <a:avLst/>
          </a:prstGeom>
          <a:ln w="5080">
            <a:solidFill>
              <a:srgbClr val="D6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0"/>
            <a:ext cx="182879" cy="6858000"/>
          </a:xfrm>
          <a:prstGeom prst="rect">
            <a:avLst/>
          </a:prstGeom>
          <a:solidFill>
            <a:srgbClr val="D94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7" y="493776"/>
            <a:ext cx="3310127" cy="5513832"/>
          </a:xfrm>
          <a:prstGeom prst="rect">
            <a:avLst/>
          </a:prstGeom>
          <a:solidFill>
            <a:srgbClr val="294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914400"/>
            <a:ext cx="246887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5F0E7"/>
                </a:solidFill>
                <a:latin typeface="Microsoft YaHei"/>
              </a:rPr>
              <a:t>PERSPECTIVE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7" y="3977639"/>
            <a:ext cx="2651759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100" b="1">
                <a:solidFill>
                  <a:srgbClr val="F5F0E7"/>
                </a:solidFill>
                <a:latin typeface="SimSun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" y="1901952"/>
            <a:ext cx="662939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201D1A"/>
                </a:solidFill>
                <a:latin typeface="SimSun"/>
              </a:rPr>
              <a:t>品牌增长从大规模曝光转向高信任内容、场景体验和精细复购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" y="4078224"/>
            <a:ext cx="6766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B6259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6259"/>
                </a:solidFill>
                <a:latin typeface="Microsoft YaHei"/>
              </a:rPr>
              <a:t>编辑部红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城市消费趋势观察</dc:title>
  <dc:subject>由企业 AI 工作平台基于语义页面角色与自适应模板生成</dc:subject>
  <dc:creator/>
  <cp:keywords>template=editorial-vermilion;layout_family=premium;schema=presentation_spec.v2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