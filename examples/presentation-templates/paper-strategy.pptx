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交易型伙伴</c:v>
                </c:pt>
              </c:strCache>
            </c:strRef>
          </c:tx>
          <c:spPr>
            <a:solidFill>
              <a:srgbClr val="355C55"/>
            </a:solidFill>
          </c:spPr>
          <c:cat>
            <c:strRef>
              <c:f>Sheet1!$A$2:$A$5</c:f>
              <c:strCache>
                <c:ptCount val="4"/>
                <c:pt idx="0">
                  <c:v>获客</c:v>
                </c:pt>
                <c:pt idx="1">
                  <c:v>方案</c:v>
                </c:pt>
                <c:pt idx="2">
                  <c:v>交付</c:v>
                </c:pt>
                <c:pt idx="3">
                  <c:v>续约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74.0</c:v>
                </c:pt>
                <c:pt idx="1">
                  <c:v>62.0</c:v>
                </c:pt>
                <c:pt idx="2">
                  <c:v>58.0</c:v>
                </c:pt>
                <c:pt idx="3">
                  <c:v>46.0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能力型伙伴</c:v>
                </c:pt>
              </c:strCache>
            </c:strRef>
          </c:tx>
          <c:spPr>
            <a:solidFill>
              <a:srgbClr val="B86D43"/>
            </a:solidFill>
          </c:spPr>
          <c:cat>
            <c:strRef>
              <c:f>Sheet1!$A$2:$A$5</c:f>
              <c:strCache>
                <c:ptCount val="4"/>
                <c:pt idx="0">
                  <c:v>获客</c:v>
                </c:pt>
                <c:pt idx="1">
                  <c:v>方案</c:v>
                </c:pt>
                <c:pt idx="2">
                  <c:v>交付</c:v>
                </c:pt>
                <c:pt idx="3">
                  <c:v>续约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55.0</c:v>
                </c:pt>
                <c:pt idx="1">
                  <c:v>78.0</c:v>
                </c:pt>
                <c:pt idx="2">
                  <c:v>83.0</c:v>
                </c:pt>
                <c:pt idx="3">
                  <c:v>71.0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D8CEB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 rot="120000">
            <a:off x="6355079" y="1051560"/>
            <a:ext cx="4434839" cy="4736592"/>
          </a:xfrm>
          <a:prstGeom prst="rect">
            <a:avLst/>
          </a:prstGeom>
          <a:solidFill>
            <a:srgbClr val="FFFDF7"/>
          </a:solidFill>
          <a:ln w="7315">
            <a:solidFill>
              <a:srgbClr val="D8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720839" y="1874519"/>
            <a:ext cx="3657600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720839" y="2880360"/>
            <a:ext cx="3657600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720839" y="3886200"/>
            <a:ext cx="3657600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84847" y="1389888"/>
            <a:ext cx="3017519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55C55"/>
                </a:solidFill>
                <a:latin typeface="Microsoft YaHei"/>
              </a:rPr>
              <a:t>STRATEGY / NOTES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3" y="1353312"/>
            <a:ext cx="47548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355C55"/>
                </a:solidFill>
                <a:latin typeface="Microsoft YaHei"/>
              </a:rPr>
              <a:t>纸张策略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" y="1901952"/>
            <a:ext cx="5303519" cy="1874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700" b="1">
                <a:solidFill>
                  <a:srgbClr val="242521"/>
                </a:solidFill>
                <a:latin typeface="Microsoft YaHei UI"/>
              </a:rPr>
              <a:t>渠道增长工作坊结论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3" y="4078224"/>
            <a:ext cx="521207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B685F"/>
                </a:solidFill>
                <a:latin typeface="Microsoft YaHei"/>
              </a:rPr>
              <a:t>两天共创形成的客户分层、伙伴机制和九十天行动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3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85F"/>
                </a:solidFill>
                <a:latin typeface="Microsoft YaHei"/>
              </a:rPr>
              <a:t>企业 AI 工作平台 · 高质量模板库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1270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88719" y="274320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55C55"/>
                </a:solidFill>
                <a:latin typeface="Microsoft YaHei"/>
              </a:rPr>
              <a:t>导航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1" y="667512"/>
            <a:ext cx="97840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42521"/>
                </a:solidFill>
                <a:latin typeface="Microsoft YaHei UI"/>
              </a:rPr>
              <a:t>本次汇报回答四个关键问题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85F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85F"/>
                </a:solidFill>
                <a:latin typeface="Microsoft YaHei"/>
              </a:rPr>
              <a:t>01 /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55C55"/>
                </a:solidFill>
                <a:latin typeface="Microsoft YaHei UI"/>
              </a:rPr>
              <a:t>01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08175" y="1865376"/>
            <a:ext cx="4325112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40817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2521"/>
                </a:solidFill>
                <a:latin typeface="Microsoft YaHei"/>
              </a:rPr>
              <a:t>为什么现在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85F"/>
                </a:solidFill>
                <a:latin typeface="Microsoft YaHei"/>
              </a:rPr>
              <a:t>背景、变化和机会窗口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55C55"/>
                </a:solidFill>
                <a:latin typeface="Microsoft YaHei UI"/>
              </a:rPr>
              <a:t>02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408175" y="2990088"/>
            <a:ext cx="4325112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40817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2521"/>
                </a:solidFill>
                <a:latin typeface="Microsoft YaHei"/>
              </a:rPr>
              <a:t>事实说明什么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817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85F"/>
                </a:solidFill>
                <a:latin typeface="Microsoft YaHei"/>
              </a:rPr>
              <a:t>指标、证据和关键差异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55C55"/>
                </a:solidFill>
                <a:latin typeface="Microsoft YaHei UI"/>
              </a:rPr>
              <a:t>03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031735" y="1865376"/>
            <a:ext cx="4325112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03173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2521"/>
                </a:solidFill>
                <a:latin typeface="Microsoft YaHei"/>
              </a:rPr>
              <a:t>应该如何选择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3173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85F"/>
                </a:solidFill>
                <a:latin typeface="Microsoft YaHei"/>
              </a:rPr>
              <a:t>方案取舍和风险边界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55C55"/>
                </a:solidFill>
                <a:latin typeface="Microsoft YaHei UI"/>
              </a:rPr>
              <a:t>04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31735" y="2990088"/>
            <a:ext cx="4325112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03173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2521"/>
                </a:solidFill>
                <a:latin typeface="Microsoft YaHei"/>
              </a:rPr>
              <a:t>怎样落地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3173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85F"/>
                </a:solidFill>
                <a:latin typeface="Microsoft YaHei"/>
              </a:rPr>
              <a:t>路径、责任和验收标准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1270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88719" y="274320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55C55"/>
                </a:solidFill>
                <a:latin typeface="Microsoft YaHei"/>
              </a:rPr>
              <a:t>关键抓手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1" y="667512"/>
            <a:ext cx="97840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42521"/>
                </a:solidFill>
                <a:latin typeface="Microsoft YaHei UI"/>
              </a:rPr>
              <a:t>形成结果需要同时推进四个抓手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85F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85F"/>
                </a:solidFill>
                <a:latin typeface="Microsoft YaHei"/>
              </a:rPr>
              <a:t>02 / 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5" y="1463040"/>
            <a:ext cx="5381243" cy="2121408"/>
          </a:xfrm>
          <a:prstGeom prst="rect">
            <a:avLst/>
          </a:prstGeom>
          <a:solidFill>
            <a:srgbClr val="FFFDF7"/>
          </a:solidFill>
          <a:ln w="7315">
            <a:solidFill>
              <a:srgbClr val="D8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41247" y="2176272"/>
            <a:ext cx="4869180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77823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42521"/>
                </a:solidFill>
                <a:latin typeface="Microsoft YaHei"/>
              </a:rPr>
              <a:t>伙伴分层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3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85F"/>
                </a:solidFill>
                <a:latin typeface="Microsoft YaHei"/>
              </a:rPr>
              <a:t>按能力和贡献匹配差异化资源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2491" y="1463040"/>
            <a:ext cx="5381243" cy="2121408"/>
          </a:xfrm>
          <a:prstGeom prst="rect">
            <a:avLst/>
          </a:prstGeom>
          <a:solidFill>
            <a:srgbClr val="FFFDF7"/>
          </a:solidFill>
          <a:ln w="7315">
            <a:solidFill>
              <a:srgbClr val="D8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478523" y="2176272"/>
            <a:ext cx="4869180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15099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42521"/>
                </a:solidFill>
                <a:latin typeface="Microsoft YaHei"/>
              </a:rPr>
              <a:t>联合方案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5099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85F"/>
                </a:solidFill>
                <a:latin typeface="Microsoft YaHei"/>
              </a:rPr>
              <a:t>围绕行业痛点共创标准方案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5" y="3840479"/>
            <a:ext cx="5381243" cy="2121408"/>
          </a:xfrm>
          <a:prstGeom prst="rect">
            <a:avLst/>
          </a:prstGeom>
          <a:solidFill>
            <a:srgbClr val="FFFDF7"/>
          </a:solidFill>
          <a:ln w="7315">
            <a:solidFill>
              <a:srgbClr val="D8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41247" y="4553712"/>
            <a:ext cx="4869180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7823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42521"/>
                </a:solidFill>
                <a:latin typeface="Microsoft YaHei"/>
              </a:rPr>
              <a:t>商机协同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3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85F"/>
                </a:solidFill>
                <a:latin typeface="Microsoft YaHei"/>
              </a:rPr>
              <a:t>统一线索、角色和收益规则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22491" y="3840479"/>
            <a:ext cx="5381243" cy="2121408"/>
          </a:xfrm>
          <a:prstGeom prst="rect">
            <a:avLst/>
          </a:prstGeom>
          <a:solidFill>
            <a:srgbClr val="FFFDF7"/>
          </a:solidFill>
          <a:ln w="7315">
            <a:solidFill>
              <a:srgbClr val="D8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478523" y="4553712"/>
            <a:ext cx="4869180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15099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42521"/>
                </a:solidFill>
                <a:latin typeface="Microsoft YaHei"/>
              </a:rPr>
              <a:t>交付认证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5099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85F"/>
                </a:solidFill>
                <a:latin typeface="Microsoft YaHei"/>
              </a:rPr>
              <a:t>用客户结果评估伙伴能力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1270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88719" y="274320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55C55"/>
                </a:solidFill>
                <a:latin typeface="Microsoft YaHei"/>
              </a:rPr>
              <a:t>能力组合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1" y="667512"/>
            <a:ext cx="97840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42521"/>
                </a:solidFill>
                <a:latin typeface="Microsoft YaHei UI"/>
              </a:rPr>
              <a:t>业务结果与能力建设必须同步发生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85F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85F"/>
                </a:solidFill>
                <a:latin typeface="Microsoft YaHei"/>
              </a:rPr>
              <a:t>03 / 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1" y="1572768"/>
            <a:ext cx="5230367" cy="73152"/>
          </a:xfrm>
          <a:prstGeom prst="rect">
            <a:avLst/>
          </a:prstGeom>
          <a:solidFill>
            <a:srgbClr val="355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1" y="1792224"/>
            <a:ext cx="5047487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55C55"/>
                </a:solidFill>
                <a:latin typeface="Microsoft YaHei"/>
              </a:rPr>
              <a:t>业务侧负责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79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55C55"/>
                </a:solidFill>
                <a:latin typeface="Microsoft YaHe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3" y="2414016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42521"/>
                </a:solidFill>
                <a:latin typeface="Microsoft YaHei"/>
              </a:rPr>
              <a:t>伙伴分层：按能力和贡献匹配差异化资源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79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55C55"/>
                </a:solidFill>
                <a:latin typeface="Microsoft YaHe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3" y="3163824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42521"/>
                </a:solidFill>
                <a:latin typeface="Microsoft YaHei"/>
              </a:rPr>
              <a:t>联合方案：围绕行业痛点共创标准方案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79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55C55"/>
                </a:solidFill>
                <a:latin typeface="Microsoft YaHe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3" y="3913632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42521"/>
                </a:solidFill>
                <a:latin typeface="Microsoft YaHei"/>
              </a:rPr>
              <a:t>商机协同：统一线索、角色和收益规则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79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55C55"/>
                </a:solidFill>
                <a:latin typeface="Microsoft YaHe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3" y="4663440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42521"/>
                </a:solidFill>
                <a:latin typeface="Microsoft YaHei"/>
              </a:rPr>
              <a:t>交付认证：用客户结果评估伙伴能力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36207" y="1572768"/>
            <a:ext cx="5303519" cy="73152"/>
          </a:xfrm>
          <a:prstGeom prst="rect">
            <a:avLst/>
          </a:prstGeom>
          <a:solidFill>
            <a:srgbClr val="B86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7" y="1792224"/>
            <a:ext cx="51206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6D43"/>
                </a:solidFill>
                <a:latin typeface="Microsoft YaHei"/>
              </a:rPr>
              <a:t>平台与职能侧负责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4495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86D43"/>
                </a:solidFill>
                <a:latin typeface="Microsoft YaHe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79" y="2414016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42521"/>
                </a:solidFill>
                <a:latin typeface="Microsoft YaHei"/>
              </a:rPr>
              <a:t>利益冲突：提前确认商机归属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4495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86D43"/>
                </a:solidFill>
                <a:latin typeface="Microsoft YaHe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79" y="3163824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42521"/>
                </a:solidFill>
                <a:latin typeface="Microsoft YaHei"/>
              </a:rPr>
              <a:t>能力不匹配：按项目难度分配伙伴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4495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86D43"/>
                </a:solidFill>
                <a:latin typeface="Microsoft YaHe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79" y="3913632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42521"/>
                </a:solidFill>
                <a:latin typeface="Microsoft YaHei"/>
              </a:rPr>
              <a:t>支持不足：明确厂商投入清单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54495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86D43"/>
                </a:solidFill>
                <a:latin typeface="Microsoft YaHe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79" y="4663440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42521"/>
                </a:solidFill>
                <a:latin typeface="Microsoft YaHei"/>
              </a:rPr>
              <a:t>数据不透明：统一商机看板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1270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88719" y="274320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55C55"/>
                </a:solidFill>
                <a:latin typeface="Microsoft YaHei"/>
              </a:rPr>
              <a:t>共同原则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1" y="667512"/>
            <a:ext cx="97840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42521"/>
                </a:solidFill>
                <a:latin typeface="Microsoft YaHei UI"/>
              </a:rPr>
              <a:t>团队需要坚持一条简单原则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85F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85F"/>
                </a:solidFill>
                <a:latin typeface="Microsoft YaHei"/>
              </a:rPr>
              <a:t>04 /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" y="1572768"/>
            <a:ext cx="91439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355C55"/>
                </a:solidFill>
                <a:latin typeface="Microsoft YaHei UI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7" y="1901952"/>
            <a:ext cx="9006839" cy="2240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42521"/>
                </a:solidFill>
                <a:latin typeface="Microsoft YaHei UI"/>
              </a:rPr>
              <a:t>真正的渠道不是更多销售触点，而是更多可信交付能力。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17319" y="4617720"/>
            <a:ext cx="1371600" cy="0"/>
          </a:xfrm>
          <a:prstGeom prst="line">
            <a:avLst/>
          </a:prstGeom>
          <a:ln w="38100">
            <a:solidFill>
              <a:srgbClr val="355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999231" y="4443984"/>
            <a:ext cx="47548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85F"/>
                </a:solidFill>
                <a:latin typeface="Microsoft YaHei"/>
              </a:rPr>
              <a:t>— 项目核心团队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1270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88719" y="274320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55C55"/>
                </a:solidFill>
                <a:latin typeface="Microsoft YaHei"/>
              </a:rPr>
              <a:t>实施路径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1" y="667512"/>
            <a:ext cx="97840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42521"/>
                </a:solidFill>
                <a:latin typeface="Microsoft YaHei UI"/>
              </a:rPr>
              <a:t>五个阶段把方向转化为可验收成果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85F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85F"/>
                </a:solidFill>
                <a:latin typeface="Microsoft YaHei"/>
              </a:rPr>
              <a:t>05 / 12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2687" y="2962656"/>
            <a:ext cx="10177272" cy="0"/>
          </a:xfrm>
          <a:prstGeom prst="line">
            <a:avLst/>
          </a:prstGeom>
          <a:ln w="254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31519" y="2761488"/>
            <a:ext cx="402335" cy="402336"/>
          </a:xfrm>
          <a:prstGeom prst="ellipse">
            <a:avLst/>
          </a:prstGeom>
          <a:solidFill>
            <a:srgbClr val="355C55"/>
          </a:solidFill>
          <a:ln w="7315">
            <a:solidFill>
              <a:srgbClr val="355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5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7F0E3"/>
                </a:solidFill>
                <a:latin typeface="Microsoft YaHe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5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2521"/>
                </a:solidFill>
                <a:latin typeface="Microsoft YaHei"/>
              </a:rPr>
              <a:t>第 1–2 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39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85F"/>
                </a:solidFill>
                <a:latin typeface="Microsoft YaHei"/>
              </a:rPr>
              <a:t>完成伙伴画像与分层</a:t>
            </a:r>
          </a:p>
        </p:txBody>
      </p:sp>
      <p:sp>
        <p:nvSpPr>
          <p:cNvPr id="24" name="Oval 23"/>
          <p:cNvSpPr/>
          <p:nvPr/>
        </p:nvSpPr>
        <p:spPr>
          <a:xfrm>
            <a:off x="3275837" y="2761488"/>
            <a:ext cx="402335" cy="402336"/>
          </a:xfrm>
          <a:prstGeom prst="ellipse">
            <a:avLst/>
          </a:prstGeom>
          <a:solidFill>
            <a:srgbClr val="FFFDF7"/>
          </a:solidFill>
          <a:ln w="7315">
            <a:solidFill>
              <a:srgbClr val="355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2413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55C55"/>
                </a:solidFill>
                <a:latin typeface="Microsoft YaHe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2333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2521"/>
                </a:solidFill>
                <a:latin typeface="Microsoft YaHei"/>
              </a:rPr>
              <a:t>第 3–4 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35757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85F"/>
                </a:solidFill>
                <a:latin typeface="Microsoft YaHei"/>
              </a:rPr>
              <a:t>选择三个联合方案</a:t>
            </a:r>
          </a:p>
        </p:txBody>
      </p:sp>
      <p:sp>
        <p:nvSpPr>
          <p:cNvPr id="28" name="Oval 27"/>
          <p:cNvSpPr/>
          <p:nvPr/>
        </p:nvSpPr>
        <p:spPr>
          <a:xfrm>
            <a:off x="5820155" y="2761488"/>
            <a:ext cx="402335" cy="402336"/>
          </a:xfrm>
          <a:prstGeom prst="ellipse">
            <a:avLst/>
          </a:prstGeom>
          <a:solidFill>
            <a:srgbClr val="FFFDF7"/>
          </a:solidFill>
          <a:ln w="7315">
            <a:solidFill>
              <a:srgbClr val="355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6731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55C55"/>
                </a:solidFill>
                <a:latin typeface="Microsoft YaHe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6651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2521"/>
                </a:solidFill>
                <a:latin typeface="Microsoft YaHei"/>
              </a:rPr>
              <a:t>第 5–8 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0075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85F"/>
                </a:solidFill>
                <a:latin typeface="Microsoft YaHei"/>
              </a:rPr>
              <a:t>开展重点商机攻坚</a:t>
            </a:r>
          </a:p>
        </p:txBody>
      </p:sp>
      <p:sp>
        <p:nvSpPr>
          <p:cNvPr id="32" name="Oval 31"/>
          <p:cNvSpPr/>
          <p:nvPr/>
        </p:nvSpPr>
        <p:spPr>
          <a:xfrm>
            <a:off x="8364473" y="2761488"/>
            <a:ext cx="402335" cy="402336"/>
          </a:xfrm>
          <a:prstGeom prst="ellipse">
            <a:avLst/>
          </a:prstGeom>
          <a:solidFill>
            <a:srgbClr val="FFFDF7"/>
          </a:solidFill>
          <a:ln w="7315">
            <a:solidFill>
              <a:srgbClr val="355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01049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55C55"/>
                </a:solidFill>
                <a:latin typeface="Microsoft YaHe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60969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2521"/>
                </a:solidFill>
                <a:latin typeface="Microsoft YaHei"/>
              </a:rPr>
              <a:t>第 9–10 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4393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85F"/>
                </a:solidFill>
                <a:latin typeface="Microsoft YaHei"/>
              </a:rPr>
              <a:t>复盘交付和客户反馈</a:t>
            </a:r>
          </a:p>
        </p:txBody>
      </p:sp>
      <p:sp>
        <p:nvSpPr>
          <p:cNvPr id="36" name="Oval 35"/>
          <p:cNvSpPr/>
          <p:nvPr/>
        </p:nvSpPr>
        <p:spPr>
          <a:xfrm>
            <a:off x="10908791" y="2761488"/>
            <a:ext cx="402335" cy="402336"/>
          </a:xfrm>
          <a:prstGeom prst="ellipse">
            <a:avLst/>
          </a:prstGeom>
          <a:solidFill>
            <a:srgbClr val="FFFDF7"/>
          </a:solidFill>
          <a:ln w="7315">
            <a:solidFill>
              <a:srgbClr val="355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45367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55C55"/>
                </a:solidFill>
                <a:latin typeface="Microsoft Ya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05287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2521"/>
                </a:solidFill>
                <a:latin typeface="Microsoft YaHei"/>
              </a:rPr>
              <a:t>第 11–12 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68711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85F"/>
                </a:solidFill>
                <a:latin typeface="Microsoft YaHei"/>
              </a:rPr>
              <a:t>调整权益与认证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1270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88719" y="274320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55C55"/>
                </a:solidFill>
                <a:latin typeface="Microsoft YaHei"/>
              </a:rPr>
              <a:t>核心判断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1" y="667512"/>
            <a:ext cx="97840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42521"/>
                </a:solidFill>
                <a:latin typeface="Microsoft YaHei UI"/>
              </a:rPr>
              <a:t>先把伙伴从“卖产品”升级为“共同交付客户结果”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85F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85F"/>
                </a:solidFill>
                <a:latin typeface="Microsoft YaHei"/>
              </a:rPr>
              <a:t>06 / 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5" y="1828800"/>
            <a:ext cx="100583" cy="3429000"/>
          </a:xfrm>
          <a:prstGeom prst="rect">
            <a:avLst/>
          </a:prstGeom>
          <a:solidFill>
            <a:srgbClr val="355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19" y="1874519"/>
            <a:ext cx="9601199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42521"/>
                </a:solidFill>
                <a:latin typeface="Microsoft YaHei UI"/>
              </a:rPr>
              <a:t>先把伙伴从“卖产品”升级为“共同交付客户结果”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1" y="4553712"/>
            <a:ext cx="877823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B685F"/>
                </a:solidFill>
                <a:latin typeface="Microsoft YaHei"/>
              </a:rPr>
              <a:t>能力分层  ·  联合计划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1270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88719" y="274320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55C55"/>
                </a:solidFill>
                <a:latin typeface="Microsoft YaHei"/>
              </a:rPr>
              <a:t>路径选择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1" y="667512"/>
            <a:ext cx="97840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42521"/>
                </a:solidFill>
                <a:latin typeface="Microsoft YaHei UI"/>
              </a:rPr>
              <a:t>两种路径的价值与代价必须同时看清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85F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85F"/>
                </a:solidFill>
                <a:latin typeface="Microsoft YaHei"/>
              </a:rPr>
              <a:t>07 / 12</a:t>
            </a:r>
          </a:p>
        </p:txBody>
      </p:sp>
      <p:sp>
        <p:nvSpPr>
          <p:cNvPr id="19" name="Rectangle 18"/>
          <p:cNvSpPr/>
          <p:nvPr/>
        </p:nvSpPr>
        <p:spPr>
          <a:xfrm rot="21510000">
            <a:off x="713231" y="1554480"/>
            <a:ext cx="5074919" cy="4160520"/>
          </a:xfrm>
          <a:prstGeom prst="rect">
            <a:avLst/>
          </a:prstGeom>
          <a:solidFill>
            <a:srgbClr val="FFFDF7"/>
          </a:solidFill>
          <a:ln w="7315">
            <a:solidFill>
              <a:srgbClr val="D8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72000">
            <a:off x="6419087" y="1508760"/>
            <a:ext cx="4983479" cy="4160520"/>
          </a:xfrm>
          <a:prstGeom prst="rect">
            <a:avLst/>
          </a:prstGeom>
          <a:solidFill>
            <a:srgbClr val="FFFDF7"/>
          </a:solidFill>
          <a:ln w="7315">
            <a:solidFill>
              <a:srgbClr val="D8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1" y="1463040"/>
            <a:ext cx="5358383" cy="91440"/>
          </a:xfrm>
          <a:prstGeom prst="rect">
            <a:avLst/>
          </a:prstGeom>
          <a:solidFill>
            <a:srgbClr val="355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55C55"/>
                </a:solidFill>
                <a:latin typeface="Microsoft YaHei"/>
              </a:rPr>
              <a:t>交易型伙伴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55C55"/>
                </a:solidFill>
                <a:latin typeface="Microsoft YaHe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59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2521"/>
                </a:solidFill>
                <a:latin typeface="Microsoft YaHei"/>
              </a:rPr>
              <a:t>覆盖面广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55C55"/>
                </a:solidFill>
                <a:latin typeface="Microsoft YaHe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59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2521"/>
                </a:solidFill>
                <a:latin typeface="Microsoft YaHei"/>
              </a:rPr>
              <a:t>管理简单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55C55"/>
                </a:solidFill>
                <a:latin typeface="Microsoft YaHe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59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2521"/>
                </a:solidFill>
                <a:latin typeface="Microsoft YaHei"/>
              </a:rPr>
              <a:t>方案能力弱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55C55"/>
                </a:solidFill>
                <a:latin typeface="Microsoft YaHe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59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2521"/>
                </a:solidFill>
                <a:latin typeface="Microsoft YaHei"/>
              </a:rPr>
              <a:t>客户关系浅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1" y="1463040"/>
            <a:ext cx="5358383" cy="91440"/>
          </a:xfrm>
          <a:prstGeom prst="rect">
            <a:avLst/>
          </a:prstGeom>
          <a:solidFill>
            <a:srgbClr val="B86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2881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B86D43"/>
                </a:solidFill>
                <a:latin typeface="Microsoft YaHei"/>
              </a:rPr>
              <a:t>能力型伙伴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86D43"/>
                </a:solidFill>
                <a:latin typeface="Microsoft YaHe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3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2521"/>
                </a:solidFill>
                <a:latin typeface="Microsoft YaHei"/>
              </a:rPr>
              <a:t>赢率更高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710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86D43"/>
                </a:solidFill>
                <a:latin typeface="Microsoft YaHe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3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2521"/>
                </a:solidFill>
                <a:latin typeface="Microsoft YaHei"/>
              </a:rPr>
              <a:t>交付更稳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710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86D43"/>
                </a:solidFill>
                <a:latin typeface="Microsoft YaHe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3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2521"/>
                </a:solidFill>
                <a:latin typeface="Microsoft YaHei"/>
              </a:rPr>
              <a:t>培育成本高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710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86D43"/>
                </a:solidFill>
                <a:latin typeface="Microsoft YaHe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3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2521"/>
                </a:solidFill>
                <a:latin typeface="Microsoft YaHei"/>
              </a:rPr>
              <a:t>需要长期机制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1270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88719" y="274320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55C55"/>
                </a:solidFill>
                <a:latin typeface="Microsoft YaHei"/>
              </a:rPr>
              <a:t>风险管理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1" y="667512"/>
            <a:ext cx="97840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42521"/>
                </a:solidFill>
                <a:latin typeface="Microsoft YaHei UI"/>
              </a:rPr>
              <a:t>四类风险均已设置前置缓释动作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85F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85F"/>
                </a:solidFill>
                <a:latin typeface="Microsoft YaHei"/>
              </a:rPr>
              <a:t>08 / 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7" y="1463040"/>
            <a:ext cx="5230367" cy="1938528"/>
          </a:xfrm>
          <a:prstGeom prst="rect">
            <a:avLst/>
          </a:prstGeom>
          <a:solidFill>
            <a:srgbClr val="FFFDF7"/>
          </a:solidFill>
          <a:ln w="7315">
            <a:solidFill>
              <a:srgbClr val="D8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3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55C55"/>
                </a:solidFill>
                <a:latin typeface="Microsoft YaHei"/>
              </a:rPr>
              <a:t>利益冲突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3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85F"/>
                </a:solidFill>
                <a:latin typeface="Microsoft YaHei"/>
              </a:rPr>
              <a:t>提前确认商机归属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7" y="1463040"/>
            <a:ext cx="5230367" cy="1938528"/>
          </a:xfrm>
          <a:prstGeom prst="rect">
            <a:avLst/>
          </a:prstGeom>
          <a:solidFill>
            <a:srgbClr val="FFFDF7"/>
          </a:solidFill>
          <a:ln w="7315">
            <a:solidFill>
              <a:srgbClr val="D8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2521"/>
                </a:solidFill>
                <a:latin typeface="Microsoft YaHei"/>
              </a:rPr>
              <a:t>能力不匹配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7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85F"/>
                </a:solidFill>
                <a:latin typeface="Microsoft YaHei"/>
              </a:rPr>
              <a:t>按项目难度分配伙伴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7" y="3675887"/>
            <a:ext cx="5230367" cy="1938528"/>
          </a:xfrm>
          <a:prstGeom prst="rect">
            <a:avLst/>
          </a:prstGeom>
          <a:solidFill>
            <a:srgbClr val="FFFDF7"/>
          </a:solidFill>
          <a:ln w="7315">
            <a:solidFill>
              <a:srgbClr val="D8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3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2521"/>
                </a:solidFill>
                <a:latin typeface="Microsoft YaHei"/>
              </a:rPr>
              <a:t>支持不足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85F"/>
                </a:solidFill>
                <a:latin typeface="Microsoft YaHei"/>
              </a:rPr>
              <a:t>明确厂商投入清单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7" y="3675887"/>
            <a:ext cx="5230367" cy="1938528"/>
          </a:xfrm>
          <a:prstGeom prst="rect">
            <a:avLst/>
          </a:prstGeom>
          <a:solidFill>
            <a:srgbClr val="FFFDF7"/>
          </a:solidFill>
          <a:ln w="7315">
            <a:solidFill>
              <a:srgbClr val="D8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7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55C55"/>
                </a:solidFill>
                <a:latin typeface="Microsoft YaHei"/>
              </a:rPr>
              <a:t>数据不透明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7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85F"/>
                </a:solidFill>
                <a:latin typeface="Microsoft YaHei"/>
              </a:rPr>
              <a:t>统一商机看板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1270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88719" y="274320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55C55"/>
                </a:solidFill>
                <a:latin typeface="Microsoft YaHei"/>
              </a:rPr>
              <a:t>行动清单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1" y="667512"/>
            <a:ext cx="97840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42521"/>
                </a:solidFill>
                <a:latin typeface="Microsoft YaHei UI"/>
              </a:rPr>
              <a:t>未来八周的行动已拆解到责任和验收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85F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85F"/>
                </a:solidFill>
                <a:latin typeface="Microsoft YaHei"/>
              </a:rPr>
              <a:t>09 /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1" y="148132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55C55"/>
                </a:solidFill>
                <a:latin typeface="Microsoft YaHei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1" y="14630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42521"/>
                </a:solidFill>
                <a:latin typeface="Microsoft YaHei"/>
              </a:rPr>
              <a:t>确认伙伴分层的负责人、交付物和完成标准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53311" y="1984248"/>
            <a:ext cx="9573768" cy="0"/>
          </a:xfrm>
          <a:prstGeom prst="line">
            <a:avLst/>
          </a:prstGeom>
          <a:ln w="9525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3231" y="20756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55C55"/>
                </a:solidFill>
                <a:latin typeface="Microsoft YaHe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1" y="20574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42521"/>
                </a:solidFill>
                <a:latin typeface="Microsoft YaHei"/>
              </a:rPr>
              <a:t>确认联合方案的负责人、交付物和完成标准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353311" y="2578608"/>
            <a:ext cx="9573768" cy="0"/>
          </a:xfrm>
          <a:prstGeom prst="line">
            <a:avLst/>
          </a:prstGeom>
          <a:ln w="9525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3231" y="26700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55C55"/>
                </a:solidFill>
                <a:latin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1" y="26517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42521"/>
                </a:solidFill>
                <a:latin typeface="Microsoft YaHei"/>
              </a:rPr>
              <a:t>确认商机协同的负责人、交付物和完成标准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53311" y="3172968"/>
            <a:ext cx="9573768" cy="0"/>
          </a:xfrm>
          <a:prstGeom prst="line">
            <a:avLst/>
          </a:prstGeom>
          <a:ln w="9525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1" y="326440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55C55"/>
                </a:solidFill>
                <a:latin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1" y="324612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42521"/>
                </a:solidFill>
                <a:latin typeface="Microsoft YaHei"/>
              </a:rPr>
              <a:t>确认交付认证的负责人、交付物和完成标准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353311" y="3767328"/>
            <a:ext cx="9573768" cy="0"/>
          </a:xfrm>
          <a:prstGeom prst="line">
            <a:avLst/>
          </a:prstGeom>
          <a:ln w="9525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13231" y="385876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55C55"/>
                </a:solidFill>
                <a:latin typeface="Microsoft YaHe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1" y="384048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42521"/>
                </a:solidFill>
                <a:latin typeface="Microsoft YaHei"/>
              </a:rPr>
              <a:t>完成第 1–2 周并关闭阶段评审问题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353311" y="4361688"/>
            <a:ext cx="9573768" cy="0"/>
          </a:xfrm>
          <a:prstGeom prst="line">
            <a:avLst/>
          </a:prstGeom>
          <a:ln w="9525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13231" y="4453127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55C55"/>
                </a:solidFill>
                <a:latin typeface="Microsoft Ya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53311" y="44348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42521"/>
                </a:solidFill>
                <a:latin typeface="Microsoft YaHei"/>
              </a:rPr>
              <a:t>完成第 3–4 周并关闭阶段评审问题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53311" y="4956048"/>
            <a:ext cx="9573768" cy="0"/>
          </a:xfrm>
          <a:prstGeom prst="line">
            <a:avLst/>
          </a:prstGeom>
          <a:ln w="9525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13231" y="50474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55C55"/>
                </a:solidFill>
                <a:latin typeface="Microsoft YaHei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53311" y="50292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42521"/>
                </a:solidFill>
                <a:latin typeface="Microsoft YaHei"/>
              </a:rPr>
              <a:t>完成第 5–8 周并关闭阶段评审问题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353311" y="5550408"/>
            <a:ext cx="9573768" cy="0"/>
          </a:xfrm>
          <a:prstGeom prst="line">
            <a:avLst/>
          </a:prstGeom>
          <a:ln w="9525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13231" y="56418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55C55"/>
                </a:solidFill>
                <a:latin typeface="Microsoft YaHei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3311" y="56235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42521"/>
                </a:solidFill>
                <a:latin typeface="Microsoft YaHei"/>
              </a:rPr>
              <a:t>完成第 9–10 周并关闭阶段评审问题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1270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88719" y="274320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55C55"/>
                </a:solidFill>
                <a:latin typeface="Microsoft YaHei"/>
              </a:rPr>
              <a:t>交付计划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1" y="667512"/>
            <a:ext cx="97840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42521"/>
                </a:solidFill>
                <a:latin typeface="Microsoft YaHei UI"/>
              </a:rPr>
              <a:t>工作包、责任人与时间窗口已经对齐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85F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85F"/>
                </a:solidFill>
                <a:latin typeface="Microsoft YaHei"/>
              </a:rPr>
              <a:t>10 / 12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79" y="1463040"/>
          <a:ext cx="1092707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462"/>
                <a:gridCol w="2892462"/>
                <a:gridCol w="2571077"/>
                <a:gridCol w="2571077"/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7F0E3"/>
                          </a:solidFill>
                          <a:latin typeface="Microsoft YaHei"/>
                        </a:rPr>
                        <a:t>工作包</a:t>
                      </a:r>
                    </a:p>
                  </a:txBody>
                  <a:tcPr marL="91440" marR="91440" marT="54864" marB="54864" anchor="ctr">
                    <a:solidFill>
                      <a:srgbClr val="355C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7F0E3"/>
                          </a:solidFill>
                          <a:latin typeface="Microsoft YaHei"/>
                        </a:rPr>
                        <a:t>核心交付</a:t>
                      </a:r>
                    </a:p>
                  </a:txBody>
                  <a:tcPr marL="91440" marR="91440" marT="54864" marB="54864" anchor="ctr">
                    <a:solidFill>
                      <a:srgbClr val="355C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7F0E3"/>
                          </a:solidFill>
                          <a:latin typeface="Microsoft YaHei"/>
                        </a:rPr>
                        <a:t>责任角色</a:t>
                      </a:r>
                    </a:p>
                  </a:txBody>
                  <a:tcPr marL="91440" marR="91440" marT="54864" marB="54864" anchor="ctr">
                    <a:solidFill>
                      <a:srgbClr val="355C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7F0E3"/>
                          </a:solidFill>
                          <a:latin typeface="Microsoft YaHei"/>
                        </a:rPr>
                        <a:t>完成窗口</a:t>
                      </a:r>
                    </a:p>
                  </a:txBody>
                  <a:tcPr marL="91440" marR="91440" marT="54864" marB="54864" anchor="ctr">
                    <a:solidFill>
                      <a:srgbClr val="355C55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521"/>
                          </a:solidFill>
                          <a:latin typeface="Microsoft YaHei"/>
                        </a:rPr>
                        <a:t>第 1–2 周</a:t>
                      </a:r>
                    </a:p>
                  </a:txBody>
                  <a:tcPr marL="91440" marR="91440" marT="54864" marB="54864" anchor="ctr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521"/>
                          </a:solidFill>
                          <a:latin typeface="Microsoft YaHei"/>
                        </a:rPr>
                        <a:t>完成伙伴画像与分层</a:t>
                      </a:r>
                    </a:p>
                  </a:txBody>
                  <a:tcPr marL="91440" marR="91440" marT="54864" marB="54864" anchor="ctr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521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521"/>
                          </a:solidFill>
                          <a:latin typeface="Microsoft YaHei"/>
                        </a:rPr>
                        <a:t>T+2 周</a:t>
                      </a:r>
                    </a:p>
                  </a:txBody>
                  <a:tcPr marL="91440" marR="91440" marT="54864" marB="54864" anchor="ctr">
                    <a:solidFill>
                      <a:srgbClr val="FFFDF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521"/>
                          </a:solidFill>
                          <a:latin typeface="Microsoft YaHei"/>
                        </a:rPr>
                        <a:t>第 3–4 周</a:t>
                      </a:r>
                    </a:p>
                  </a:txBody>
                  <a:tcPr marL="91440" marR="91440" marT="54864" marB="54864" anchor="ctr">
                    <a:solidFill>
                      <a:srgbClr val="F7F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521"/>
                          </a:solidFill>
                          <a:latin typeface="Microsoft YaHei"/>
                        </a:rPr>
                        <a:t>选择三个联合方案</a:t>
                      </a:r>
                    </a:p>
                  </a:txBody>
                  <a:tcPr marL="91440" marR="91440" marT="54864" marB="54864" anchor="ctr">
                    <a:solidFill>
                      <a:srgbClr val="F7F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521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7F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521"/>
                          </a:solidFill>
                          <a:latin typeface="Microsoft YaHei"/>
                        </a:rPr>
                        <a:t>T+4 周</a:t>
                      </a:r>
                    </a:p>
                  </a:txBody>
                  <a:tcPr marL="91440" marR="91440" marT="54864" marB="54864" anchor="ctr">
                    <a:solidFill>
                      <a:srgbClr val="F7F0E3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521"/>
                          </a:solidFill>
                          <a:latin typeface="Microsoft YaHei"/>
                        </a:rPr>
                        <a:t>第 5–8 周</a:t>
                      </a:r>
                    </a:p>
                  </a:txBody>
                  <a:tcPr marL="91440" marR="91440" marT="54864" marB="54864" anchor="ctr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521"/>
                          </a:solidFill>
                          <a:latin typeface="Microsoft YaHei"/>
                        </a:rPr>
                        <a:t>开展重点商机攻坚</a:t>
                      </a:r>
                    </a:p>
                  </a:txBody>
                  <a:tcPr marL="91440" marR="91440" marT="54864" marB="54864" anchor="ctr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521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521"/>
                          </a:solidFill>
                          <a:latin typeface="Microsoft YaHei"/>
                        </a:rPr>
                        <a:t>T+6 周</a:t>
                      </a:r>
                    </a:p>
                  </a:txBody>
                  <a:tcPr marL="91440" marR="91440" marT="54864" marB="54864" anchor="ctr">
                    <a:solidFill>
                      <a:srgbClr val="FFFDF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521"/>
                          </a:solidFill>
                          <a:latin typeface="Microsoft YaHei"/>
                        </a:rPr>
                        <a:t>第 9–10 周</a:t>
                      </a:r>
                    </a:p>
                  </a:txBody>
                  <a:tcPr marL="91440" marR="91440" marT="54864" marB="54864" anchor="ctr">
                    <a:solidFill>
                      <a:srgbClr val="F7F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521"/>
                          </a:solidFill>
                          <a:latin typeface="Microsoft YaHei"/>
                        </a:rPr>
                        <a:t>复盘交付和客户反馈</a:t>
                      </a:r>
                    </a:p>
                  </a:txBody>
                  <a:tcPr marL="91440" marR="91440" marT="54864" marB="54864" anchor="ctr">
                    <a:solidFill>
                      <a:srgbClr val="F7F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521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7F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521"/>
                          </a:solidFill>
                          <a:latin typeface="Microsoft YaHei"/>
                        </a:rPr>
                        <a:t>T+8 周</a:t>
                      </a:r>
                    </a:p>
                  </a:txBody>
                  <a:tcPr marL="91440" marR="91440" marT="54864" marB="54864" anchor="ctr">
                    <a:solidFill>
                      <a:srgbClr val="F7F0E3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2521"/>
                          </a:solidFill>
                          <a:latin typeface="Microsoft YaHei"/>
                        </a:rPr>
                        <a:t>第 11–12 周</a:t>
                      </a:r>
                    </a:p>
                  </a:txBody>
                  <a:tcPr marL="91440" marR="91440" marT="54864" marB="54864" anchor="ctr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521"/>
                          </a:solidFill>
                          <a:latin typeface="Microsoft YaHei"/>
                        </a:rPr>
                        <a:t>调整权益与认证</a:t>
                      </a:r>
                    </a:p>
                  </a:txBody>
                  <a:tcPr marL="91440" marR="91440" marT="54864" marB="54864" anchor="ctr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521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521"/>
                          </a:solidFill>
                          <a:latin typeface="Microsoft YaHei"/>
                        </a:rPr>
                        <a:t>T+10 周</a:t>
                      </a:r>
                    </a:p>
                  </a:txBody>
                  <a:tcPr marL="91440" marR="91440" marT="54864" marB="54864" anchor="ctr"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1270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88719" y="274320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55C55"/>
                </a:solidFill>
                <a:latin typeface="Microsoft YaHei"/>
              </a:rPr>
              <a:t>关键指标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1" y="667512"/>
            <a:ext cx="97840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42521"/>
                </a:solidFill>
                <a:latin typeface="Microsoft YaHei UI"/>
              </a:rPr>
              <a:t>四项指标界定当前状态与决策空间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5" y="121615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55C55"/>
                </a:solidFill>
                <a:latin typeface="Microsoft YaHei"/>
              </a:rPr>
              <a:t>先把伙伴从“卖产品”升级为“共同交付客户结果”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85F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85F"/>
                </a:solidFill>
                <a:latin typeface="Microsoft YaHei"/>
              </a:rPr>
              <a:t>11 /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" y="2093976"/>
            <a:ext cx="566927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55C55"/>
                </a:solidFill>
                <a:latin typeface="Microsoft YaHe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1" y="2075688"/>
            <a:ext cx="402335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42521"/>
                </a:solidFill>
                <a:latin typeface="Microsoft YaHei"/>
              </a:rPr>
              <a:t>重点伙伴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39" y="2093976"/>
            <a:ext cx="40690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85F"/>
                </a:solidFill>
                <a:latin typeface="Microsoft YaHei"/>
              </a:rPr>
              <a:t>覆盖 71% 的高潜线索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2002536"/>
            <a:ext cx="187451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355C55"/>
                </a:solidFill>
                <a:latin typeface="Microsoft YaHei UI"/>
              </a:rPr>
              <a:t>42家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444751" y="2688336"/>
            <a:ext cx="9637776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7" y="3035808"/>
            <a:ext cx="566927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55C55"/>
                </a:solidFill>
                <a:latin typeface="Microsoft YaHe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1" y="3017520"/>
            <a:ext cx="402335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42521"/>
                </a:solidFill>
                <a:latin typeface="Microsoft YaHei"/>
              </a:rPr>
              <a:t>能力分层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39" y="3035808"/>
            <a:ext cx="40690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85F"/>
                </a:solidFill>
                <a:latin typeface="Microsoft YaHei"/>
              </a:rPr>
              <a:t>按获客、方案和交付评估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2944368"/>
            <a:ext cx="187451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B86D43"/>
                </a:solidFill>
                <a:latin typeface="Microsoft YaHei UI"/>
              </a:rPr>
              <a:t>3级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444751" y="3630168"/>
            <a:ext cx="9637776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7" y="3977639"/>
            <a:ext cx="566927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55C55"/>
                </a:solidFill>
                <a:latin typeface="Microsoft YaHe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4751" y="3959351"/>
            <a:ext cx="402335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42521"/>
                </a:solidFill>
                <a:latin typeface="Microsoft YaHei"/>
              </a:rPr>
              <a:t>联合计划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39" y="3977639"/>
            <a:ext cx="40690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85F"/>
                </a:solidFill>
                <a:latin typeface="Microsoft YaHei"/>
              </a:rPr>
              <a:t>每周跟踪机会和问题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19" y="3886200"/>
            <a:ext cx="187451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355C55"/>
                </a:solidFill>
                <a:latin typeface="Microsoft YaHei UI"/>
              </a:rPr>
              <a:t>12周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444751" y="4572000"/>
            <a:ext cx="9637776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8367" y="4919472"/>
            <a:ext cx="566927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55C55"/>
                </a:solidFill>
                <a:latin typeface="Microsoft YaHe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4751" y="4901183"/>
            <a:ext cx="402335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42521"/>
                </a:solidFill>
                <a:latin typeface="Microsoft YaHei"/>
              </a:rPr>
              <a:t>联合赢率目标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39" y="4919472"/>
            <a:ext cx="40690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85F"/>
                </a:solidFill>
                <a:latin typeface="Microsoft YaHei"/>
              </a:rPr>
              <a:t>通过售前和案例支持提升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19" y="4828032"/>
            <a:ext cx="187451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B86D43"/>
                </a:solidFill>
                <a:latin typeface="Microsoft YaHei UI"/>
              </a:rPr>
              <a:t>25%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4751" y="5513831"/>
            <a:ext cx="9637776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1270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88719" y="274320"/>
            <a:ext cx="2926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55C55"/>
                </a:solidFill>
                <a:latin typeface="Microsoft YaHei"/>
              </a:rPr>
              <a:t>证据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1" y="667512"/>
            <a:ext cx="97840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42521"/>
                </a:solidFill>
                <a:latin typeface="Microsoft YaHei UI"/>
              </a:rPr>
              <a:t>数据表明差异集中在少数关键维度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85F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85F"/>
                </a:solidFill>
                <a:latin typeface="Microsoft YaHei"/>
              </a:rPr>
              <a:t>12 / 12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58367" y="1463040"/>
          <a:ext cx="7635239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8595359" y="1554480"/>
            <a:ext cx="22402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55C55"/>
                </a:solidFill>
                <a:latin typeface="Microsoft YaHei"/>
              </a:rPr>
              <a:t>核心洞察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1" y="2121408"/>
            <a:ext cx="2514599" cy="2148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42521"/>
                </a:solidFill>
                <a:latin typeface="Microsoft YaHei"/>
              </a:rPr>
              <a:t>能力型伙伴在方案、交付和续约阶段贡献更高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59" y="4864608"/>
            <a:ext cx="2331719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85F"/>
                </a:solidFill>
                <a:latin typeface="Microsoft YaHei"/>
              </a:rPr>
              <a:t>来源：模板演示数据，仅用于版式验证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B86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 rot="120000">
            <a:off x="6355079" y="1051560"/>
            <a:ext cx="4434839" cy="4736592"/>
          </a:xfrm>
          <a:prstGeom prst="rect">
            <a:avLst/>
          </a:prstGeom>
          <a:solidFill>
            <a:srgbClr val="FFFDF7"/>
          </a:solidFill>
          <a:ln w="7315">
            <a:solidFill>
              <a:srgbClr val="D8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720839" y="1874519"/>
            <a:ext cx="3657600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720839" y="2880360"/>
            <a:ext cx="3657600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720839" y="3886200"/>
            <a:ext cx="3657600" cy="0"/>
          </a:xfrm>
          <a:prstGeom prst="line">
            <a:avLst/>
          </a:prstGeom>
          <a:ln w="12700">
            <a:solidFill>
              <a:srgbClr val="D8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84847" y="1389888"/>
            <a:ext cx="3017519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55C55"/>
                </a:solidFill>
                <a:latin typeface="Microsoft YaHei"/>
              </a:rPr>
              <a:t>STRATEGY / NOTES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" y="1901952"/>
            <a:ext cx="5303519" cy="1325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42521"/>
                </a:solidFill>
                <a:latin typeface="Microsoft YaHei UI"/>
              </a:rPr>
              <a:t>先把伙伴从“卖产品”升级为“共同交付客户结果”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3" y="4078224"/>
            <a:ext cx="521207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B685F"/>
                </a:solidFill>
                <a:latin typeface="Microsoft YaHei"/>
              </a:rPr>
              <a:t>下一步：确认责任人、启动首个阶段并按周复盘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3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B685F"/>
                </a:solidFill>
                <a:latin typeface="Microsoft YaHei"/>
              </a:rPr>
              <a:t>纸张策略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渠道增长工作坊结论</dc:title>
  <dc:subject>由企业 AI 工作平台基于语义页面角色与自适应模板生成</dc:subject>
  <dc:creator/>
  <cp:keywords>template=paper-strategy;layout_family=premium;schema=presentation_spec.v2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